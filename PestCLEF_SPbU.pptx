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1" r:id="rId18"/>
    <p:sldId id="273" r:id="rId19"/>
    <p:sldId id="274" r:id="rId20"/>
    <p:sldId id="275" r:id="rId21"/>
    <p:sldId id="276" r:id="rId22"/>
    <p:sldId id="277" r:id="rId23"/>
    <p:sldId id="278" r:id="rId24"/>
    <p:sldId id="280"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3F3F"/>
    <a:srgbClr val="763E3A"/>
    <a:srgbClr val="AE64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3" autoAdjust="0"/>
    <p:restoredTop sz="95787" autoAdjust="0"/>
  </p:normalViewPr>
  <p:slideViewPr>
    <p:cSldViewPr snapToGrid="0">
      <p:cViewPr>
        <p:scale>
          <a:sx n="83" d="100"/>
          <a:sy n="83" d="100"/>
        </p:scale>
        <p:origin x="1672" y="100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65EBD-3A05-44B6-BB1E-B49BC866728F}" type="datetimeFigureOut">
              <a:rPr lang="ru-RU" smtClean="0"/>
              <a:t>14.10.2026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5650A-93E9-4B09-90DB-AFA4D00640B2}" type="slidenum">
              <a:rPr lang="ru-RU" smtClean="0"/>
              <a:t>‹#›</a:t>
            </a:fld>
            <a:endParaRPr lang="ru-RU"/>
          </a:p>
        </p:txBody>
      </p:sp>
    </p:spTree>
    <p:extLst>
      <p:ext uri="{BB962C8B-B14F-4D97-AF65-F5344CB8AC3E}">
        <p14:creationId xmlns:p14="http://schemas.microsoft.com/office/powerpoint/2010/main" val="2247170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Мы представляем проект PestCLEF: извлечение графов знаний из текстов о вредителях растений.</a:t>
            </a:r>
          </a:p>
        </p:txBody>
      </p:sp>
      <p:sp>
        <p:nvSpPr>
          <p:cNvPr id="4" name="Номер слайда 3"/>
          <p:cNvSpPr>
            <a:spLocks noGrp="1"/>
          </p:cNvSpPr>
          <p:nvPr>
            <p:ph type="sldNum" sz="quarter" idx="5"/>
          </p:nvPr>
        </p:nvSpPr>
        <p:spPr/>
        <p:txBody>
          <a:bodyPr/>
          <a:lstStyle/>
          <a:p>
            <a:fld id="{0CB5650A-93E9-4B09-90DB-AFA4D00640B2}" type="slidenum">
              <a:rPr lang="ru-RU" smtClean="0"/>
              <a:t>1</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Начнём с сообщения из нашего корпуса. В нём названы возбудитель, оливковые деревья и место. Человек видит, что эти объекты связаны, но программе нужно получить отношения в явном виде. Такой результат можно объединять с другими сообщениями, искать и проверять по исходному документу. Именно это делает наш проект. Извлечение может ошибаться, поэтому дальше мы покажем и устройство системы, и независимую проверку её качества. Сначала определим формат задачи.</a:t>
            </a:r>
          </a:p>
        </p:txBody>
      </p:sp>
      <p:sp>
        <p:nvSpPr>
          <p:cNvPr id="4" name="Номер слайда 3"/>
          <p:cNvSpPr>
            <a:spLocks noGrp="1"/>
          </p:cNvSpPr>
          <p:nvPr>
            <p:ph type="sldNum" sz="quarter" idx="5"/>
          </p:nvPr>
        </p:nvSpPr>
        <p:spPr/>
        <p:txBody>
          <a:bodyPr/>
          <a:lstStyle/>
          <a:p>
            <a:fld id="{0CB5650A-93E9-4B09-90DB-AFA4D00640B2}" type="slidenum">
              <a:rPr lang="ru-RU" smtClean="0"/>
              <a:t>2</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Задача начинается с текста, но её ответ не является пересказом. Система должна выделить определённые сущности и указать отношения между ними. В приведённой тройке ToBRFV занимает позицию субъекта, Found_on задаёт отношение, а tomatoes является объектом. Типы уточняют, что первая строка обозначает возбудителя, а вторая растение. Семь типов перечислены в таблице; их английские имена сохраняются в коде и схеме.</a:t>
            </a:r>
          </a:p>
          <a:p>
            <a:r>
              <a:rPr lang="ru-RU"/>
              <a:t>Корпус содержит три части. В train и dev доступны сущности и эталонные графы, поэтому эти 165 документов позволяют обучать систему и оценивать её на отложенных частях. Для 82 test-документов доступен текст, но эталон не открыт. Формат отправки сохраняет границы документов: строка CSV содержит id и массив отношений. Пустой массив означает, что система не выбрала ни одной связи. Это не утверждение об отсутствии фактов в самом тексте.</a:t>
            </a:r>
          </a:p>
        </p:txBody>
      </p:sp>
      <p:sp>
        <p:nvSpPr>
          <p:cNvPr id="4" name="Номер слайда 3"/>
          <p:cNvSpPr>
            <a:spLocks noGrp="1"/>
          </p:cNvSpPr>
          <p:nvPr>
            <p:ph type="sldNum" sz="quarter" idx="5"/>
          </p:nvPr>
        </p:nvSpPr>
        <p:spPr/>
        <p:txBody>
          <a:bodyPr/>
          <a:lstStyle/>
          <a:p>
            <a:fld id="{0CB5650A-93E9-4B09-90DB-AFA4D00640B2}" type="slidenum">
              <a:rPr lang="ru-RU" smtClean="0"/>
              <a:t>3</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В тексте мы сначала наблюдаем упоминания: конкретные последовательности символов. Из одного объекта может получиться несколько упоминаний, поэтому отдельный найденный фрагмент ещё не означает отдельный узел. В нашем коде слово «концепт» обозначает группу упоминаний документа. Как образуется группа, покажем на полном названии и сокращении ToBRFV.</a:t>
            </a:r>
          </a:p>
          <a:p>
            <a:r>
              <a:rPr lang="ru-RU"/>
              <a:t>Граф хранит уже предложенные утверждения. У него есть узлы, направление и подписи рёбер. Направление существенно: обнаружение возбудителя на растении не превращается в такое же утверждение при обмене концов. MultiDiGraph также позволяет хранить разные предикаты для одной пары узлов, сохраняя их различие.</a:t>
            </a:r>
          </a:p>
          <a:p>
            <a:r>
              <a:rPr lang="ru-RU"/>
              <a:t>Книга рассматривает граф знаний как граф данных, потенциально дополненный схемой, идентичностью, контекстом и другими средствами. Мы используем часть этих возможностей: ограничения типов и регистрацию источников. Из такого представления не следует, что реализованы полноценная онтология, логический вывод или проверка биологической истинности каждого отношения.</a:t>
            </a:r>
          </a:p>
        </p:txBody>
      </p:sp>
      <p:sp>
        <p:nvSpPr>
          <p:cNvPr id="4" name="Номер слайда 3"/>
          <p:cNvSpPr>
            <a:spLocks noGrp="1"/>
          </p:cNvSpPr>
          <p:nvPr>
            <p:ph type="sldNum" sz="quarter" idx="5"/>
          </p:nvPr>
        </p:nvSpPr>
        <p:spPr/>
        <p:txBody>
          <a:bodyPr/>
          <a:lstStyle/>
          <a:p>
            <a:fld id="{0CB5650A-93E9-4B09-90DB-AFA4D00640B2}" type="slidenum">
              <a:rPr lang="ru-RU" smtClean="0"/>
              <a:t>4</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Сигнатура соединяет имя предиката с типами двух концов. Например, Causes допускает направление от Pest к Disease, а Affects от Disease к Plant. Такая проверка исключает часть бессмысленных пар ещё до классификации. В таблице указано, сколько сочетаний типов относится к каждому предикату; сумма равна двадцати.</a:t>
            </a:r>
          </a:p>
          <a:p>
            <a:r>
              <a:rPr lang="ru-RU"/>
              <a:t>Есть различие между сохранённым описанием соревнования и используемой схемой. На странице были перечислены восемнадцать сочетаний, но размеченный корпус содержит ещё два направления для пути распространения: к месту и к дате. Реализация их сохраняет, чтобы не исключать поддержанные эталоном отношения.</a:t>
            </a:r>
          </a:p>
          <a:p>
            <a:r>
              <a:rPr lang="ru-RU"/>
              <a:t>В книге проверочная схема отделена от семантической схемы, позволяющей выводить новые данные. Наши ограничения работают при генерации кандидатов и при добавлении рёбер. Они удостоверяют допустимость типов. Если место университета ошибочно связано с возбудителем, обе сущности могут иметь правильные типы, и схема не обнаружит такую смысловую ошибку.</a:t>
            </a:r>
          </a:p>
        </p:txBody>
      </p:sp>
      <p:sp>
        <p:nvSpPr>
          <p:cNvPr id="4" name="Номер слайда 3"/>
          <p:cNvSpPr>
            <a:spLocks noGrp="1"/>
          </p:cNvSpPr>
          <p:nvPr>
            <p:ph type="sldNum" sz="quarter" idx="5"/>
          </p:nvPr>
        </p:nvSpPr>
        <p:spPr/>
        <p:txBody>
          <a:bodyPr/>
          <a:lstStyle/>
          <a:p>
            <a:fld id="{0CB5650A-93E9-4B09-90DB-AFA4D00640B2}" type="slidenum">
              <a:rPr lang="ru-RU" smtClean="0"/>
              <a:t>5</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Схема показывает последовательность преобразований, а не шесть независимых моделей. Первый этап находит упоминания в исходном тексте. Второй объединяет формы, которые система считает одним концептом. Затем типовая схема определяет допустимые пары, и для каждой пары строится вектор признаков. LightGBM выдаёт оценки, после чего отдельная процедура выбирает набор отношений документа.</a:t>
            </a:r>
          </a:p>
          <a:p>
            <a:r>
              <a:rPr lang="ru-RU"/>
              <a:t>Только выбранные тройки поступают в граф. Графовая часть проверяет схему, устраняет повтор той же связи и сохраняет происхождение. В проверке множество отношений после преобразования совпало с исходным выбранным множеством. Поэтому мы не приписываем контейнеру дополнительное повышение качества извлечения.</a:t>
            </a:r>
          </a:p>
          <a:p>
            <a:r>
              <a:rPr lang="ru-RU"/>
              <a:t>Разделение полезно и для дальнейшего анализа. Если связь не предложена среди кандидатов, граф её не восстановит. Если связь выбрана ошибочно, запись источника позволит вернуться к тексту и проверить смысл. CSV передаёт отношения соревнованию, а GraphML сохраняет атрибуты графа для повторного чтения и анализа.</a:t>
            </a:r>
          </a:p>
        </p:txBody>
      </p:sp>
      <p:sp>
        <p:nvSpPr>
          <p:cNvPr id="4" name="Номер слайда 3"/>
          <p:cNvSpPr>
            <a:spLocks noGrp="1"/>
          </p:cNvSpPr>
          <p:nvPr>
            <p:ph type="sldNum" sz="quarter" idx="5"/>
          </p:nvPr>
        </p:nvSpPr>
        <p:spPr/>
        <p:txBody>
          <a:bodyPr/>
          <a:lstStyle/>
          <a:p>
            <a:fld id="{0CB5650A-93E9-4B09-90DB-AFA4D00640B2}" type="slidenum">
              <a:rPr lang="ru-RU" smtClean="0"/>
              <a:t>6</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Распознавание упоминаний предшествует построению отношений. CRF решает задачу последовательной разметки: для токенов выбираются метки начала, продолжения или отсутствия сущности. Тип уточняет, к какому из семи классов относится найденный фрагмент. Код возвращает символьные границы, поэтому упоминание можно сопоставить с исходным текстом.</a:t>
            </a:r>
          </a:p>
          <a:p>
            <a:r>
              <a:rPr lang="ru-RU"/>
              <a:t>Словарь участвует в двух различных местах. Сначала известные формы становятся признаками CRF вместе с написанием и соседними токенами. Затем другой словарь предлагает дополнительные готовые упоминания. В этом объединении CRF имеет приоритет: словарное добавление допустимо только без пересечения с уже занятыми границами. Такой порядок сохраняет однозначное разбиение выбранных фрагментов.</a:t>
            </a:r>
          </a:p>
          <a:p>
            <a:r>
              <a:rPr lang="ru-RU"/>
              <a:t>Знакомая словарная форма ещё не означает обнаруженное отношение. Для отношений потребуются концепты и пары между ними. Ошибки первого этапа могут ограничить дальнейший охват, но при разборе пропущенной связи нельзя сразу обвинять CRF: потери возможны также в нормализации и генерации кандидатов.</a:t>
            </a:r>
          </a:p>
        </p:txBody>
      </p:sp>
      <p:sp>
        <p:nvSpPr>
          <p:cNvPr id="4" name="Номер слайда 3"/>
          <p:cNvSpPr>
            <a:spLocks noGrp="1"/>
          </p:cNvSpPr>
          <p:nvPr>
            <p:ph type="sldNum" sz="quarter" idx="5"/>
          </p:nvPr>
        </p:nvSpPr>
        <p:spPr/>
        <p:txBody>
          <a:bodyPr/>
          <a:lstStyle/>
          <a:p>
            <a:fld id="{0CB5650A-93E9-4B09-90DB-AFA4D00640B2}" type="slidenum">
              <a:rPr lang="ru-RU" smtClean="0"/>
              <a:t>7</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Одна и та же сущность может называться по-разному, поэтому равенства строк недостаточно для группировки упоминаний. В документе 104650 встречаются две формы полного названия и сокращение ToBRFV. Разрешённая обучающая нормализация связывает их с одним идентификатором, а шаблон сокращения переносит эту связь на краткую форму. Получается девятнадцать упоминаний одного концепта.</a:t>
            </a:r>
          </a:p>
          <a:p>
            <a:r>
              <a:rPr lang="ru-RU"/>
              <a:t>Идентификатор включает ресурс. Это защищает от ложного равенства одинаковых номеров в разных справочниках. Отображаемая подпись выбирается отдельно: здесь ToBRFV встречается чаще всего. Подпись нужна для признаков и текстового ответа, но сама по себе не доказывает уникальность объекта.</a:t>
            </a:r>
          </a:p>
          <a:p>
            <a:r>
              <a:rPr lang="ru-RU"/>
              <a:t>Следует различать концепты документа и конечный объединённый граф. При экспорте используется ключ из типа и нормализованной канонической строки, поэтому вся внешняя идентичность не переносится. Такое объединение ограниченно: алиасы могут остаться разными узлами, а одинаковые имена могут слиться. Это граница текущего решения, которую сохраним при интерпретации запросов.</a:t>
            </a:r>
          </a:p>
        </p:txBody>
      </p:sp>
      <p:sp>
        <p:nvSpPr>
          <p:cNvPr id="4" name="Номер слайда 3"/>
          <p:cNvSpPr>
            <a:spLocks noGrp="1"/>
          </p:cNvSpPr>
          <p:nvPr>
            <p:ph type="sldNum" sz="quarter" idx="5"/>
          </p:nvPr>
        </p:nvSpPr>
        <p:spPr/>
        <p:txBody>
          <a:bodyPr/>
          <a:lstStyle/>
          <a:p>
            <a:fld id="{0CB5650A-93E9-4B09-90DB-AFA4D00640B2}" type="slidenum">
              <a:rPr lang="ru-RU" smtClean="0"/>
              <a:t>8</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Кубякин Никита]</a:t>
            </a:r>
          </a:p>
          <a:p>
            <a:r>
              <a:rPr lang="ru-RU"/>
              <a:t>Каждый кандидат является одной допустимой тройкой концептов. Для каждого предиката перебираются пары подходящих типов, и тройка получает один вектор. Ближайшая пара упоминаний определяет текстовый контекст, а расстояния по предложениям и абзацам минимизируются отдельно. Вектор содержит 154 признака. Таблица разделяет их на три группы. Базовая часть отражает типовую сигнатуру, числа упоминаний, расстояния и статистику. Два блока из шестидесяти двух индикаторов кодируют слова между упоминаниями и в их внешнем контексте.</a:t>
            </a:r>
          </a:p>
          <a:p>
            <a:r>
              <a:rPr lang="ru-RU"/>
              <a:t>Частотные признаки требуют отдельного пояснения. pair_prior считает случаи размеченного отношения для пары форм и предиката в разрешённой обучающей части. Это память о корпусе в форме счётчика, а не логическое правило графа. При подготовке обучающего документа его собственный вклад вычитается.</a:t>
            </a:r>
          </a:p>
          <a:p>
            <a:r>
              <a:rPr lang="ru-RU"/>
              <a:t>LightGBM обучает последовательность деревьев и выдаёт оценку каждого кандидата. Число раундов зафиксировано: двести пятьдесят. Дальнейшая процедура выбирает набор связей, поэтому нельзя читать каждую оценку как готовое ребро. Мансур покажет этот отбор, прохождение реального документа и независимую проверку всей цепочки.</a:t>
            </a:r>
          </a:p>
        </p:txBody>
      </p:sp>
      <p:sp>
        <p:nvSpPr>
          <p:cNvPr id="4" name="Номер слайда 3"/>
          <p:cNvSpPr>
            <a:spLocks noGrp="1"/>
          </p:cNvSpPr>
          <p:nvPr>
            <p:ph type="sldNum" sz="quarter" idx="5"/>
          </p:nvPr>
        </p:nvSpPr>
        <p:spPr/>
        <p:txBody>
          <a:bodyPr/>
          <a:lstStyle/>
          <a:p>
            <a:fld id="{0CB5650A-93E9-4B09-90DB-AFA4D00640B2}" type="slidenum">
              <a:rPr lang="ru-RU" smtClean="0"/>
              <a:t>9</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Модель оценила кандидатов, но ответ должен содержать определённое число связей. Процедура ранжирует оценки и рассматривает верхние части списка разной длины. Для каждого размера k вычисляется приближённая ожидаемая F1. В её знаменателе используется оценка числа эталонных отношений G, полученная из суммы всех оценок и параметра rho. Выбирается размер с максимальным значением этой формулы.</a:t>
            </a:r>
          </a:p>
          <a:p>
            <a:r>
              <a:rPr lang="ru-RU"/>
              <a:t>Параметры выполняют разные функции. rho равен ноль целых семь и влияет на предполагаемое число отношений, поэтому меняет компромисс между размером набора и суммой оценок. empty_t равен ноль целых три и проверяет только максимальную оценку документа. При низком максимуме весь результат становится пустым.</a:t>
            </a:r>
          </a:p>
          <a:p>
            <a:r>
              <a:rPr lang="ru-RU"/>
              <a:t>Из этого не следует поштучное удаление всех связей с оценкой ниже ноль целых три. Формула также не знает настоящего числа отношений нового документа и не гарантирует оптимальную F1. Параметры зафиксированы до внешней оценки.</a:t>
            </a:r>
          </a:p>
        </p:txBody>
      </p:sp>
      <p:sp>
        <p:nvSpPr>
          <p:cNvPr id="4" name="Номер слайда 3"/>
          <p:cNvSpPr>
            <a:spLocks noGrp="1"/>
          </p:cNvSpPr>
          <p:nvPr>
            <p:ph type="sldNum" sz="quarter" idx="5"/>
          </p:nvPr>
        </p:nvSpPr>
        <p:spPr/>
        <p:txBody>
          <a:bodyPr/>
          <a:lstStyle/>
          <a:p>
            <a:fld id="{0CB5650A-93E9-4B09-90DB-AFA4D00640B2}" type="slidenum">
              <a:rPr lang="ru-RU" smtClean="0"/>
              <a:t>10</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Сквозной пример относится к документу 104650. На слайде приведён целый исходный фрагмент и четыре извлечённых упоминания с границами. Начало считается с нуля, а правый конец полуинтервала не входит в упоминание. Поэтому координаты позволяют проверить каждую форму прямо в текстовом файле, не полагаясь на подпись графа.</a:t>
            </a:r>
          </a:p>
          <a:p>
            <a:r>
              <a:rPr lang="ru-RU"/>
              <a:t>Полное название и ToBRFV занимают разные позиции, но объединяются в ранее показанный концепт. Растение и место становятся другими концептами с собственными типами. Цифры справа описывают весь документ, а не только этот отрывок: тридцать восемь упоминаний превратились в одиннадцать концептов, затем в тридцать шесть кандидатов и пятнадцать выбранных связей.</a:t>
            </a:r>
          </a:p>
          <a:p>
            <a:r>
              <a:rPr lang="ru-RU"/>
              <a:t>Мы показываем внешний прогноз. Модель, которая его сделала, не обучалась на этом документе или его текстовой группе. Эталон можно использовать для анализа ошибок, но он не участвовал в данном предсказании. Устройство такого разделения подробно разберём после завершения примера.</a:t>
            </a:r>
          </a:p>
        </p:txBody>
      </p:sp>
      <p:sp>
        <p:nvSpPr>
          <p:cNvPr id="4" name="Номер слайда 3"/>
          <p:cNvSpPr>
            <a:spLocks noGrp="1"/>
          </p:cNvSpPr>
          <p:nvPr>
            <p:ph type="sldNum" sz="quarter" idx="5"/>
          </p:nvPr>
        </p:nvSpPr>
        <p:spPr/>
        <p:txBody>
          <a:bodyPr/>
          <a:lstStyle/>
          <a:p>
            <a:fld id="{0CB5650A-93E9-4B09-90DB-AFA4D00640B2}" type="slidenum">
              <a:rPr lang="ru-RU" smtClean="0"/>
              <a:t>11</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Для пары ToBRFV и tomatoes классификатор получил сведения о девятнадцати упоминаниях субъекта и пяти упоминаниях растения, их близости и обучающих частотах. Оценка этого кандидата примерно ноль целых девятьсот тридцать одна тысячная. Отношение с Jordan Valley также имеет высокую оценку. Обе связи вошли в выбранный набор.</a:t>
            </a:r>
          </a:p>
          <a:p>
            <a:r>
              <a:rPr lang="ru-RU"/>
              <a:t>Признаки позволяют понять, какая информация доступна модели. Однако мы не измеряли вклад каждого признака и не проверяли калибровку оценки как вероятности реального биологического факта. По одной таблице нельзя объяснить причинно, почему классификатор выдал конкретное число.</a:t>
            </a:r>
          </a:p>
          <a:p>
            <a:r>
              <a:rPr lang="ru-RU"/>
              <a:t>Далее графовый слой связывает типизированные узлы и записывает источник 104650. При возврате к формату соревнования типы и документы-источники остаются графовыми атрибутами, а JSON содержит три строковых поля. Этот фрагмент показывает две записи из пятнадцати. Сохранение выбранного множества проверено программно, но оно не исключает ошибок самого извлечения. Поэтому следующий вопрос относится к независимой оценке всей цепочки.</a:t>
            </a:r>
          </a:p>
        </p:txBody>
      </p:sp>
      <p:sp>
        <p:nvSpPr>
          <p:cNvPr id="4" name="Номер слайда 3"/>
          <p:cNvSpPr>
            <a:spLocks noGrp="1"/>
          </p:cNvSpPr>
          <p:nvPr>
            <p:ph type="sldNum" sz="quarter" idx="5"/>
          </p:nvPr>
        </p:nvSpPr>
        <p:spPr/>
        <p:txBody>
          <a:bodyPr/>
          <a:lstStyle/>
          <a:p>
            <a:fld id="{0CB5650A-93E9-4B09-90DB-AFA4D00640B2}" type="slidenum">
              <a:rPr lang="ru-RU" smtClean="0"/>
              <a:t>12</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Для независимой проверки недостаточно отложить только классификатор отношений. Словари, нормализации и частоты тоже извлекают информацию из разметки. Поэтому внешний фолд отделён от всех обучаемых компонентов. Одинаковые тексты после нормализации пробелов объединяются в группы и остаются на одной стороне разбиения.</a:t>
            </a:r>
          </a:p>
          <a:p>
            <a:r>
              <a:rPr lang="ru-RU"/>
              <a:t>Внутри внешнего обучения получаются отложенные прогнозы NER. Они нужны, чтобы классификатор отношений учился на распознанных упоминаниях, а не на идеальном входе эталона. Для каждой внутренней части распознавание обучается на других группах.</a:t>
            </a:r>
          </a:p>
          <a:p>
            <a:r>
              <a:rPr lang="ru-RU"/>
              <a:t>Дополнительные исключения относятся к признакам: обучающий словарь CRF не использует группу текущего документа, а Priors вычитает собственную статистику документа. Эти действия не означают обучение ещё пяти CRF. Карта нормализаций отношений строится по всей внешней обучающей части, поэтому её нельзя изображать как отдельную внутреннюю карту нормализаций OOF. Внешний эталон используется после прогнозирования для метрик. Гиперпараметры отбора здесь не подбираются. Внешнее сравнение использует seed 0; финальное усреднение пяти моделей относится к test.</a:t>
            </a:r>
          </a:p>
        </p:txBody>
      </p:sp>
      <p:sp>
        <p:nvSpPr>
          <p:cNvPr id="4" name="Номер слайда 3"/>
          <p:cNvSpPr>
            <a:spLocks noGrp="1"/>
          </p:cNvSpPr>
          <p:nvPr>
            <p:ph type="sldNum" sz="quarter" idx="5"/>
          </p:nvPr>
        </p:nvSpPr>
        <p:spPr/>
        <p:txBody>
          <a:bodyPr/>
          <a:lstStyle/>
          <a:p>
            <a:fld id="{0CB5650A-93E9-4B09-90DB-AFA4D00640B2}" type="slidenum">
              <a:rPr lang="ru-RU" smtClean="0"/>
              <a:t>13</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Чтобы читать результаты, нужно различить точность и полноту. Точность показывает долю совпавших отношений среди учтённых прогнозов, а полнота долю найденных эталонных связей. F1 объединяет эти два измерения. Ошибки считаются после сопоставления субъекта, предиката и объекта, причём эталон допускает наборы эквивалентных названий.</a:t>
            </a:r>
          </a:p>
          <a:p>
            <a:r>
              <a:rPr lang="ru-RU"/>
              <a:t>Macro F1 сначала вычисляет оценку каждого документа, затем усредняет их с равными весами. Micro F1 использует общие счётчики по корпусу. Эти показатели могут меняться в разные стороны, поскольку распределяют вес ошибок по-разному.</a:t>
            </a:r>
          </a:p>
          <a:p>
            <a:r>
              <a:rPr lang="ru-RU"/>
              <a:t>Наш локальный scorer имеет явно описанные ограничения. Он нормализует формы и предикаты, удаляет повторы прогнозов и учитывает первый совпавший эталон; оптимального взаимно-однозначного сопоставления нет. Случаи пустых графов также заданы локально. Официальный evaluator получить не удалось, поэтому полную эквивалентность Kaggle не заявляем. Как и обсуждает книга, оценка относительно доступного эталона не устанавливает полноту идеального графа всех знаний предметной области.</a:t>
            </a:r>
          </a:p>
        </p:txBody>
      </p:sp>
      <p:sp>
        <p:nvSpPr>
          <p:cNvPr id="4" name="Номер слайда 3"/>
          <p:cNvSpPr>
            <a:spLocks noGrp="1"/>
          </p:cNvSpPr>
          <p:nvPr>
            <p:ph type="sldNum" sz="quarter" idx="5"/>
          </p:nvPr>
        </p:nvSpPr>
        <p:spPr/>
        <p:txBody>
          <a:bodyPr/>
          <a:lstStyle/>
          <a:p>
            <a:fld id="{0CB5650A-93E9-4B09-90DB-AFA4D00640B2}" type="slidenum">
              <a:rPr lang="ru-RU" smtClean="0"/>
              <a:t>14</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Таблица сравнивает два способа группировки упоминаний в одном независимом протоколе. Ранее полная форма со ссылкой и сокращение с ключом раскрытой строки могли разделиться. Исправленный resolver сначала ищет нормализацию полного названия, давая формам общий ключ. Внешние фолды, подготовленные прогнозы NER, гиперпараметры и локальный scorer одинаковы. Это делает локальные числа сопоставимыми между столбцами.</a:t>
            </a:r>
          </a:p>
          <a:p>
            <a:r>
              <a:rPr lang="ru-RU"/>
              <a:t>Macro F1 немного выросла: примерно с ноль целых пятисот двадцати семи тысячных до ноль целых пятисот тридцати трёх тысячных. При этом micro F1 снизилась. Полнота суммарных отношений также стала чуть ниже, поэтому нельзя говорить об улучшении каждой стороны качества.</a:t>
            </a:r>
          </a:p>
          <a:p>
            <a:r>
              <a:rPr lang="ru-RU"/>
              <a:t>Прежнее число около ноль целых пятьсот сорок трёх тысячных относится к зависимому протоколу оценки. Подставлять его третьим столбцом без оговорки было бы некорректно. Сравнение также не измеряет пользу графового контейнера, поскольку выбранные тройки при записи в граф сохраняются. Для практического результата есть отдельное подтверждение Kaggle, которое относится к другой выборке и процедуре.</a:t>
            </a:r>
          </a:p>
        </p:txBody>
      </p:sp>
      <p:sp>
        <p:nvSpPr>
          <p:cNvPr id="4" name="Номер слайда 3"/>
          <p:cNvSpPr>
            <a:spLocks noGrp="1"/>
          </p:cNvSpPr>
          <p:nvPr>
            <p:ph type="sldNum" sz="quarter" idx="5"/>
          </p:nvPr>
        </p:nvSpPr>
        <p:spPr/>
        <p:txBody>
          <a:bodyPr/>
          <a:lstStyle/>
          <a:p>
            <a:fld id="{0CB5650A-93E9-4B09-90DB-AFA4D00640B2}" type="slidenum">
              <a:rPr lang="ru-RU" smtClean="0"/>
              <a:t>15</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Зайнуллин Мансур]</a:t>
            </a:r>
          </a:p>
          <a:p>
            <a:r>
              <a:rPr lang="ru-RU"/>
              <a:t>Пользователь загрузил подготовленный CSV и сохранил подтверждение оценок: public 0.57890 и private 0.58085. Исторический public составлял 0.38757, разница равна 0.19133. Это заметное улучшение результата отправки, но не контролируемый эксперимент, измеряющий эффект одного изменения. Но точный старый файл неизвестен, а отправка выполнена после срока, поэтому официальный ранг не устанавливается.</a:t>
            </a:r>
          </a:p>
          <a:p>
            <a:r>
              <a:rPr lang="ru-RU"/>
              <a:t>Подтверждение относится к содержимому файла: ноутбук проверяет контрольную сумму. После редакции отчёта CSV остался побайтово тем же. Три полных запуска в новых ядрах также сохранили локальные метрики. Разница времени холодного запуска и повторного связана с использованием сохранённого кэша; это не отдельный эксперимент по эффективности алгоритма.</a:t>
            </a:r>
          </a:p>
          <a:p>
            <a:r>
              <a:rPr lang="ru-RU"/>
              <a:t>Пакет модели поддерживает прогноз нового документа без разметки вместе с необходимыми определениями из notebook. Оценки Kaggle и CV относятся к разным данным и процедурам, поэтому не образуют одну числовую шкалу качества.</a:t>
            </a:r>
          </a:p>
        </p:txBody>
      </p:sp>
      <p:sp>
        <p:nvSpPr>
          <p:cNvPr id="4" name="Номер слайда 3"/>
          <p:cNvSpPr>
            <a:spLocks noGrp="1"/>
          </p:cNvSpPr>
          <p:nvPr>
            <p:ph type="sldNum" sz="quarter" idx="5"/>
          </p:nvPr>
        </p:nvSpPr>
        <p:spPr/>
        <p:txBody>
          <a:bodyPr/>
          <a:lstStyle/>
          <a:p>
            <a:fld id="{0CB5650A-93E9-4B09-90DB-AFA4D00640B2}" type="slidenum">
              <a:rPr lang="ru-RU" smtClean="0"/>
              <a:t>16</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EA9F4-2F9E-F6D3-AF4F-8724F3362A6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8894C25F-61BF-B50E-FBC8-3D0E7C00A769}"/>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22566198-9CBC-B1B9-860F-1903E0E50B5C}"/>
              </a:ext>
            </a:extLst>
          </p:cNvPr>
          <p:cNvSpPr>
            <a:spLocks noGrp="1"/>
          </p:cNvSpPr>
          <p:nvPr>
            <p:ph type="body" idx="1"/>
          </p:nvPr>
        </p:nvSpPr>
        <p:spPr/>
        <p:txBody>
          <a:bodyPr/>
          <a:lstStyle/>
          <a:p>
            <a:r>
              <a:rPr lang="ru-RU"/>
              <a:t>[Спикер: Зайнуллин Мансур]</a:t>
            </a:r>
          </a:p>
          <a:p>
            <a:r>
              <a:rPr lang="ru-RU"/>
              <a:t>Пользователь загрузил подготовленный CSV и сохранил подтверждение оценок: public 0.57890 и private 0.58085. Исторический public составлял 0.38757, разница равна 0.19133. Это заметное улучшение результата отправки, но не контролируемый эксперимент, измеряющий эффект одного изменения. Но точный старый файл неизвестен, а отправка выполнена после срока, поэтому официальный ранг не устанавливается.</a:t>
            </a:r>
          </a:p>
          <a:p>
            <a:r>
              <a:rPr lang="ru-RU"/>
              <a:t>Подтверждение относится к содержимому файла: ноутбук проверяет контрольную сумму. После редакции отчёта CSV остался побайтово тем же. Три полных запуска в новых ядрах также сохранили локальные метрики. Разница времени холодного запуска и повторного связана с использованием сохранённого кэша; это не отдельный эксперимент по эффективности алгоритма.</a:t>
            </a:r>
          </a:p>
          <a:p>
            <a:r>
              <a:rPr lang="ru-RU"/>
              <a:t>Пакет модели поддерживает прогноз нового документа без разметки вместе с необходимыми определениями из notebook. Оценки Kaggle и CV относятся к разным данным и процедурам, поэтому не образуют одну числовую шкалу качества.</a:t>
            </a:r>
          </a:p>
        </p:txBody>
      </p:sp>
      <p:sp>
        <p:nvSpPr>
          <p:cNvPr id="4" name="Номер слайда 3">
            <a:extLst>
              <a:ext uri="{FF2B5EF4-FFF2-40B4-BE49-F238E27FC236}">
                <a16:creationId xmlns:a16="http://schemas.microsoft.com/office/drawing/2014/main" id="{68F3A07D-2DC0-BFF8-41DB-6FA78F4F4F0C}"/>
              </a:ext>
            </a:extLst>
          </p:cNvPr>
          <p:cNvSpPr>
            <a:spLocks noGrp="1"/>
          </p:cNvSpPr>
          <p:nvPr>
            <p:ph type="sldNum" sz="quarter" idx="5"/>
          </p:nvPr>
        </p:nvSpPr>
        <p:spPr/>
        <p:txBody>
          <a:bodyPr/>
          <a:lstStyle/>
          <a:p>
            <a:fld id="{0CB5650A-93E9-4B09-90DB-AFA4D00640B2}" type="slidenum">
              <a:rPr lang="ru-RU" smtClean="0"/>
              <a:t>17</a:t>
            </a:fld>
            <a:endParaRPr lang="ru-RU"/>
          </a:p>
        </p:txBody>
      </p:sp>
    </p:spTree>
    <p:extLst>
      <p:ext uri="{BB962C8B-B14F-4D97-AF65-F5344CB8AC3E}">
        <p14:creationId xmlns:p14="http://schemas.microsoft.com/office/powerpoint/2010/main" val="42613960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Общий граф построен из предсказаний для восьмидесяти двух тестовых документов. В сумме они содержат девятьсот семьдесят пять троек. При объединении одинаковое ребро не копируется, а получает список документов, в которых оно встречалось. Поэтому уникальных рёбер меньше: семьсот тридцать семь. Разница между числами относится к повторным появлениям записей.</a:t>
            </a:r>
          </a:p>
          <a:p>
            <a:r>
              <a:rPr lang="ru-RU"/>
              <a:t>В графе четыреста тридцать семь узлов и восемь слабых компонент. Слабая связность рассматривает рёбра без направления. Узлы добавляются только вместе с выбранной связью, поэтому отсутствие изолированных узлов является свойством процедуры построения, а не доказательством, что все сущности текста связаны.</a:t>
            </a:r>
          </a:p>
          <a:p>
            <a:r>
              <a:rPr lang="ru-RU"/>
              <a:t>Источники позволяют восстановить документную принадлежность. Большинство рёбер имеют один документ, некоторые несколько. Эти списки не доказывают независимость сообщений или истинность отношения. GraphML сохраняет атрибуты, причём списки представлены JSON-строками и проверены повторным чтением. Теперь граф можно использовать для запросов, сохраняя различие между найденной записью и проверенным фактом.</a:t>
            </a:r>
          </a:p>
        </p:txBody>
      </p:sp>
      <p:sp>
        <p:nvSpPr>
          <p:cNvPr id="4" name="Номер слайда 3"/>
          <p:cNvSpPr>
            <a:spLocks noGrp="1"/>
          </p:cNvSpPr>
          <p:nvPr>
            <p:ph type="sldNum" sz="quarter" idx="5"/>
          </p:nvPr>
        </p:nvSpPr>
        <p:spPr/>
        <p:txBody>
          <a:bodyPr/>
          <a:lstStyle/>
          <a:p>
            <a:fld id="{0CB5650A-93E9-4B09-90DB-AFA4D00640B2}" type="slidenum">
              <a:rPr lang="ru-RU" smtClean="0"/>
              <a:t>18</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Первый запрос фиксирует субъект и предикат, оставляя место переменной. В терминах книги это поиск совпадений с графовым шаблоном. Для аудитории баз данных он похож на выборку записанных отношений с заданными полями. Код использует функции NetworkX; наличие шаблона не означает реализацию стандартного языка запросов.</a:t>
            </a:r>
          </a:p>
          <a:p>
            <a:r>
              <a:rPr lang="ru-RU"/>
              <a:t>Выбор Xylella сделан детерминированно: среди Pest этот узел имеет больше всего различных соседей Location по Located_in. При равенстве использовался бы идентификатор. Результат содержит сорок семь строковых локаций. На слайде показаны четыре записи, а полный ответ сохранён отдельно.</a:t>
            </a:r>
          </a:p>
          <a:p>
            <a:r>
              <a:rPr lang="ru-RU"/>
              <a:t>Документы в таблице относятся к конкретному ребру, а не ко всем появлениям имени места. Это позволяет открыть источник и проверить, выражено ли отношение в контексте. Количество соседей нельзя читать как число подтверждённых очагов: граф получен автоматическим извлечением, а нормализация мест ограничена. Поэтому следующий шаг заключается в проверке исходного текста.</a:t>
            </a:r>
          </a:p>
        </p:txBody>
      </p:sp>
      <p:sp>
        <p:nvSpPr>
          <p:cNvPr id="4" name="Номер слайда 3"/>
          <p:cNvSpPr>
            <a:spLocks noGrp="1"/>
          </p:cNvSpPr>
          <p:nvPr>
            <p:ph type="sldNum" sz="quarter" idx="5"/>
          </p:nvPr>
        </p:nvSpPr>
        <p:spPr/>
        <p:txBody>
          <a:bodyPr/>
          <a:lstStyle/>
          <a:p>
            <a:fld id="{0CB5650A-93E9-4B09-90DB-AFA4D00640B2}" type="slidenum">
              <a:rPr lang="ru-RU" smtClean="0"/>
              <a:t>19</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В этом фрагменте три узла имеют разные типы. Xylella представлен как Pest, olive trees как Plant, Monopoli как Location. Ребро Found_on направлено от возбудителя к растению; два Located_in указывают место. Направленные подписи позволяют прочитать три отдельных утверждения, не смешивая их с визуальной близостью кругов.</a:t>
            </a:r>
          </a:p>
          <a:p>
            <a:r>
              <a:rPr lang="ru-RU"/>
              <a:t>Справа приведён исходный текст документа 97985. Он сообщает о тридцати заражённых Xylella оливковых деревьях в Monopoli и поддерживает такое чтение фрагмента. У показанных рёбер сохранён документный источник, поэтому можно вернуться к исходному сообщению.</a:t>
            </a:r>
          </a:p>
          <a:p>
            <a:r>
              <a:rPr lang="ru-RU"/>
              <a:t>Иллюстрация содержит только выбранный связный фрагмент. Её размер не заменяет паспорт всего тестового корпуса и не меняет оценки конкретного CSV. Ручное чтение одного отрывка также не является проверкой всех извлечённых отношений. Происхождение указывает маршрут к тексту, а семантический смысл нужно читать в контексте. Следующий пример показывает другую границу интерпретации: один ответ запроса может содержать несколько строковых названий потенциально связанных объектов.</a:t>
            </a:r>
          </a:p>
        </p:txBody>
      </p:sp>
      <p:sp>
        <p:nvSpPr>
          <p:cNvPr id="4" name="Номер слайда 3"/>
          <p:cNvSpPr>
            <a:spLocks noGrp="1"/>
          </p:cNvSpPr>
          <p:nvPr>
            <p:ph type="sldNum" sz="quarter" idx="5"/>
          </p:nvPr>
        </p:nvSpPr>
        <p:spPr/>
        <p:txBody>
          <a:bodyPr/>
          <a:lstStyle/>
          <a:p>
            <a:fld id="{0CB5650A-93E9-4B09-90DB-AFA4D00640B2}" type="slidenum">
              <a:rPr lang="ru-RU" smtClean="0"/>
              <a:t>20</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Второй запрос меняет направление поиска: фиксируется растение Bananas, а среди входящих отношений Found_on выбираются субъекты типа Pest. Это растение выбрано по максимальному числу разных подходящих узлов; правило не характеризует реальную восприимчивость культуры. Таблица содержит весь короткий ответ из шести записей и документы каждого ребра.</a:t>
            </a:r>
          </a:p>
          <a:p>
            <a:r>
              <a:rPr lang="ru-RU"/>
              <a:t>У ответа есть граница идентичности. Полные названия и сокращения могут оставаться разными строковыми узлами, поэтому шесть записей нельзя превращать в число различных биологических таксонов. Сходство строк также не разрешает автоматически объединять род и вид или близкие варианты названий. В графе Xylella и Xylella fastidiosa имеют разные идентификаторы; их таксономическое равенство не устанавливалось.</a:t>
            </a:r>
          </a:p>
          <a:p>
            <a:r>
              <a:rPr lang="ru-RU"/>
              <a:t>Есть и шум границ: Location может содержать предлог, а Date неопределённое выражение «first time». Эти примеры показывают ограниченность нормализации. Запрос честно возвращает сохранённые узлы, но смысловой вывод требует учитывать, как именно сущности были представлены.</a:t>
            </a:r>
          </a:p>
        </p:txBody>
      </p:sp>
      <p:sp>
        <p:nvSpPr>
          <p:cNvPr id="4" name="Номер слайда 3"/>
          <p:cNvSpPr>
            <a:spLocks noGrp="1"/>
          </p:cNvSpPr>
          <p:nvPr>
            <p:ph type="sldNum" sz="quarter" idx="5"/>
          </p:nvPr>
        </p:nvSpPr>
        <p:spPr/>
        <p:txBody>
          <a:bodyPr/>
          <a:lstStyle/>
          <a:p>
            <a:fld id="{0CB5650A-93E9-4B09-90DB-AFA4D00640B2}" type="slidenum">
              <a:rPr lang="ru-RU" smtClean="0"/>
              <a:t>21</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Третий запрос ищет две последовательные связи с общим узлом Pest. В терминах баз данных это соединение отношений по идентификатору промежуточной сущности. На схеме показан реальный путь: citrus psyllid связан через Transmits с Candidatus Liberibacter asiaticus, а этот узел через Found_on с подписью citrus pla. Усечённая подпись действительно присутствует в результате и не исправлена ради иллюстрации.</a:t>
            </a:r>
          </a:p>
          <a:p>
            <a:r>
              <a:rPr lang="ru-RU"/>
              <a:t>По всему графу найдено двадцать девять путей. В десяти списки источников двух рёбер пересекаются, в девятнадцати источники различны. Это разделение сохраняет возможность увидеть, где граф соединяет сообщения разных документов. Даже общий документ ещё не устанавливает общее событие.</a:t>
            </a:r>
          </a:p>
          <a:p>
            <a:r>
              <a:rPr lang="ru-RU"/>
              <a:t>Полученный путь не добавляет новое ребро от переносчика к растению. Запрос возвращает существующие записи и их комбинацию, тогда как дедукция потребовала бы заданных правил и подходящих посылок. В нашем проекте такие правила не реализованы. Для применения графа полезно возвращать путь вместе с источниками и сохранять эту границу интерпретации.</a:t>
            </a:r>
          </a:p>
        </p:txBody>
      </p:sp>
      <p:sp>
        <p:nvSpPr>
          <p:cNvPr id="4" name="Номер слайда 3"/>
          <p:cNvSpPr>
            <a:spLocks noGrp="1"/>
          </p:cNvSpPr>
          <p:nvPr>
            <p:ph type="sldNum" sz="quarter" idx="5"/>
          </p:nvPr>
        </p:nvSpPr>
        <p:spPr/>
        <p:txBody>
          <a:bodyPr/>
          <a:lstStyle/>
          <a:p>
            <a:fld id="{0CB5650A-93E9-4B09-90DB-AFA4D00640B2}" type="slidenum">
              <a:rPr lang="ru-RU" smtClean="0"/>
              <a:t>22</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Итог работы состоит в воспроизводимой цепочке извлечения и пригодном для анализа графовом представлении. На вход можно подать новый текст без эталона, на выходе получить выбранные отношения. Сохранённые модели, параметры и протоколы позволяют повторить вычисления; оценки относятся к конкретным условиям и проверенному файлу.</a:t>
            </a:r>
          </a:p>
          <a:p>
            <a:r>
              <a:rPr lang="ru-RU"/>
              <a:t>Графовая часть полезна своим представлением: типами, ограничениями, устранением повторов и происхождением. Запросы собирают нужные записи и пути, а документы помогают проверить их смысл. Это практическое применение графа знаний для организации извлечённой информации.</a:t>
            </a:r>
          </a:p>
          <a:p>
            <a:r>
              <a:rPr lang="ru-RU"/>
              <a:t>Границы решения остаются существенными. Кандидаты неполны, Dispersed_by слаб, подписи и междокументная идентичность разрешаются ограниченно. Новые факты по правилам не выводятся, и распределённая серверная платформа не строилась. Поэтому допустимый вывод касается работающей цепочки, измеренного качества и запросов к её предсказаниям. Использовать ответ как подтверждённое биологическое утверждение можно лишь после дополнительной смысловой проверки источников и сущностей; такой проверки всего корпуса мы не выполняли.</a:t>
            </a:r>
          </a:p>
        </p:txBody>
      </p:sp>
      <p:sp>
        <p:nvSpPr>
          <p:cNvPr id="4" name="Номер слайда 3"/>
          <p:cNvSpPr>
            <a:spLocks noGrp="1"/>
          </p:cNvSpPr>
          <p:nvPr>
            <p:ph type="sldNum" sz="quarter" idx="5"/>
          </p:nvPr>
        </p:nvSpPr>
        <p:spPr/>
        <p:txBody>
          <a:bodyPr/>
          <a:lstStyle/>
          <a:p>
            <a:fld id="{0CB5650A-93E9-4B09-90DB-AFA4D00640B2}" type="slidenum">
              <a:rPr lang="ru-RU" smtClean="0"/>
              <a:t>23</a:t>
            </a:fld>
            <a:endParaRPr lang="ru-RU"/>
          </a:p>
        </p:txBody>
      </p:sp>
    </p:spTree>
    <p:extLst>
      <p:ext uri="{BB962C8B-B14F-4D97-AF65-F5344CB8AC3E}">
        <p14:creationId xmlns:p14="http://schemas.microsoft.com/office/powerpoint/2010/main" val="382280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[Спикер: Аникин Роман]</a:t>
            </a:r>
          </a:p>
          <a:p>
            <a:r>
              <a:rPr lang="ru-RU"/>
              <a:t>Спасибо за внимание. Готовы обсудить решение и ответить на ваши вопросы.</a:t>
            </a:r>
          </a:p>
        </p:txBody>
      </p:sp>
      <p:sp>
        <p:nvSpPr>
          <p:cNvPr id="4" name="Номер слайда 3"/>
          <p:cNvSpPr>
            <a:spLocks noGrp="1"/>
          </p:cNvSpPr>
          <p:nvPr>
            <p:ph type="sldNum" sz="quarter" idx="5"/>
          </p:nvPr>
        </p:nvSpPr>
        <p:spPr/>
        <p:txBody>
          <a:bodyPr/>
          <a:lstStyle/>
          <a:p>
            <a:fld id="{0CB5650A-93E9-4B09-90DB-AFA4D00640B2}" type="slidenum">
              <a:rPr lang="ru-RU" smtClean="0"/>
              <a:t>24</a:t>
            </a:fld>
            <a:endParaRPr lang="ru-RU"/>
          </a:p>
        </p:txBody>
      </p:sp>
    </p:spTree>
    <p:extLst>
      <p:ext uri="{BB962C8B-B14F-4D97-AF65-F5344CB8AC3E}">
        <p14:creationId xmlns:p14="http://schemas.microsoft.com/office/powerpoint/2010/main" val="3822806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43B8DC-0952-4A86-A46F-84C6FBC9030D}"/>
              </a:ext>
            </a:extLst>
          </p:cNvPr>
          <p:cNvSpPr>
            <a:spLocks noGrp="1"/>
          </p:cNvSpPr>
          <p:nvPr>
            <p:ph type="ctrTitle"/>
          </p:nvPr>
        </p:nvSpPr>
        <p:spPr>
          <a:xfrm>
            <a:off x="672860" y="2133600"/>
            <a:ext cx="11301653" cy="1279931"/>
          </a:xfrm>
        </p:spPr>
        <p:txBody>
          <a:bodyPr anchor="b"/>
          <a:lstStyle>
            <a:lvl1pPr algn="l">
              <a:defRPr sz="4800">
                <a:solidFill>
                  <a:schemeClr val="tx1">
                    <a:lumMod val="75000"/>
                    <a:lumOff val="25000"/>
                  </a:schemeClr>
                </a:solidFill>
              </a:defRPr>
            </a:lvl1pPr>
          </a:lstStyle>
          <a:p>
            <a:r>
              <a:rPr lang="ru-RU"/>
              <a:t>Образец заголовка</a:t>
            </a:r>
          </a:p>
        </p:txBody>
      </p:sp>
      <p:sp>
        <p:nvSpPr>
          <p:cNvPr id="3" name="Подзаголовок 2">
            <a:extLst>
              <a:ext uri="{FF2B5EF4-FFF2-40B4-BE49-F238E27FC236}">
                <a16:creationId xmlns:a16="http://schemas.microsoft.com/office/drawing/2014/main" id="{CA4A7469-A431-4B0F-8CC5-9ACBA04A91C0}"/>
              </a:ext>
            </a:extLst>
          </p:cNvPr>
          <p:cNvSpPr>
            <a:spLocks noGrp="1"/>
          </p:cNvSpPr>
          <p:nvPr>
            <p:ph type="subTitle" idx="1"/>
          </p:nvPr>
        </p:nvSpPr>
        <p:spPr>
          <a:xfrm>
            <a:off x="658813" y="3541508"/>
            <a:ext cx="11315700" cy="454573"/>
          </a:xfrm>
        </p:spPr>
        <p:txBody>
          <a:bodyPr>
            <a:noAutofit/>
          </a:bodyPr>
          <a:lstStyle>
            <a:lvl1pPr marL="0" indent="0" algn="l">
              <a:buNone/>
              <a:defRPr sz="28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12" name="Текст 11">
            <a:extLst>
              <a:ext uri="{FF2B5EF4-FFF2-40B4-BE49-F238E27FC236}">
                <a16:creationId xmlns:a16="http://schemas.microsoft.com/office/drawing/2014/main" id="{BEAD468B-28E3-4DAF-9A69-192ABDC3BB9E}"/>
              </a:ext>
            </a:extLst>
          </p:cNvPr>
          <p:cNvSpPr>
            <a:spLocks noGrp="1"/>
          </p:cNvSpPr>
          <p:nvPr>
            <p:ph type="body" sz="quarter" idx="10" hasCustomPrompt="1"/>
          </p:nvPr>
        </p:nvSpPr>
        <p:spPr>
          <a:xfrm>
            <a:off x="664924" y="5434342"/>
            <a:ext cx="11309589" cy="509588"/>
          </a:xfrm>
        </p:spPr>
        <p:txBody>
          <a:bodyPr>
            <a:noAutofit/>
          </a:bodyPr>
          <a:lstStyle>
            <a:lvl1pPr marL="0" indent="0">
              <a:buNone/>
              <a:defRPr sz="2400" b="1">
                <a:solidFill>
                  <a:schemeClr val="tx1">
                    <a:lumMod val="75000"/>
                    <a:lumOff val="25000"/>
                  </a:schemeClr>
                </a:solidFill>
              </a:defRPr>
            </a:lvl1pPr>
            <a:lvl2pPr marL="457200" indent="0">
              <a:buNone/>
              <a:defRPr sz="2000">
                <a:solidFill>
                  <a:schemeClr val="tx1">
                    <a:lumMod val="75000"/>
                    <a:lumOff val="25000"/>
                  </a:schemeClr>
                </a:solidFill>
              </a:defRPr>
            </a:lvl2pPr>
            <a:lvl3pPr marL="914400" indent="0">
              <a:buNone/>
              <a:defRPr sz="1800">
                <a:solidFill>
                  <a:schemeClr val="tx1">
                    <a:lumMod val="75000"/>
                    <a:lumOff val="25000"/>
                  </a:schemeClr>
                </a:solidFill>
              </a:defRPr>
            </a:lvl3pPr>
            <a:lvl4pPr marL="1371600" indent="0">
              <a:buNone/>
              <a:defRPr sz="1600">
                <a:solidFill>
                  <a:schemeClr val="tx1">
                    <a:lumMod val="75000"/>
                    <a:lumOff val="25000"/>
                  </a:schemeClr>
                </a:solidFill>
              </a:defRPr>
            </a:lvl4pPr>
            <a:lvl5pPr marL="1828800" indent="0">
              <a:buNone/>
              <a:defRPr sz="1600">
                <a:solidFill>
                  <a:schemeClr val="tx1">
                    <a:lumMod val="75000"/>
                    <a:lumOff val="25000"/>
                  </a:schemeClr>
                </a:solidFill>
              </a:defRPr>
            </a:lvl5pPr>
          </a:lstStyle>
          <a:p>
            <a:pPr lvl="0"/>
            <a:r>
              <a:rPr lang="ru-RU"/>
              <a:t>Фамилия Имя Отчество автора презентации</a:t>
            </a:r>
          </a:p>
        </p:txBody>
      </p:sp>
      <p:sp>
        <p:nvSpPr>
          <p:cNvPr id="18" name="Текст 17">
            <a:extLst>
              <a:ext uri="{FF2B5EF4-FFF2-40B4-BE49-F238E27FC236}">
                <a16:creationId xmlns:a16="http://schemas.microsoft.com/office/drawing/2014/main" id="{39280C22-551C-4D74-A069-F705A535D0B6}"/>
              </a:ext>
            </a:extLst>
          </p:cNvPr>
          <p:cNvSpPr>
            <a:spLocks noGrp="1"/>
          </p:cNvSpPr>
          <p:nvPr>
            <p:ph type="body" sz="quarter" idx="11" hasCustomPrompt="1"/>
          </p:nvPr>
        </p:nvSpPr>
        <p:spPr>
          <a:xfrm>
            <a:off x="658813" y="5969000"/>
            <a:ext cx="11315700" cy="344488"/>
          </a:xfrm>
        </p:spPr>
        <p:txBody>
          <a:bodyPr>
            <a:noAutofit/>
          </a:bodyPr>
          <a:lstStyle>
            <a:lvl1pPr marL="0" indent="0">
              <a:buNone/>
              <a:defRPr sz="2000">
                <a:solidFill>
                  <a:schemeClr val="tx1">
                    <a:lumMod val="75000"/>
                    <a:lumOff val="25000"/>
                  </a:schemeClr>
                </a:solidFill>
              </a:defRPr>
            </a:lvl1pPr>
          </a:lstStyle>
          <a:p>
            <a:pPr lvl="0"/>
            <a:r>
              <a:rPr lang="ru-RU"/>
              <a:t>должность</a:t>
            </a:r>
          </a:p>
        </p:txBody>
      </p:sp>
      <p:pic>
        <p:nvPicPr>
          <p:cNvPr id="1026" name="Picture 2" descr="\\ad.pu.ru\RECTORAT\УСО\ДИЗАЙНЕРЫ\300 лет СПбГУ\300 лет логотипы все варианты\Logo 300 let classic white.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09707" y="436563"/>
            <a:ext cx="3773202" cy="115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884931"/>
      </p:ext>
    </p:extLst>
  </p:cSld>
  <p:clrMapOvr>
    <a:masterClrMapping/>
  </p:clrMapOvr>
  <p:extLst>
    <p:ext uri="{DCECCB84-F9BA-43D5-87BE-67443E8EF086}">
      <p15:sldGuideLst xmlns:p15="http://schemas.microsoft.com/office/powerpoint/2012/main">
        <p15:guide id="1" orient="horz" pos="1344" userDrawn="1">
          <p15:clr>
            <a:srgbClr val="FBAE40"/>
          </p15:clr>
        </p15:guide>
        <p15:guide id="2" orient="horz" pos="3420" userDrawn="1">
          <p15:clr>
            <a:srgbClr val="FBAE40"/>
          </p15:clr>
        </p15:guide>
        <p15:guide id="3" pos="41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43B8DC-0952-4A86-A46F-84C6FBC9030D}"/>
              </a:ext>
            </a:extLst>
          </p:cNvPr>
          <p:cNvSpPr>
            <a:spLocks noGrp="1"/>
          </p:cNvSpPr>
          <p:nvPr>
            <p:ph type="ctrTitle"/>
          </p:nvPr>
        </p:nvSpPr>
        <p:spPr>
          <a:xfrm>
            <a:off x="672860" y="2133600"/>
            <a:ext cx="11301653" cy="1279931"/>
          </a:xfrm>
        </p:spPr>
        <p:txBody>
          <a:bodyPr anchor="b"/>
          <a:lstStyle>
            <a:lvl1pPr algn="l">
              <a:defRPr sz="4800">
                <a:solidFill>
                  <a:schemeClr val="tx1">
                    <a:lumMod val="75000"/>
                    <a:lumOff val="25000"/>
                  </a:schemeClr>
                </a:solidFill>
              </a:defRPr>
            </a:lvl1pPr>
          </a:lstStyle>
          <a:p>
            <a:r>
              <a:rPr lang="ru-RU"/>
              <a:t>Образец заголовка</a:t>
            </a:r>
          </a:p>
        </p:txBody>
      </p:sp>
      <p:sp>
        <p:nvSpPr>
          <p:cNvPr id="3" name="Подзаголовок 2">
            <a:extLst>
              <a:ext uri="{FF2B5EF4-FFF2-40B4-BE49-F238E27FC236}">
                <a16:creationId xmlns:a16="http://schemas.microsoft.com/office/drawing/2014/main" id="{CA4A7469-A431-4B0F-8CC5-9ACBA04A91C0}"/>
              </a:ext>
            </a:extLst>
          </p:cNvPr>
          <p:cNvSpPr>
            <a:spLocks noGrp="1"/>
          </p:cNvSpPr>
          <p:nvPr>
            <p:ph type="subTitle" idx="1"/>
          </p:nvPr>
        </p:nvSpPr>
        <p:spPr>
          <a:xfrm>
            <a:off x="658813" y="3541508"/>
            <a:ext cx="11315700" cy="454573"/>
          </a:xfrm>
        </p:spPr>
        <p:txBody>
          <a:bodyPr>
            <a:noAutofit/>
          </a:bodyPr>
          <a:lstStyle>
            <a:lvl1pPr marL="0" indent="0" algn="l">
              <a:buNone/>
              <a:defRPr sz="28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12" name="Текст 11">
            <a:extLst>
              <a:ext uri="{FF2B5EF4-FFF2-40B4-BE49-F238E27FC236}">
                <a16:creationId xmlns:a16="http://schemas.microsoft.com/office/drawing/2014/main" id="{BEAD468B-28E3-4DAF-9A69-192ABDC3BB9E}"/>
              </a:ext>
            </a:extLst>
          </p:cNvPr>
          <p:cNvSpPr>
            <a:spLocks noGrp="1"/>
          </p:cNvSpPr>
          <p:nvPr>
            <p:ph type="body" sz="quarter" idx="10" hasCustomPrompt="1"/>
          </p:nvPr>
        </p:nvSpPr>
        <p:spPr>
          <a:xfrm>
            <a:off x="664924" y="5434342"/>
            <a:ext cx="11309589" cy="509588"/>
          </a:xfrm>
        </p:spPr>
        <p:txBody>
          <a:bodyPr>
            <a:noAutofit/>
          </a:bodyPr>
          <a:lstStyle>
            <a:lvl1pPr marL="0" indent="0">
              <a:buNone/>
              <a:defRPr sz="2400" b="1">
                <a:solidFill>
                  <a:schemeClr val="tx1">
                    <a:lumMod val="75000"/>
                    <a:lumOff val="25000"/>
                  </a:schemeClr>
                </a:solidFill>
              </a:defRPr>
            </a:lvl1pPr>
            <a:lvl2pPr marL="457200" indent="0">
              <a:buNone/>
              <a:defRPr sz="2000">
                <a:solidFill>
                  <a:schemeClr val="tx1">
                    <a:lumMod val="75000"/>
                    <a:lumOff val="25000"/>
                  </a:schemeClr>
                </a:solidFill>
              </a:defRPr>
            </a:lvl2pPr>
            <a:lvl3pPr marL="914400" indent="0">
              <a:buNone/>
              <a:defRPr sz="1800">
                <a:solidFill>
                  <a:schemeClr val="tx1">
                    <a:lumMod val="75000"/>
                    <a:lumOff val="25000"/>
                  </a:schemeClr>
                </a:solidFill>
              </a:defRPr>
            </a:lvl3pPr>
            <a:lvl4pPr marL="1371600" indent="0">
              <a:buNone/>
              <a:defRPr sz="1600">
                <a:solidFill>
                  <a:schemeClr val="tx1">
                    <a:lumMod val="75000"/>
                    <a:lumOff val="25000"/>
                  </a:schemeClr>
                </a:solidFill>
              </a:defRPr>
            </a:lvl4pPr>
            <a:lvl5pPr marL="1828800" indent="0">
              <a:buNone/>
              <a:defRPr sz="1600">
                <a:solidFill>
                  <a:schemeClr val="tx1">
                    <a:lumMod val="75000"/>
                    <a:lumOff val="25000"/>
                  </a:schemeClr>
                </a:solidFill>
              </a:defRPr>
            </a:lvl5pPr>
          </a:lstStyle>
          <a:p>
            <a:pPr lvl="0"/>
            <a:r>
              <a:rPr lang="ru-RU"/>
              <a:t>Фамилия Имя Отчество автора презентации</a:t>
            </a:r>
          </a:p>
        </p:txBody>
      </p:sp>
      <p:sp>
        <p:nvSpPr>
          <p:cNvPr id="18" name="Текст 17">
            <a:extLst>
              <a:ext uri="{FF2B5EF4-FFF2-40B4-BE49-F238E27FC236}">
                <a16:creationId xmlns:a16="http://schemas.microsoft.com/office/drawing/2014/main" id="{39280C22-551C-4D74-A069-F705A535D0B6}"/>
              </a:ext>
            </a:extLst>
          </p:cNvPr>
          <p:cNvSpPr>
            <a:spLocks noGrp="1"/>
          </p:cNvSpPr>
          <p:nvPr>
            <p:ph type="body" sz="quarter" idx="11" hasCustomPrompt="1"/>
          </p:nvPr>
        </p:nvSpPr>
        <p:spPr>
          <a:xfrm>
            <a:off x="658813" y="5969000"/>
            <a:ext cx="11315700" cy="344488"/>
          </a:xfrm>
        </p:spPr>
        <p:txBody>
          <a:bodyPr>
            <a:noAutofit/>
          </a:bodyPr>
          <a:lstStyle>
            <a:lvl1pPr marL="0" indent="0">
              <a:buNone/>
              <a:defRPr sz="2000">
                <a:solidFill>
                  <a:schemeClr val="tx1">
                    <a:lumMod val="75000"/>
                    <a:lumOff val="25000"/>
                  </a:schemeClr>
                </a:solidFill>
              </a:defRPr>
            </a:lvl1pPr>
          </a:lstStyle>
          <a:p>
            <a:pPr lvl="0"/>
            <a:r>
              <a:rPr lang="ru-RU"/>
              <a:t>должность</a:t>
            </a:r>
          </a:p>
        </p:txBody>
      </p:sp>
      <p:pic>
        <p:nvPicPr>
          <p:cNvPr id="7" name="Picture 2" descr="\\ad.pu.ru\RECTORAT\УСО\ДИЗАЙНЕРЫ\300 лет СПбГУ\300 лет логотипы все варианты\Logo 300 let classic white.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09707" y="436563"/>
            <a:ext cx="3773202" cy="115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77604"/>
      </p:ext>
    </p:extLst>
  </p:cSld>
  <p:clrMapOvr>
    <a:masterClrMapping/>
  </p:clrMapOvr>
  <p:extLst>
    <p:ext uri="{DCECCB84-F9BA-43D5-87BE-67443E8EF086}">
      <p15:sldGuideLst xmlns:p15="http://schemas.microsoft.com/office/powerpoint/2012/main">
        <p15:guide id="1" orient="horz" pos="1344">
          <p15:clr>
            <a:srgbClr val="FBAE40"/>
          </p15:clr>
        </p15:guide>
        <p15:guide id="2" orient="horz" pos="3420">
          <p15:clr>
            <a:srgbClr val="FBAE40"/>
          </p15:clr>
        </p15:guide>
        <p15:guide id="3" pos="4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C525E9-9F3B-42CF-A9BF-4E5E38DDB42F}"/>
              </a:ext>
            </a:extLst>
          </p:cNvPr>
          <p:cNvSpPr>
            <a:spLocks noGrp="1"/>
          </p:cNvSpPr>
          <p:nvPr>
            <p:ph type="title" hasCustomPrompt="1"/>
          </p:nvPr>
        </p:nvSpPr>
        <p:spPr>
          <a:xfrm>
            <a:off x="831850" y="1709738"/>
            <a:ext cx="10515600" cy="2852737"/>
          </a:xfrm>
        </p:spPr>
        <p:txBody>
          <a:bodyPr anchor="b"/>
          <a:lstStyle>
            <a:lvl1pPr>
              <a:defRPr sz="6000"/>
            </a:lvl1pPr>
          </a:lstStyle>
          <a:p>
            <a:r>
              <a:rPr lang="ru-RU" dirty="0"/>
              <a:t>Обложка раздела</a:t>
            </a:r>
            <a:br>
              <a:rPr lang="ru-RU" dirty="0"/>
            </a:br>
            <a:r>
              <a:rPr lang="ru-RU" dirty="0"/>
              <a:t>Текст заголовка (60 </a:t>
            </a:r>
            <a:r>
              <a:rPr lang="en-US" dirty="0" err="1"/>
              <a:t>pt</a:t>
            </a:r>
            <a:r>
              <a:rPr lang="ru-RU" dirty="0"/>
              <a:t>)</a:t>
            </a:r>
          </a:p>
        </p:txBody>
      </p:sp>
      <p:sp>
        <p:nvSpPr>
          <p:cNvPr id="3" name="Текст 2">
            <a:extLst>
              <a:ext uri="{FF2B5EF4-FFF2-40B4-BE49-F238E27FC236}">
                <a16:creationId xmlns:a16="http://schemas.microsoft.com/office/drawing/2014/main" id="{029E5A0C-2C95-4C07-B7BF-EBC87A9BF76B}"/>
              </a:ext>
            </a:extLst>
          </p:cNvPr>
          <p:cNvSpPr>
            <a:spLocks noGrp="1"/>
          </p:cNvSpPr>
          <p:nvPr>
            <p:ph type="body" idx="1" hasCustomPrompt="1"/>
          </p:nvPr>
        </p:nvSpPr>
        <p:spPr>
          <a:xfrm>
            <a:off x="831850" y="4781671"/>
            <a:ext cx="10515600" cy="1307979"/>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dirty="0"/>
              <a:t>Подпись к заголовку если нужна (24 </a:t>
            </a:r>
            <a:r>
              <a:rPr lang="en-US" dirty="0" err="1"/>
              <a:t>pt</a:t>
            </a:r>
            <a:r>
              <a:rPr lang="ru-RU" dirty="0"/>
              <a:t>)</a:t>
            </a:r>
          </a:p>
        </p:txBody>
      </p:sp>
    </p:spTree>
    <p:extLst>
      <p:ext uri="{BB962C8B-B14F-4D97-AF65-F5344CB8AC3E}">
        <p14:creationId xmlns:p14="http://schemas.microsoft.com/office/powerpoint/2010/main" val="407814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DE102D-08FD-409F-8B56-BFA75528F625}"/>
              </a:ext>
            </a:extLst>
          </p:cNvPr>
          <p:cNvSpPr>
            <a:spLocks noGrp="1"/>
          </p:cNvSpPr>
          <p:nvPr>
            <p:ph type="title" hasCustomPrompt="1"/>
          </p:nvPr>
        </p:nvSpPr>
        <p:spPr>
          <a:xfrm>
            <a:off x="238125" y="159087"/>
            <a:ext cx="10303852" cy="825163"/>
          </a:xfrm>
        </p:spPr>
        <p:txBody>
          <a:bodyPr/>
          <a:lstStyle>
            <a:lvl1pPr>
              <a:defRPr>
                <a:solidFill>
                  <a:schemeClr val="accent1"/>
                </a:solidFill>
              </a:defRPr>
            </a:lvl1pPr>
          </a:lstStyle>
          <a:p>
            <a:r>
              <a:rPr lang="ru-RU" dirty="0"/>
              <a:t>Образец заголовка</a:t>
            </a:r>
            <a:br>
              <a:rPr lang="ru-RU" dirty="0"/>
            </a:br>
            <a:r>
              <a:rPr lang="ru-RU" dirty="0"/>
              <a:t>в две строки (32 </a:t>
            </a:r>
            <a:r>
              <a:rPr lang="en-US" dirty="0" err="1"/>
              <a:t>pt</a:t>
            </a:r>
            <a:r>
              <a:rPr lang="ru-RU" dirty="0"/>
              <a:t>)</a:t>
            </a:r>
          </a:p>
        </p:txBody>
      </p:sp>
      <p:sp>
        <p:nvSpPr>
          <p:cNvPr id="3" name="Объект 2">
            <a:extLst>
              <a:ext uri="{FF2B5EF4-FFF2-40B4-BE49-F238E27FC236}">
                <a16:creationId xmlns:a16="http://schemas.microsoft.com/office/drawing/2014/main" id="{126654CC-2347-424D-A8D4-38BAFE30D717}"/>
              </a:ext>
            </a:extLst>
          </p:cNvPr>
          <p:cNvSpPr>
            <a:spLocks noGrp="1"/>
          </p:cNvSpPr>
          <p:nvPr>
            <p:ph idx="1"/>
          </p:nvPr>
        </p:nvSpPr>
        <p:spPr/>
        <p:txBody>
          <a:bodyPr/>
          <a:lstStyle>
            <a:lvl1pPr marL="0" indent="0">
              <a:buNone/>
              <a:defRPr>
                <a:solidFill>
                  <a:schemeClr val="tx1">
                    <a:lumMod val="75000"/>
                    <a:lumOff val="25000"/>
                  </a:schemeClr>
                </a:solidFill>
              </a:defRPr>
            </a:lvl1pPr>
            <a:lvl2pPr marL="457200" indent="0">
              <a:buNone/>
              <a:defRPr>
                <a:solidFill>
                  <a:schemeClr val="tx1">
                    <a:lumMod val="75000"/>
                    <a:lumOff val="25000"/>
                  </a:schemeClr>
                </a:solidFill>
              </a:defRPr>
            </a:lvl2pPr>
            <a:lvl3pPr marL="914400" indent="0">
              <a:buNone/>
              <a:defRPr>
                <a:solidFill>
                  <a:schemeClr val="tx1">
                    <a:lumMod val="75000"/>
                    <a:lumOff val="25000"/>
                  </a:schemeClr>
                </a:solidFill>
              </a:defRPr>
            </a:lvl3pPr>
            <a:lvl4pPr marL="1371600" indent="0">
              <a:buNone/>
              <a:defRPr>
                <a:solidFill>
                  <a:schemeClr val="tx1">
                    <a:lumMod val="75000"/>
                    <a:lumOff val="25000"/>
                  </a:schemeClr>
                </a:solidFill>
              </a:defRPr>
            </a:lvl4pPr>
            <a:lvl5pPr marL="1828800" indent="0">
              <a:buNone/>
              <a:defRPr>
                <a:solidFill>
                  <a:schemeClr val="tx1">
                    <a:lumMod val="75000"/>
                    <a:lumOff val="25000"/>
                  </a:schemeClr>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Номер слайда 5">
            <a:extLst>
              <a:ext uri="{FF2B5EF4-FFF2-40B4-BE49-F238E27FC236}">
                <a16:creationId xmlns:a16="http://schemas.microsoft.com/office/drawing/2014/main" id="{EA21C3A1-925D-4033-8C20-8658DEF79488}"/>
              </a:ext>
            </a:extLst>
          </p:cNvPr>
          <p:cNvSpPr>
            <a:spLocks noGrp="1"/>
          </p:cNvSpPr>
          <p:nvPr>
            <p:ph type="sldNum" sz="quarter" idx="12"/>
          </p:nvPr>
        </p:nvSpPr>
        <p:spPr/>
        <p:txBody>
          <a:bodyPr/>
          <a:lstStyle>
            <a:lvl1pPr>
              <a:defRPr>
                <a:solidFill>
                  <a:schemeClr val="tx1">
                    <a:lumMod val="75000"/>
                    <a:lumOff val="25000"/>
                  </a:schemeClr>
                </a:solidFill>
              </a:defRPr>
            </a:lvl1pPr>
          </a:lstStyle>
          <a:p>
            <a:fld id="{1FD38E61-9C24-476F-BFBC-20F0EEEA3A3D}" type="slidenum">
              <a:rPr lang="ru-RU" smtClean="0"/>
              <a:pPr/>
              <a:t>‹#›</a:t>
            </a:fld>
            <a:endParaRPr lang="ru-RU"/>
          </a:p>
        </p:txBody>
      </p:sp>
      <p:sp>
        <p:nvSpPr>
          <p:cNvPr id="5" name="Текст 4">
            <a:extLst>
              <a:ext uri="{FF2B5EF4-FFF2-40B4-BE49-F238E27FC236}">
                <a16:creationId xmlns:a16="http://schemas.microsoft.com/office/drawing/2014/main" id="{14D15C5A-2BF4-4BA8-B542-593029D1F249}"/>
              </a:ext>
            </a:extLst>
          </p:cNvPr>
          <p:cNvSpPr>
            <a:spLocks noGrp="1"/>
          </p:cNvSpPr>
          <p:nvPr>
            <p:ph type="body" sz="quarter" idx="13"/>
          </p:nvPr>
        </p:nvSpPr>
        <p:spPr>
          <a:xfrm>
            <a:off x="5519737" y="1268413"/>
            <a:ext cx="6454775" cy="5045075"/>
          </a:xfrm>
        </p:spPr>
        <p:txBody>
          <a:bodyPr/>
          <a:lstStyle>
            <a:lvl1pPr marL="0" indent="0">
              <a:buNone/>
              <a:defRPr>
                <a:solidFill>
                  <a:schemeClr val="tx1">
                    <a:lumMod val="75000"/>
                    <a:lumOff val="25000"/>
                  </a:schemeClr>
                </a:solidFill>
              </a:defRPr>
            </a:lvl1pPr>
            <a:lvl2pPr marL="457200" indent="0">
              <a:buNone/>
              <a:defRPr>
                <a:solidFill>
                  <a:schemeClr val="tx1">
                    <a:lumMod val="75000"/>
                    <a:lumOff val="25000"/>
                  </a:schemeClr>
                </a:solidFill>
              </a:defRPr>
            </a:lvl2pPr>
            <a:lvl3pPr marL="914400" indent="0">
              <a:buNone/>
              <a:defRPr>
                <a:solidFill>
                  <a:schemeClr val="tx1">
                    <a:lumMod val="75000"/>
                    <a:lumOff val="25000"/>
                  </a:schemeClr>
                </a:solidFill>
              </a:defRPr>
            </a:lvl3pPr>
            <a:lvl4pPr marL="1371600" indent="0">
              <a:buNone/>
              <a:defRPr>
                <a:solidFill>
                  <a:schemeClr val="tx1">
                    <a:lumMod val="75000"/>
                    <a:lumOff val="25000"/>
                  </a:schemeClr>
                </a:solidFill>
              </a:defRPr>
            </a:lvl4pPr>
            <a:lvl5pPr marL="1828800" indent="0">
              <a:buNone/>
              <a:defRPr>
                <a:solidFill>
                  <a:schemeClr val="tx1">
                    <a:lumMod val="75000"/>
                    <a:lumOff val="25000"/>
                  </a:schemeClr>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4014087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791CE2-49E5-4E09-B668-6FE4BBF5A832}"/>
              </a:ext>
            </a:extLst>
          </p:cNvPr>
          <p:cNvSpPr>
            <a:spLocks noGrp="1"/>
          </p:cNvSpPr>
          <p:nvPr>
            <p:ph type="title" hasCustomPrompt="1"/>
          </p:nvPr>
        </p:nvSpPr>
        <p:spPr>
          <a:xfrm>
            <a:off x="228600" y="165100"/>
            <a:ext cx="10258425" cy="819150"/>
          </a:xfrm>
        </p:spPr>
        <p:txBody>
          <a:bodyPr/>
          <a:lstStyle>
            <a:lvl1pPr>
              <a:defRPr/>
            </a:lvl1pPr>
          </a:lstStyle>
          <a:p>
            <a:r>
              <a:rPr lang="ru-RU" dirty="0"/>
              <a:t>Образец заголовка</a:t>
            </a:r>
            <a:r>
              <a:rPr lang="en-US" dirty="0"/>
              <a:t> </a:t>
            </a:r>
            <a:r>
              <a:rPr lang="ru-RU" dirty="0"/>
              <a:t>(32 </a:t>
            </a:r>
            <a:r>
              <a:rPr lang="en-US" dirty="0" err="1"/>
              <a:t>pt</a:t>
            </a:r>
            <a:r>
              <a:rPr lang="ru-RU" dirty="0"/>
              <a:t>)</a:t>
            </a:r>
          </a:p>
        </p:txBody>
      </p:sp>
      <p:sp>
        <p:nvSpPr>
          <p:cNvPr id="3" name="Текст 2">
            <a:extLst>
              <a:ext uri="{FF2B5EF4-FFF2-40B4-BE49-F238E27FC236}">
                <a16:creationId xmlns:a16="http://schemas.microsoft.com/office/drawing/2014/main" id="{FF09F54D-5ADC-49C9-9C83-305A12875583}"/>
              </a:ext>
            </a:extLst>
          </p:cNvPr>
          <p:cNvSpPr>
            <a:spLocks noGrp="1"/>
          </p:cNvSpPr>
          <p:nvPr>
            <p:ph type="body" idx="1"/>
          </p:nvPr>
        </p:nvSpPr>
        <p:spPr>
          <a:xfrm>
            <a:off x="228601" y="984250"/>
            <a:ext cx="5143500" cy="823912"/>
          </a:xfrm>
        </p:spPr>
        <p:txBody>
          <a:bodyPr anchor="b"/>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4" name="Объект 3">
            <a:extLst>
              <a:ext uri="{FF2B5EF4-FFF2-40B4-BE49-F238E27FC236}">
                <a16:creationId xmlns:a16="http://schemas.microsoft.com/office/drawing/2014/main" id="{27E6009E-582C-474A-B850-8E10A50FF61E}"/>
              </a:ext>
            </a:extLst>
          </p:cNvPr>
          <p:cNvSpPr>
            <a:spLocks noGrp="1"/>
          </p:cNvSpPr>
          <p:nvPr>
            <p:ph sz="half" idx="2"/>
          </p:nvPr>
        </p:nvSpPr>
        <p:spPr>
          <a:xfrm>
            <a:off x="228601" y="1990724"/>
            <a:ext cx="5143500" cy="43227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72B6B8C-2723-47AE-80BF-06931B025E3B}"/>
              </a:ext>
            </a:extLst>
          </p:cNvPr>
          <p:cNvSpPr>
            <a:spLocks noGrp="1"/>
          </p:cNvSpPr>
          <p:nvPr>
            <p:ph type="body" sz="quarter" idx="3"/>
          </p:nvPr>
        </p:nvSpPr>
        <p:spPr>
          <a:xfrm>
            <a:off x="5519737" y="984250"/>
            <a:ext cx="6454775" cy="823912"/>
          </a:xfrm>
        </p:spPr>
        <p:txBody>
          <a:bodyPr anchor="b"/>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70EA771-1BC1-4EED-BBC5-C7E3CA7BDD24}"/>
              </a:ext>
            </a:extLst>
          </p:cNvPr>
          <p:cNvSpPr>
            <a:spLocks noGrp="1"/>
          </p:cNvSpPr>
          <p:nvPr>
            <p:ph sz="quarter" idx="4"/>
          </p:nvPr>
        </p:nvSpPr>
        <p:spPr>
          <a:xfrm>
            <a:off x="5519737" y="2000250"/>
            <a:ext cx="6454775" cy="4313238"/>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9" name="Номер слайда 8">
            <a:extLst>
              <a:ext uri="{FF2B5EF4-FFF2-40B4-BE49-F238E27FC236}">
                <a16:creationId xmlns:a16="http://schemas.microsoft.com/office/drawing/2014/main" id="{55E0A346-6578-4F9E-AB9F-59E260156A33}"/>
              </a:ext>
            </a:extLst>
          </p:cNvPr>
          <p:cNvSpPr>
            <a:spLocks noGrp="1"/>
          </p:cNvSpPr>
          <p:nvPr>
            <p:ph type="sldNum" sz="quarter" idx="12"/>
          </p:nvPr>
        </p:nvSpPr>
        <p:spPr/>
        <p:txBody>
          <a:bodyPr/>
          <a:lstStyle>
            <a:lvl1pPr>
              <a:defRPr>
                <a:solidFill>
                  <a:schemeClr val="tx1">
                    <a:lumMod val="75000"/>
                    <a:lumOff val="25000"/>
                  </a:schemeClr>
                </a:solidFill>
              </a:defRPr>
            </a:lvl1pPr>
          </a:lstStyle>
          <a:p>
            <a:fld id="{1FD38E61-9C24-476F-BFBC-20F0EEEA3A3D}" type="slidenum">
              <a:rPr lang="ru-RU" smtClean="0"/>
              <a:pPr/>
              <a:t>‹#›</a:t>
            </a:fld>
            <a:endParaRPr lang="ru-RU"/>
          </a:p>
        </p:txBody>
      </p:sp>
    </p:spTree>
    <p:extLst>
      <p:ext uri="{BB962C8B-B14F-4D97-AF65-F5344CB8AC3E}">
        <p14:creationId xmlns:p14="http://schemas.microsoft.com/office/powerpoint/2010/main" val="2628090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62407B-6BBD-443A-A3AE-F0277ECE9804}"/>
              </a:ext>
            </a:extLst>
          </p:cNvPr>
          <p:cNvSpPr>
            <a:spLocks noGrp="1"/>
          </p:cNvSpPr>
          <p:nvPr>
            <p:ph type="title"/>
          </p:nvPr>
        </p:nvSpPr>
        <p:spPr>
          <a:xfrm>
            <a:off x="7300940" y="984249"/>
            <a:ext cx="4673574" cy="1165225"/>
          </a:xfrm>
        </p:spPr>
        <p:txBody>
          <a:bodyPr anchor="t"/>
          <a:lstStyle>
            <a:lvl1pPr>
              <a:defRPr sz="3200"/>
            </a:lvl1pPr>
          </a:lstStyle>
          <a:p>
            <a:r>
              <a:rPr lang="ru-RU" dirty="0"/>
              <a:t>Образец заголовка</a:t>
            </a:r>
          </a:p>
        </p:txBody>
      </p:sp>
      <p:sp>
        <p:nvSpPr>
          <p:cNvPr id="3" name="Рисунок 2">
            <a:extLst>
              <a:ext uri="{FF2B5EF4-FFF2-40B4-BE49-F238E27FC236}">
                <a16:creationId xmlns:a16="http://schemas.microsoft.com/office/drawing/2014/main" id="{503C8D6F-5218-4F32-9AF0-ABE98BFD035F}"/>
              </a:ext>
            </a:extLst>
          </p:cNvPr>
          <p:cNvSpPr>
            <a:spLocks noGrp="1"/>
          </p:cNvSpPr>
          <p:nvPr>
            <p:ph type="pic" idx="1"/>
          </p:nvPr>
        </p:nvSpPr>
        <p:spPr>
          <a:xfrm>
            <a:off x="-1" y="0"/>
            <a:ext cx="6819901" cy="6858000"/>
          </a:xfrm>
        </p:spPr>
        <p:txBody>
          <a:bodyPr>
            <a:normAutofit/>
          </a:bodyPr>
          <a:lstStyle>
            <a:lvl1pPr marL="0" indent="0">
              <a:buNone/>
              <a:defRPr sz="20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DF1BB841-153F-4BEB-A824-51D3EB0A5B95}"/>
              </a:ext>
            </a:extLst>
          </p:cNvPr>
          <p:cNvSpPr>
            <a:spLocks noGrp="1"/>
          </p:cNvSpPr>
          <p:nvPr>
            <p:ph type="body" sz="half" idx="2"/>
          </p:nvPr>
        </p:nvSpPr>
        <p:spPr>
          <a:xfrm>
            <a:off x="7296150" y="2149475"/>
            <a:ext cx="4678363" cy="3811588"/>
          </a:xfrm>
        </p:spPr>
        <p:txBody>
          <a:bodyPr>
            <a:normAutofit/>
          </a:bodyPr>
          <a:lstStyle>
            <a:lvl1pPr marL="0" indent="0">
              <a:buNone/>
              <a:defRPr sz="18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7" name="Номер слайда 6">
            <a:extLst>
              <a:ext uri="{FF2B5EF4-FFF2-40B4-BE49-F238E27FC236}">
                <a16:creationId xmlns:a16="http://schemas.microsoft.com/office/drawing/2014/main" id="{143B5B0F-21C4-4702-9B0A-11D6FD279870}"/>
              </a:ext>
            </a:extLst>
          </p:cNvPr>
          <p:cNvSpPr>
            <a:spLocks noGrp="1"/>
          </p:cNvSpPr>
          <p:nvPr>
            <p:ph type="sldNum" sz="quarter" idx="12"/>
          </p:nvPr>
        </p:nvSpPr>
        <p:spPr/>
        <p:txBody>
          <a:bodyPr/>
          <a:lstStyle>
            <a:lvl1pPr>
              <a:defRPr>
                <a:solidFill>
                  <a:schemeClr val="tx1">
                    <a:lumMod val="75000"/>
                    <a:lumOff val="25000"/>
                  </a:schemeClr>
                </a:solidFill>
              </a:defRPr>
            </a:lvl1pPr>
          </a:lstStyle>
          <a:p>
            <a:fld id="{1FD38E61-9C24-476F-BFBC-20F0EEEA3A3D}" type="slidenum">
              <a:rPr lang="ru-RU" smtClean="0"/>
              <a:pPr/>
              <a:t>‹#›</a:t>
            </a:fld>
            <a:endParaRPr lang="ru-RU"/>
          </a:p>
        </p:txBody>
      </p:sp>
    </p:spTree>
    <p:extLst>
      <p:ext uri="{BB962C8B-B14F-4D97-AF65-F5344CB8AC3E}">
        <p14:creationId xmlns:p14="http://schemas.microsoft.com/office/powerpoint/2010/main" val="2982788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Рисунок с подписью">
    <p:spTree>
      <p:nvGrpSpPr>
        <p:cNvPr id="1" name=""/>
        <p:cNvGrpSpPr/>
        <p:nvPr/>
      </p:nvGrpSpPr>
      <p:grpSpPr>
        <a:xfrm>
          <a:off x="0" y="0"/>
          <a:ext cx="0" cy="0"/>
          <a:chOff x="0" y="0"/>
          <a:chExt cx="0" cy="0"/>
        </a:xfrm>
      </p:grpSpPr>
      <p:sp>
        <p:nvSpPr>
          <p:cNvPr id="7" name="Номер слайда 6">
            <a:extLst>
              <a:ext uri="{FF2B5EF4-FFF2-40B4-BE49-F238E27FC236}">
                <a16:creationId xmlns:a16="http://schemas.microsoft.com/office/drawing/2014/main" id="{143B5B0F-21C4-4702-9B0A-11D6FD279870}"/>
              </a:ext>
            </a:extLst>
          </p:cNvPr>
          <p:cNvSpPr>
            <a:spLocks noGrp="1"/>
          </p:cNvSpPr>
          <p:nvPr>
            <p:ph type="sldNum" sz="quarter" idx="12"/>
          </p:nvPr>
        </p:nvSpPr>
        <p:spPr/>
        <p:txBody>
          <a:bodyPr/>
          <a:lstStyle>
            <a:lvl1pPr>
              <a:defRPr>
                <a:solidFill>
                  <a:schemeClr val="tx1">
                    <a:lumMod val="75000"/>
                    <a:lumOff val="25000"/>
                  </a:schemeClr>
                </a:solidFill>
              </a:defRPr>
            </a:lvl1pPr>
          </a:lstStyle>
          <a:p>
            <a:fld id="{1FD38E61-9C24-476F-BFBC-20F0EEEA3A3D}" type="slidenum">
              <a:rPr lang="ru-RU" smtClean="0"/>
              <a:pPr/>
              <a:t>‹#›</a:t>
            </a:fld>
            <a:endParaRPr lang="ru-RU"/>
          </a:p>
        </p:txBody>
      </p:sp>
    </p:spTree>
    <p:extLst>
      <p:ext uri="{BB962C8B-B14F-4D97-AF65-F5344CB8AC3E}">
        <p14:creationId xmlns:p14="http://schemas.microsoft.com/office/powerpoint/2010/main" val="2798033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Рисунок с подписью">
    <p:spTree>
      <p:nvGrpSpPr>
        <p:cNvPr id="1" name=""/>
        <p:cNvGrpSpPr/>
        <p:nvPr/>
      </p:nvGrpSpPr>
      <p:grpSpPr>
        <a:xfrm>
          <a:off x="0" y="0"/>
          <a:ext cx="0" cy="0"/>
          <a:chOff x="0" y="0"/>
          <a:chExt cx="0" cy="0"/>
        </a:xfrm>
      </p:grpSpPr>
      <p:sp>
        <p:nvSpPr>
          <p:cNvPr id="7" name="Номер слайда 6">
            <a:extLst>
              <a:ext uri="{FF2B5EF4-FFF2-40B4-BE49-F238E27FC236}">
                <a16:creationId xmlns:a16="http://schemas.microsoft.com/office/drawing/2014/main" id="{143B5B0F-21C4-4702-9B0A-11D6FD279870}"/>
              </a:ext>
            </a:extLst>
          </p:cNvPr>
          <p:cNvSpPr>
            <a:spLocks noGrp="1"/>
          </p:cNvSpPr>
          <p:nvPr>
            <p:ph type="sldNum" sz="quarter" idx="12"/>
          </p:nvPr>
        </p:nvSpPr>
        <p:spPr/>
        <p:txBody>
          <a:bodyPr/>
          <a:lstStyle>
            <a:lvl1pPr>
              <a:defRPr>
                <a:solidFill>
                  <a:schemeClr val="tx1">
                    <a:lumMod val="75000"/>
                    <a:lumOff val="25000"/>
                  </a:schemeClr>
                </a:solidFill>
              </a:defRPr>
            </a:lvl1pPr>
          </a:lstStyle>
          <a:p>
            <a:fld id="{1FD38E61-9C24-476F-BFBC-20F0EEEA3A3D}" type="slidenum">
              <a:rPr lang="ru-RU" smtClean="0"/>
              <a:pPr/>
              <a:t>‹#›</a:t>
            </a:fld>
            <a:endParaRPr lang="ru-RU"/>
          </a:p>
        </p:txBody>
      </p:sp>
      <p:sp>
        <p:nvSpPr>
          <p:cNvPr id="6" name="Заголовок 1">
            <a:extLst>
              <a:ext uri="{FF2B5EF4-FFF2-40B4-BE49-F238E27FC236}">
                <a16:creationId xmlns:a16="http://schemas.microsoft.com/office/drawing/2014/main" id="{C26CDCCB-318B-47A4-B680-64479CBA23D3}"/>
              </a:ext>
            </a:extLst>
          </p:cNvPr>
          <p:cNvSpPr>
            <a:spLocks noGrp="1"/>
          </p:cNvSpPr>
          <p:nvPr>
            <p:ph type="title" hasCustomPrompt="1"/>
          </p:nvPr>
        </p:nvSpPr>
        <p:spPr>
          <a:xfrm>
            <a:off x="228600" y="165100"/>
            <a:ext cx="10258425" cy="554566"/>
          </a:xfrm>
        </p:spPr>
        <p:txBody>
          <a:bodyPr/>
          <a:lstStyle>
            <a:lvl1pPr>
              <a:defRPr/>
            </a:lvl1pPr>
          </a:lstStyle>
          <a:p>
            <a:r>
              <a:rPr lang="ru-RU" dirty="0"/>
              <a:t>Образец заголовка</a:t>
            </a:r>
            <a:r>
              <a:rPr lang="en-US" dirty="0"/>
              <a:t> </a:t>
            </a:r>
            <a:r>
              <a:rPr lang="ru-RU" dirty="0"/>
              <a:t>(32 </a:t>
            </a:r>
            <a:r>
              <a:rPr lang="en-US" dirty="0" err="1"/>
              <a:t>pt</a:t>
            </a:r>
            <a:r>
              <a:rPr lang="ru-RU" dirty="0"/>
              <a:t>)</a:t>
            </a:r>
          </a:p>
        </p:txBody>
      </p:sp>
      <p:sp>
        <p:nvSpPr>
          <p:cNvPr id="8" name="Текст 4">
            <a:extLst>
              <a:ext uri="{FF2B5EF4-FFF2-40B4-BE49-F238E27FC236}">
                <a16:creationId xmlns:a16="http://schemas.microsoft.com/office/drawing/2014/main" id="{7A7464D1-3A79-4B37-BA26-FF713B9AA57E}"/>
              </a:ext>
            </a:extLst>
          </p:cNvPr>
          <p:cNvSpPr>
            <a:spLocks noGrp="1"/>
          </p:cNvSpPr>
          <p:nvPr>
            <p:ph type="body" sz="quarter" idx="3"/>
          </p:nvPr>
        </p:nvSpPr>
        <p:spPr>
          <a:xfrm>
            <a:off x="7541622" y="984250"/>
            <a:ext cx="4421778" cy="823912"/>
          </a:xfrm>
        </p:spPr>
        <p:txBody>
          <a:bodyPr anchor="b"/>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dirty="0"/>
              <a:t>Образец текста</a:t>
            </a:r>
          </a:p>
        </p:txBody>
      </p:sp>
      <p:sp>
        <p:nvSpPr>
          <p:cNvPr id="9" name="Текст 3">
            <a:extLst>
              <a:ext uri="{FF2B5EF4-FFF2-40B4-BE49-F238E27FC236}">
                <a16:creationId xmlns:a16="http://schemas.microsoft.com/office/drawing/2014/main" id="{04018A3F-0599-4B69-9B2B-FA99A7A98633}"/>
              </a:ext>
            </a:extLst>
          </p:cNvPr>
          <p:cNvSpPr>
            <a:spLocks noGrp="1"/>
          </p:cNvSpPr>
          <p:nvPr>
            <p:ph type="body" sz="half" idx="2"/>
          </p:nvPr>
        </p:nvSpPr>
        <p:spPr>
          <a:xfrm>
            <a:off x="7541622" y="2149474"/>
            <a:ext cx="4421778" cy="4164013"/>
          </a:xfrm>
        </p:spPr>
        <p:txBody>
          <a:bodyPr>
            <a:normAutofit/>
          </a:bodyPr>
          <a:lstStyle>
            <a:lvl1pPr marL="0" indent="0">
              <a:buNone/>
              <a:defRPr sz="1800">
                <a:solidFill>
                  <a:schemeClr val="tx1">
                    <a:lumMod val="75000"/>
                    <a:lumOff val="2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Tree>
    <p:extLst>
      <p:ext uri="{BB962C8B-B14F-4D97-AF65-F5344CB8AC3E}">
        <p14:creationId xmlns:p14="http://schemas.microsoft.com/office/powerpoint/2010/main" val="744119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Вертикальный заголовок и текст">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175DD82A-3CD2-4710-8A50-CDE10716E6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5461"/>
          </a:xfrm>
          <a:prstGeom prst="rect">
            <a:avLst/>
          </a:prstGeom>
        </p:spPr>
      </p:pic>
      <p:sp>
        <p:nvSpPr>
          <p:cNvPr id="7" name="Прямоугольник 6">
            <a:extLst>
              <a:ext uri="{FF2B5EF4-FFF2-40B4-BE49-F238E27FC236}">
                <a16:creationId xmlns:a16="http://schemas.microsoft.com/office/drawing/2014/main" id="{A085A5EE-99E6-428A-AD39-E0EF175641CE}"/>
              </a:ext>
            </a:extLst>
          </p:cNvPr>
          <p:cNvSpPr/>
          <p:nvPr userDrawn="1"/>
        </p:nvSpPr>
        <p:spPr>
          <a:xfrm>
            <a:off x="0" y="2019301"/>
            <a:ext cx="12192000" cy="34480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Группа 7">
            <a:extLst>
              <a:ext uri="{FF2B5EF4-FFF2-40B4-BE49-F238E27FC236}">
                <a16:creationId xmlns:a16="http://schemas.microsoft.com/office/drawing/2014/main" id="{D82081E8-5FB6-4BC1-9B97-161ABBCD8CB1}"/>
              </a:ext>
            </a:extLst>
          </p:cNvPr>
          <p:cNvGrpSpPr/>
          <p:nvPr userDrawn="1"/>
        </p:nvGrpSpPr>
        <p:grpSpPr>
          <a:xfrm>
            <a:off x="12321661" y="3684546"/>
            <a:ext cx="1103562" cy="2445980"/>
            <a:chOff x="12321661" y="3684546"/>
            <a:chExt cx="1103562" cy="2445980"/>
          </a:xfrm>
        </p:grpSpPr>
        <p:sp>
          <p:nvSpPr>
            <p:cNvPr id="9" name="Прямоугольник: скругленные противолежащие углы 8">
              <a:extLst>
                <a:ext uri="{FF2B5EF4-FFF2-40B4-BE49-F238E27FC236}">
                  <a16:creationId xmlns:a16="http://schemas.microsoft.com/office/drawing/2014/main" id="{5FF42451-9C38-4570-BB2C-81C8745D2B84}"/>
                </a:ext>
              </a:extLst>
            </p:cNvPr>
            <p:cNvSpPr/>
            <p:nvPr userDrawn="1"/>
          </p:nvSpPr>
          <p:spPr>
            <a:xfrm>
              <a:off x="12321661" y="3684546"/>
              <a:ext cx="1103562" cy="422429"/>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ECCD4101-5E30-4760-B1C2-C75578F5F937}"/>
                </a:ext>
              </a:extLst>
            </p:cNvPr>
            <p:cNvSpPr txBox="1"/>
            <p:nvPr userDrawn="1"/>
          </p:nvSpPr>
          <p:spPr>
            <a:xfrm>
              <a:off x="12427169" y="3780118"/>
              <a:ext cx="893178" cy="215444"/>
            </a:xfrm>
            <a:prstGeom prst="rect">
              <a:avLst/>
            </a:prstGeom>
            <a:noFill/>
          </p:spPr>
          <p:txBody>
            <a:bodyPr wrap="square" rtlCol="0">
              <a:spAutoFit/>
            </a:bodyPr>
            <a:lstStyle/>
            <a:p>
              <a:pPr algn="ctr"/>
              <a:r>
                <a:rPr lang="ru-RU" sz="800">
                  <a:solidFill>
                    <a:schemeClr val="bg1"/>
                  </a:solidFill>
                </a:rPr>
                <a:t>175 / 44 / 34</a:t>
              </a:r>
              <a:endParaRPr lang="ru-RU" sz="800" b="1">
                <a:solidFill>
                  <a:schemeClr val="bg1"/>
                </a:solidFill>
              </a:endParaRPr>
            </a:p>
          </p:txBody>
        </p:sp>
        <p:sp>
          <p:nvSpPr>
            <p:cNvPr id="11" name="Прямоугольник: скругленные противолежащие углы 10">
              <a:extLst>
                <a:ext uri="{FF2B5EF4-FFF2-40B4-BE49-F238E27FC236}">
                  <a16:creationId xmlns:a16="http://schemas.microsoft.com/office/drawing/2014/main" id="{DA5FAF91-3998-4AD3-A222-7BB6383C2C54}"/>
                </a:ext>
              </a:extLst>
            </p:cNvPr>
            <p:cNvSpPr/>
            <p:nvPr userDrawn="1"/>
          </p:nvSpPr>
          <p:spPr>
            <a:xfrm>
              <a:off x="12321661" y="4195929"/>
              <a:ext cx="1103562" cy="422429"/>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BB38BC6B-7D75-4527-B7B0-759083C8F3B7}"/>
                </a:ext>
              </a:extLst>
            </p:cNvPr>
            <p:cNvSpPr txBox="1"/>
            <p:nvPr userDrawn="1"/>
          </p:nvSpPr>
          <p:spPr>
            <a:xfrm>
              <a:off x="12427169" y="4291501"/>
              <a:ext cx="893178" cy="215444"/>
            </a:xfrm>
            <a:prstGeom prst="rect">
              <a:avLst/>
            </a:prstGeom>
            <a:noFill/>
          </p:spPr>
          <p:txBody>
            <a:bodyPr wrap="square" rtlCol="0">
              <a:spAutoFit/>
            </a:bodyPr>
            <a:lstStyle/>
            <a:p>
              <a:pPr algn="ctr"/>
              <a:r>
                <a:rPr lang="ru-RU" sz="800">
                  <a:solidFill>
                    <a:schemeClr val="bg1"/>
                  </a:solidFill>
                </a:rPr>
                <a:t>200 / 160 / 110</a:t>
              </a:r>
              <a:endParaRPr lang="ru-RU" sz="800" b="1">
                <a:solidFill>
                  <a:schemeClr val="bg1"/>
                </a:solidFill>
              </a:endParaRPr>
            </a:p>
          </p:txBody>
        </p:sp>
        <p:sp>
          <p:nvSpPr>
            <p:cNvPr id="13" name="Прямоугольник: скругленные противолежащие углы 12">
              <a:extLst>
                <a:ext uri="{FF2B5EF4-FFF2-40B4-BE49-F238E27FC236}">
                  <a16:creationId xmlns:a16="http://schemas.microsoft.com/office/drawing/2014/main" id="{7687D65C-28A3-4D9E-9F8C-537C6811FD9D}"/>
                </a:ext>
              </a:extLst>
            </p:cNvPr>
            <p:cNvSpPr/>
            <p:nvPr userDrawn="1"/>
          </p:nvSpPr>
          <p:spPr>
            <a:xfrm>
              <a:off x="12321661" y="4699985"/>
              <a:ext cx="1103562" cy="422429"/>
            </a:xfrm>
            <a:prstGeom prst="round2Diag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a:extLst>
                <a:ext uri="{FF2B5EF4-FFF2-40B4-BE49-F238E27FC236}">
                  <a16:creationId xmlns:a16="http://schemas.microsoft.com/office/drawing/2014/main" id="{5FABCB55-F639-4E4F-898F-9A24FC737890}"/>
                </a:ext>
              </a:extLst>
            </p:cNvPr>
            <p:cNvSpPr txBox="1"/>
            <p:nvPr userDrawn="1"/>
          </p:nvSpPr>
          <p:spPr>
            <a:xfrm>
              <a:off x="12427169" y="4795557"/>
              <a:ext cx="893178" cy="215444"/>
            </a:xfrm>
            <a:prstGeom prst="rect">
              <a:avLst/>
            </a:prstGeom>
            <a:noFill/>
          </p:spPr>
          <p:txBody>
            <a:bodyPr wrap="square" rtlCol="0">
              <a:spAutoFit/>
            </a:bodyPr>
            <a:lstStyle/>
            <a:p>
              <a:pPr algn="ctr"/>
              <a:r>
                <a:rPr lang="ru-RU" sz="800">
                  <a:solidFill>
                    <a:schemeClr val="bg1"/>
                  </a:solidFill>
                </a:rPr>
                <a:t>201 / 188 / 171</a:t>
              </a:r>
              <a:endParaRPr lang="ru-RU" sz="800" b="1">
                <a:solidFill>
                  <a:schemeClr val="bg1"/>
                </a:solidFill>
              </a:endParaRPr>
            </a:p>
          </p:txBody>
        </p:sp>
        <p:sp>
          <p:nvSpPr>
            <p:cNvPr id="15" name="Прямоугольник: скругленные противолежащие углы 14">
              <a:extLst>
                <a:ext uri="{FF2B5EF4-FFF2-40B4-BE49-F238E27FC236}">
                  <a16:creationId xmlns:a16="http://schemas.microsoft.com/office/drawing/2014/main" id="{66595322-CC12-44A6-B026-357D239D72A5}"/>
                </a:ext>
              </a:extLst>
            </p:cNvPr>
            <p:cNvSpPr/>
            <p:nvPr userDrawn="1"/>
          </p:nvSpPr>
          <p:spPr>
            <a:xfrm>
              <a:off x="12321661" y="5204041"/>
              <a:ext cx="1103562" cy="422429"/>
            </a:xfrm>
            <a:prstGeom prst="round2Diag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51050B67-BB92-4FA6-BD44-E24E01034DE1}"/>
                </a:ext>
              </a:extLst>
            </p:cNvPr>
            <p:cNvSpPr txBox="1"/>
            <p:nvPr userDrawn="1"/>
          </p:nvSpPr>
          <p:spPr>
            <a:xfrm>
              <a:off x="12427169" y="5299613"/>
              <a:ext cx="893178" cy="215444"/>
            </a:xfrm>
            <a:prstGeom prst="rect">
              <a:avLst/>
            </a:prstGeom>
            <a:noFill/>
          </p:spPr>
          <p:txBody>
            <a:bodyPr wrap="square" rtlCol="0">
              <a:spAutoFit/>
            </a:bodyPr>
            <a:lstStyle/>
            <a:p>
              <a:pPr algn="ctr"/>
              <a:r>
                <a:rPr lang="ru-RU" sz="800">
                  <a:solidFill>
                    <a:schemeClr val="bg1"/>
                  </a:solidFill>
                </a:rPr>
                <a:t>135 / 135 / 135</a:t>
              </a:r>
              <a:endParaRPr lang="ru-RU" sz="800" b="1">
                <a:solidFill>
                  <a:schemeClr val="bg1"/>
                </a:solidFill>
              </a:endParaRPr>
            </a:p>
          </p:txBody>
        </p:sp>
        <p:sp>
          <p:nvSpPr>
            <p:cNvPr id="17" name="Прямоугольник: скругленные противолежащие углы 16">
              <a:extLst>
                <a:ext uri="{FF2B5EF4-FFF2-40B4-BE49-F238E27FC236}">
                  <a16:creationId xmlns:a16="http://schemas.microsoft.com/office/drawing/2014/main" id="{8507C5BE-4D8C-4FD9-BE86-CF2F3605F46A}"/>
                </a:ext>
              </a:extLst>
            </p:cNvPr>
            <p:cNvSpPr/>
            <p:nvPr userDrawn="1"/>
          </p:nvSpPr>
          <p:spPr>
            <a:xfrm>
              <a:off x="12321661" y="5708097"/>
              <a:ext cx="1103562" cy="422429"/>
            </a:xfrm>
            <a:prstGeom prst="round2DiagRect">
              <a:avLst/>
            </a:prstGeom>
            <a:solidFill>
              <a:srgbClr val="8D3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95819EEF-526C-472B-A95C-82B3A18F8594}"/>
                </a:ext>
              </a:extLst>
            </p:cNvPr>
            <p:cNvSpPr txBox="1"/>
            <p:nvPr userDrawn="1"/>
          </p:nvSpPr>
          <p:spPr>
            <a:xfrm>
              <a:off x="12427169" y="5803669"/>
              <a:ext cx="893178" cy="215444"/>
            </a:xfrm>
            <a:prstGeom prst="rect">
              <a:avLst/>
            </a:prstGeom>
            <a:noFill/>
          </p:spPr>
          <p:txBody>
            <a:bodyPr wrap="square" rtlCol="0">
              <a:spAutoFit/>
            </a:bodyPr>
            <a:lstStyle/>
            <a:p>
              <a:pPr algn="ctr"/>
              <a:r>
                <a:rPr lang="ru-RU" sz="800">
                  <a:solidFill>
                    <a:schemeClr val="bg1"/>
                  </a:solidFill>
                </a:rPr>
                <a:t>141 / 63 / 63</a:t>
              </a:r>
              <a:endParaRPr lang="ru-RU" sz="800" b="1">
                <a:solidFill>
                  <a:schemeClr val="bg1"/>
                </a:solidFill>
              </a:endParaRPr>
            </a:p>
          </p:txBody>
        </p:sp>
      </p:grpSp>
      <p:sp>
        <p:nvSpPr>
          <p:cNvPr id="22" name="Текст 21">
            <a:extLst>
              <a:ext uri="{FF2B5EF4-FFF2-40B4-BE49-F238E27FC236}">
                <a16:creationId xmlns:a16="http://schemas.microsoft.com/office/drawing/2014/main" id="{DD5C995D-87B4-49F3-955D-B6DB929819E9}"/>
              </a:ext>
            </a:extLst>
          </p:cNvPr>
          <p:cNvSpPr>
            <a:spLocks noGrp="1"/>
          </p:cNvSpPr>
          <p:nvPr>
            <p:ph type="body" sz="quarter" idx="13" hasCustomPrompt="1"/>
          </p:nvPr>
        </p:nvSpPr>
        <p:spPr>
          <a:xfrm>
            <a:off x="658813" y="2876550"/>
            <a:ext cx="4713287" cy="1543050"/>
          </a:xfrm>
        </p:spPr>
        <p:txBody>
          <a:bodyPr>
            <a:normAutofit/>
          </a:bodyPr>
          <a:lstStyle>
            <a:lvl1pPr marL="0" indent="0">
              <a:lnSpc>
                <a:spcPct val="100000"/>
              </a:lnSpc>
              <a:buNone/>
              <a:defRPr sz="1800" b="1">
                <a:solidFill>
                  <a:schemeClr val="tx1">
                    <a:lumMod val="75000"/>
                    <a:lumOff val="25000"/>
                  </a:schemeClr>
                </a:solidFill>
              </a:defRPr>
            </a:lvl1pPr>
            <a:lvl2pPr marL="457200" indent="0">
              <a:buNone/>
              <a:defRPr>
                <a:solidFill>
                  <a:schemeClr val="tx1">
                    <a:lumMod val="75000"/>
                    <a:lumOff val="25000"/>
                  </a:schemeClr>
                </a:solidFill>
              </a:defRPr>
            </a:lvl2pPr>
            <a:lvl3pPr marL="914400" indent="0">
              <a:buNone/>
              <a:defRPr>
                <a:solidFill>
                  <a:schemeClr val="tx1">
                    <a:lumMod val="75000"/>
                    <a:lumOff val="25000"/>
                  </a:schemeClr>
                </a:solidFill>
              </a:defRPr>
            </a:lvl3pPr>
            <a:lvl4pPr marL="1371600" indent="0">
              <a:buNone/>
              <a:defRPr>
                <a:solidFill>
                  <a:schemeClr val="tx1">
                    <a:lumMod val="75000"/>
                    <a:lumOff val="25000"/>
                  </a:schemeClr>
                </a:solidFill>
              </a:defRPr>
            </a:lvl4pPr>
            <a:lvl5pPr marL="1828800" indent="0">
              <a:buNone/>
              <a:defRPr>
                <a:solidFill>
                  <a:schemeClr val="tx1">
                    <a:lumMod val="75000"/>
                    <a:lumOff val="25000"/>
                  </a:schemeClr>
                </a:solidFill>
              </a:defRPr>
            </a:lvl5pPr>
          </a:lstStyle>
          <a:p>
            <a:pPr lvl="0"/>
            <a:r>
              <a:rPr lang="ru-RU"/>
              <a:t>Санкт-Петербург, </a:t>
            </a:r>
            <a:br>
              <a:rPr lang="ru-RU"/>
            </a:br>
            <a:r>
              <a:rPr lang="ru-RU"/>
              <a:t>Университетская наб., 7-9</a:t>
            </a:r>
            <a:br>
              <a:rPr lang="ru-RU"/>
            </a:br>
            <a:r>
              <a:rPr lang="ru-RU"/>
              <a:t>тел.: +7 (812) 360 60 30</a:t>
            </a:r>
            <a:endParaRPr lang="en-US"/>
          </a:p>
        </p:txBody>
      </p:sp>
      <p:sp>
        <p:nvSpPr>
          <p:cNvPr id="23" name="Заголовок 1">
            <a:extLst>
              <a:ext uri="{FF2B5EF4-FFF2-40B4-BE49-F238E27FC236}">
                <a16:creationId xmlns:a16="http://schemas.microsoft.com/office/drawing/2014/main" id="{8A97BB59-DCB0-4174-BA89-80ED4B78CB7E}"/>
              </a:ext>
            </a:extLst>
          </p:cNvPr>
          <p:cNvSpPr txBox="1">
            <a:spLocks/>
          </p:cNvSpPr>
          <p:nvPr userDrawn="1"/>
        </p:nvSpPr>
        <p:spPr>
          <a:xfrm>
            <a:off x="10050463" y="5929313"/>
            <a:ext cx="1665287" cy="50165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1" kern="1200">
                <a:solidFill>
                  <a:schemeClr val="accent1"/>
                </a:solidFill>
                <a:latin typeface="Segoe UI" panose="020B0502040204020203" pitchFamily="34" charset="0"/>
                <a:ea typeface="+mj-ea"/>
                <a:cs typeface="Segoe UI" panose="020B0502040204020203" pitchFamily="34" charset="0"/>
              </a:defRPr>
            </a:lvl1pPr>
          </a:lstStyle>
          <a:p>
            <a:pPr lvl="0"/>
            <a:r>
              <a:rPr lang="en-US">
                <a:solidFill>
                  <a:schemeClr val="bg1"/>
                </a:solidFill>
              </a:rPr>
              <a:t>spbu.ru</a:t>
            </a:r>
            <a:endParaRPr lang="ru-RU">
              <a:solidFill>
                <a:schemeClr val="bg1"/>
              </a:solidFill>
            </a:endParaRPr>
          </a:p>
        </p:txBody>
      </p:sp>
      <p:pic>
        <p:nvPicPr>
          <p:cNvPr id="24" name="Рисунок 23">
            <a:extLst>
              <a:ext uri="{FF2B5EF4-FFF2-40B4-BE49-F238E27FC236}">
                <a16:creationId xmlns:a16="http://schemas.microsoft.com/office/drawing/2014/main" id="{F70FF6BF-7C1A-423C-AD50-47016508D6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0054" y="675239"/>
            <a:ext cx="2568644" cy="789472"/>
          </a:xfrm>
          <a:prstGeom prst="rect">
            <a:avLst/>
          </a:prstGeom>
        </p:spPr>
      </p:pic>
      <p:sp>
        <p:nvSpPr>
          <p:cNvPr id="25" name="Текст 21">
            <a:extLst>
              <a:ext uri="{FF2B5EF4-FFF2-40B4-BE49-F238E27FC236}">
                <a16:creationId xmlns:a16="http://schemas.microsoft.com/office/drawing/2014/main" id="{8E9F1B28-F2B0-4A9D-B1A3-A93A3C460D2A}"/>
              </a:ext>
            </a:extLst>
          </p:cNvPr>
          <p:cNvSpPr>
            <a:spLocks noGrp="1"/>
          </p:cNvSpPr>
          <p:nvPr>
            <p:ph type="body" sz="quarter" idx="14" hasCustomPrompt="1"/>
          </p:nvPr>
        </p:nvSpPr>
        <p:spPr>
          <a:xfrm>
            <a:off x="5519936" y="2876550"/>
            <a:ext cx="4713287" cy="1543050"/>
          </a:xfrm>
        </p:spPr>
        <p:txBody>
          <a:bodyPr>
            <a:normAutofit/>
          </a:bodyPr>
          <a:lstStyle>
            <a:lvl1pPr marL="0" indent="0">
              <a:lnSpc>
                <a:spcPct val="100000"/>
              </a:lnSpc>
              <a:buNone/>
              <a:defRPr sz="1800" b="1">
                <a:solidFill>
                  <a:schemeClr val="tx1">
                    <a:lumMod val="75000"/>
                    <a:lumOff val="25000"/>
                  </a:schemeClr>
                </a:solidFill>
              </a:defRPr>
            </a:lvl1pPr>
            <a:lvl2pPr marL="457200" indent="0">
              <a:buNone/>
              <a:defRPr>
                <a:solidFill>
                  <a:schemeClr val="tx1">
                    <a:lumMod val="75000"/>
                    <a:lumOff val="25000"/>
                  </a:schemeClr>
                </a:solidFill>
              </a:defRPr>
            </a:lvl2pPr>
            <a:lvl3pPr marL="914400" indent="0">
              <a:buNone/>
              <a:defRPr>
                <a:solidFill>
                  <a:schemeClr val="tx1">
                    <a:lumMod val="75000"/>
                    <a:lumOff val="25000"/>
                  </a:schemeClr>
                </a:solidFill>
              </a:defRPr>
            </a:lvl3pPr>
            <a:lvl4pPr marL="1371600" indent="0">
              <a:buNone/>
              <a:defRPr>
                <a:solidFill>
                  <a:schemeClr val="tx1">
                    <a:lumMod val="75000"/>
                    <a:lumOff val="25000"/>
                  </a:schemeClr>
                </a:solidFill>
              </a:defRPr>
            </a:lvl4pPr>
            <a:lvl5pPr marL="1828800" indent="0">
              <a:buNone/>
              <a:defRPr>
                <a:solidFill>
                  <a:schemeClr val="tx1">
                    <a:lumMod val="75000"/>
                    <a:lumOff val="25000"/>
                  </a:schemeClr>
                </a:solidFill>
              </a:defRPr>
            </a:lvl5pPr>
          </a:lstStyle>
          <a:p>
            <a:pPr lvl="0"/>
            <a:r>
              <a:rPr lang="en-US"/>
              <a:t>mail@spbu.ru</a:t>
            </a:r>
          </a:p>
        </p:txBody>
      </p:sp>
      <p:sp>
        <p:nvSpPr>
          <p:cNvPr id="2" name="Прямоугольник 1">
            <a:extLst>
              <a:ext uri="{FF2B5EF4-FFF2-40B4-BE49-F238E27FC236}">
                <a16:creationId xmlns:a16="http://schemas.microsoft.com/office/drawing/2014/main" id="{3350E5A0-40F8-43A3-841B-6A4893C9040D}"/>
              </a:ext>
            </a:extLst>
          </p:cNvPr>
          <p:cNvSpPr/>
          <p:nvPr userDrawn="1"/>
        </p:nvSpPr>
        <p:spPr>
          <a:xfrm>
            <a:off x="664709" y="2154089"/>
            <a:ext cx="1867499" cy="523220"/>
          </a:xfrm>
          <a:prstGeom prst="rect">
            <a:avLst/>
          </a:prstGeom>
        </p:spPr>
        <p:txBody>
          <a:bodyPr wrap="none">
            <a:spAutoFit/>
          </a:bodyPr>
          <a:lstStyle/>
          <a:p>
            <a:pPr lvl="0"/>
            <a:r>
              <a:rPr lang="ru-RU" sz="2800" b="1" dirty="0">
                <a:solidFill>
                  <a:schemeClr val="accent1"/>
                </a:solidFill>
                <a:latin typeface="Segoe UI" panose="020B0502040204020203" pitchFamily="34" charset="0"/>
                <a:cs typeface="Segoe UI" panose="020B0502040204020203" pitchFamily="34" charset="0"/>
              </a:rPr>
              <a:t>Контакты</a:t>
            </a:r>
          </a:p>
        </p:txBody>
      </p:sp>
    </p:spTree>
    <p:extLst>
      <p:ext uri="{BB962C8B-B14F-4D97-AF65-F5344CB8AC3E}">
        <p14:creationId xmlns:p14="http://schemas.microsoft.com/office/powerpoint/2010/main" val="584346927"/>
      </p:ext>
    </p:extLst>
  </p:cSld>
  <p:clrMapOvr>
    <a:masterClrMapping/>
  </p:clrMapOvr>
  <p:extLst>
    <p:ext uri="{DCECCB84-F9BA-43D5-87BE-67443E8EF086}">
      <p15:sldGuideLst xmlns:p15="http://schemas.microsoft.com/office/powerpoint/2012/main">
        <p15:guide id="1" pos="41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Вертикальный заголовок и текс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A085A5EE-99E6-428A-AD39-E0EF175641CE}"/>
              </a:ext>
            </a:extLst>
          </p:cNvPr>
          <p:cNvSpPr/>
          <p:nvPr userDrawn="1"/>
        </p:nvSpPr>
        <p:spPr>
          <a:xfrm>
            <a:off x="0" y="2019301"/>
            <a:ext cx="12192000" cy="3448050"/>
          </a:xfrm>
          <a:prstGeom prst="rect">
            <a:avLst/>
          </a:prstGeom>
          <a:solidFill>
            <a:schemeClr val="bg2">
              <a:lumMod val="9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Группа 7">
            <a:extLst>
              <a:ext uri="{FF2B5EF4-FFF2-40B4-BE49-F238E27FC236}">
                <a16:creationId xmlns:a16="http://schemas.microsoft.com/office/drawing/2014/main" id="{D82081E8-5FB6-4BC1-9B97-161ABBCD8CB1}"/>
              </a:ext>
            </a:extLst>
          </p:cNvPr>
          <p:cNvGrpSpPr/>
          <p:nvPr userDrawn="1"/>
        </p:nvGrpSpPr>
        <p:grpSpPr>
          <a:xfrm>
            <a:off x="12321661" y="3684546"/>
            <a:ext cx="1103562" cy="2445980"/>
            <a:chOff x="12321661" y="3684546"/>
            <a:chExt cx="1103562" cy="2445980"/>
          </a:xfrm>
        </p:grpSpPr>
        <p:sp>
          <p:nvSpPr>
            <p:cNvPr id="9" name="Прямоугольник: скругленные противолежащие углы 8">
              <a:extLst>
                <a:ext uri="{FF2B5EF4-FFF2-40B4-BE49-F238E27FC236}">
                  <a16:creationId xmlns:a16="http://schemas.microsoft.com/office/drawing/2014/main" id="{5FF42451-9C38-4570-BB2C-81C8745D2B84}"/>
                </a:ext>
              </a:extLst>
            </p:cNvPr>
            <p:cNvSpPr/>
            <p:nvPr userDrawn="1"/>
          </p:nvSpPr>
          <p:spPr>
            <a:xfrm>
              <a:off x="12321661" y="3684546"/>
              <a:ext cx="1103562" cy="422429"/>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ECCD4101-5E30-4760-B1C2-C75578F5F937}"/>
                </a:ext>
              </a:extLst>
            </p:cNvPr>
            <p:cNvSpPr txBox="1"/>
            <p:nvPr userDrawn="1"/>
          </p:nvSpPr>
          <p:spPr>
            <a:xfrm>
              <a:off x="12427169" y="3780118"/>
              <a:ext cx="893178" cy="215444"/>
            </a:xfrm>
            <a:prstGeom prst="rect">
              <a:avLst/>
            </a:prstGeom>
            <a:noFill/>
          </p:spPr>
          <p:txBody>
            <a:bodyPr wrap="square" rtlCol="0">
              <a:spAutoFit/>
            </a:bodyPr>
            <a:lstStyle/>
            <a:p>
              <a:pPr algn="ctr"/>
              <a:r>
                <a:rPr lang="ru-RU" sz="800">
                  <a:solidFill>
                    <a:schemeClr val="bg1"/>
                  </a:solidFill>
                </a:rPr>
                <a:t>175 / 44 / 34</a:t>
              </a:r>
              <a:endParaRPr lang="ru-RU" sz="800" b="1">
                <a:solidFill>
                  <a:schemeClr val="bg1"/>
                </a:solidFill>
              </a:endParaRPr>
            </a:p>
          </p:txBody>
        </p:sp>
        <p:sp>
          <p:nvSpPr>
            <p:cNvPr id="11" name="Прямоугольник: скругленные противолежащие углы 10">
              <a:extLst>
                <a:ext uri="{FF2B5EF4-FFF2-40B4-BE49-F238E27FC236}">
                  <a16:creationId xmlns:a16="http://schemas.microsoft.com/office/drawing/2014/main" id="{DA5FAF91-3998-4AD3-A222-7BB6383C2C54}"/>
                </a:ext>
              </a:extLst>
            </p:cNvPr>
            <p:cNvSpPr/>
            <p:nvPr userDrawn="1"/>
          </p:nvSpPr>
          <p:spPr>
            <a:xfrm>
              <a:off x="12321661" y="4195929"/>
              <a:ext cx="1103562" cy="422429"/>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BB38BC6B-7D75-4527-B7B0-759083C8F3B7}"/>
                </a:ext>
              </a:extLst>
            </p:cNvPr>
            <p:cNvSpPr txBox="1"/>
            <p:nvPr userDrawn="1"/>
          </p:nvSpPr>
          <p:spPr>
            <a:xfrm>
              <a:off x="12427169" y="4291501"/>
              <a:ext cx="893178" cy="215444"/>
            </a:xfrm>
            <a:prstGeom prst="rect">
              <a:avLst/>
            </a:prstGeom>
            <a:noFill/>
          </p:spPr>
          <p:txBody>
            <a:bodyPr wrap="square" rtlCol="0">
              <a:spAutoFit/>
            </a:bodyPr>
            <a:lstStyle/>
            <a:p>
              <a:pPr algn="ctr"/>
              <a:r>
                <a:rPr lang="ru-RU" sz="800">
                  <a:solidFill>
                    <a:schemeClr val="bg1"/>
                  </a:solidFill>
                </a:rPr>
                <a:t>200 / 160 / 110</a:t>
              </a:r>
              <a:endParaRPr lang="ru-RU" sz="800" b="1">
                <a:solidFill>
                  <a:schemeClr val="bg1"/>
                </a:solidFill>
              </a:endParaRPr>
            </a:p>
          </p:txBody>
        </p:sp>
        <p:sp>
          <p:nvSpPr>
            <p:cNvPr id="13" name="Прямоугольник: скругленные противолежащие углы 12">
              <a:extLst>
                <a:ext uri="{FF2B5EF4-FFF2-40B4-BE49-F238E27FC236}">
                  <a16:creationId xmlns:a16="http://schemas.microsoft.com/office/drawing/2014/main" id="{7687D65C-28A3-4D9E-9F8C-537C6811FD9D}"/>
                </a:ext>
              </a:extLst>
            </p:cNvPr>
            <p:cNvSpPr/>
            <p:nvPr userDrawn="1"/>
          </p:nvSpPr>
          <p:spPr>
            <a:xfrm>
              <a:off x="12321661" y="4699985"/>
              <a:ext cx="1103562" cy="422429"/>
            </a:xfrm>
            <a:prstGeom prst="round2Diag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TextBox 13">
              <a:extLst>
                <a:ext uri="{FF2B5EF4-FFF2-40B4-BE49-F238E27FC236}">
                  <a16:creationId xmlns:a16="http://schemas.microsoft.com/office/drawing/2014/main" id="{5FABCB55-F639-4E4F-898F-9A24FC737890}"/>
                </a:ext>
              </a:extLst>
            </p:cNvPr>
            <p:cNvSpPr txBox="1"/>
            <p:nvPr userDrawn="1"/>
          </p:nvSpPr>
          <p:spPr>
            <a:xfrm>
              <a:off x="12427169" y="4795557"/>
              <a:ext cx="893178" cy="215444"/>
            </a:xfrm>
            <a:prstGeom prst="rect">
              <a:avLst/>
            </a:prstGeom>
            <a:noFill/>
          </p:spPr>
          <p:txBody>
            <a:bodyPr wrap="square" rtlCol="0">
              <a:spAutoFit/>
            </a:bodyPr>
            <a:lstStyle/>
            <a:p>
              <a:pPr algn="ctr"/>
              <a:r>
                <a:rPr lang="ru-RU" sz="800">
                  <a:solidFill>
                    <a:schemeClr val="bg1"/>
                  </a:solidFill>
                </a:rPr>
                <a:t>201 / 188 / 171</a:t>
              </a:r>
              <a:endParaRPr lang="ru-RU" sz="800" b="1">
                <a:solidFill>
                  <a:schemeClr val="bg1"/>
                </a:solidFill>
              </a:endParaRPr>
            </a:p>
          </p:txBody>
        </p:sp>
        <p:sp>
          <p:nvSpPr>
            <p:cNvPr id="15" name="Прямоугольник: скругленные противолежащие углы 14">
              <a:extLst>
                <a:ext uri="{FF2B5EF4-FFF2-40B4-BE49-F238E27FC236}">
                  <a16:creationId xmlns:a16="http://schemas.microsoft.com/office/drawing/2014/main" id="{66595322-CC12-44A6-B026-357D239D72A5}"/>
                </a:ext>
              </a:extLst>
            </p:cNvPr>
            <p:cNvSpPr/>
            <p:nvPr userDrawn="1"/>
          </p:nvSpPr>
          <p:spPr>
            <a:xfrm>
              <a:off x="12321661" y="5204041"/>
              <a:ext cx="1103562" cy="422429"/>
            </a:xfrm>
            <a:prstGeom prst="round2Diag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TextBox 15">
              <a:extLst>
                <a:ext uri="{FF2B5EF4-FFF2-40B4-BE49-F238E27FC236}">
                  <a16:creationId xmlns:a16="http://schemas.microsoft.com/office/drawing/2014/main" id="{51050B67-BB92-4FA6-BD44-E24E01034DE1}"/>
                </a:ext>
              </a:extLst>
            </p:cNvPr>
            <p:cNvSpPr txBox="1"/>
            <p:nvPr userDrawn="1"/>
          </p:nvSpPr>
          <p:spPr>
            <a:xfrm>
              <a:off x="12427169" y="5299613"/>
              <a:ext cx="893178" cy="215444"/>
            </a:xfrm>
            <a:prstGeom prst="rect">
              <a:avLst/>
            </a:prstGeom>
            <a:noFill/>
          </p:spPr>
          <p:txBody>
            <a:bodyPr wrap="square" rtlCol="0">
              <a:spAutoFit/>
            </a:bodyPr>
            <a:lstStyle/>
            <a:p>
              <a:pPr algn="ctr"/>
              <a:r>
                <a:rPr lang="ru-RU" sz="800">
                  <a:solidFill>
                    <a:schemeClr val="bg1"/>
                  </a:solidFill>
                </a:rPr>
                <a:t>135 / 135 / 135</a:t>
              </a:r>
              <a:endParaRPr lang="ru-RU" sz="800" b="1">
                <a:solidFill>
                  <a:schemeClr val="bg1"/>
                </a:solidFill>
              </a:endParaRPr>
            </a:p>
          </p:txBody>
        </p:sp>
        <p:sp>
          <p:nvSpPr>
            <p:cNvPr id="17" name="Прямоугольник: скругленные противолежащие углы 16">
              <a:extLst>
                <a:ext uri="{FF2B5EF4-FFF2-40B4-BE49-F238E27FC236}">
                  <a16:creationId xmlns:a16="http://schemas.microsoft.com/office/drawing/2014/main" id="{8507C5BE-4D8C-4FD9-BE86-CF2F3605F46A}"/>
                </a:ext>
              </a:extLst>
            </p:cNvPr>
            <p:cNvSpPr/>
            <p:nvPr userDrawn="1"/>
          </p:nvSpPr>
          <p:spPr>
            <a:xfrm>
              <a:off x="12321661" y="5708097"/>
              <a:ext cx="1103562" cy="422429"/>
            </a:xfrm>
            <a:prstGeom prst="round2DiagRect">
              <a:avLst/>
            </a:prstGeom>
            <a:solidFill>
              <a:srgbClr val="8D3F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TextBox 17">
              <a:extLst>
                <a:ext uri="{FF2B5EF4-FFF2-40B4-BE49-F238E27FC236}">
                  <a16:creationId xmlns:a16="http://schemas.microsoft.com/office/drawing/2014/main" id="{95819EEF-526C-472B-A95C-82B3A18F8594}"/>
                </a:ext>
              </a:extLst>
            </p:cNvPr>
            <p:cNvSpPr txBox="1"/>
            <p:nvPr userDrawn="1"/>
          </p:nvSpPr>
          <p:spPr>
            <a:xfrm>
              <a:off x="12427169" y="5803669"/>
              <a:ext cx="893178" cy="215444"/>
            </a:xfrm>
            <a:prstGeom prst="rect">
              <a:avLst/>
            </a:prstGeom>
            <a:noFill/>
          </p:spPr>
          <p:txBody>
            <a:bodyPr wrap="square" rtlCol="0">
              <a:spAutoFit/>
            </a:bodyPr>
            <a:lstStyle/>
            <a:p>
              <a:pPr algn="ctr"/>
              <a:r>
                <a:rPr lang="ru-RU" sz="800">
                  <a:solidFill>
                    <a:schemeClr val="bg1"/>
                  </a:solidFill>
                </a:rPr>
                <a:t>141 / 63 / 63</a:t>
              </a:r>
              <a:endParaRPr lang="ru-RU" sz="800" b="1">
                <a:solidFill>
                  <a:schemeClr val="bg1"/>
                </a:solidFill>
              </a:endParaRPr>
            </a:p>
          </p:txBody>
        </p:sp>
      </p:grpSp>
      <p:sp>
        <p:nvSpPr>
          <p:cNvPr id="22" name="Текст 21">
            <a:extLst>
              <a:ext uri="{FF2B5EF4-FFF2-40B4-BE49-F238E27FC236}">
                <a16:creationId xmlns:a16="http://schemas.microsoft.com/office/drawing/2014/main" id="{DD5C995D-87B4-49F3-955D-B6DB929819E9}"/>
              </a:ext>
            </a:extLst>
          </p:cNvPr>
          <p:cNvSpPr>
            <a:spLocks noGrp="1"/>
          </p:cNvSpPr>
          <p:nvPr>
            <p:ph type="body" sz="quarter" idx="13" hasCustomPrompt="1"/>
          </p:nvPr>
        </p:nvSpPr>
        <p:spPr>
          <a:xfrm>
            <a:off x="658813" y="2876550"/>
            <a:ext cx="4713287" cy="1543050"/>
          </a:xfrm>
        </p:spPr>
        <p:txBody>
          <a:bodyPr>
            <a:normAutofit/>
          </a:bodyPr>
          <a:lstStyle>
            <a:lvl1pPr marL="0" indent="0">
              <a:lnSpc>
                <a:spcPct val="100000"/>
              </a:lnSpc>
              <a:buNone/>
              <a:defRPr sz="1800" b="1">
                <a:solidFill>
                  <a:schemeClr val="tx1">
                    <a:lumMod val="75000"/>
                    <a:lumOff val="25000"/>
                  </a:schemeClr>
                </a:solidFill>
              </a:defRPr>
            </a:lvl1pPr>
            <a:lvl2pPr marL="457200" indent="0">
              <a:buNone/>
              <a:defRPr>
                <a:solidFill>
                  <a:schemeClr val="tx1">
                    <a:lumMod val="75000"/>
                    <a:lumOff val="25000"/>
                  </a:schemeClr>
                </a:solidFill>
              </a:defRPr>
            </a:lvl2pPr>
            <a:lvl3pPr marL="914400" indent="0">
              <a:buNone/>
              <a:defRPr>
                <a:solidFill>
                  <a:schemeClr val="tx1">
                    <a:lumMod val="75000"/>
                    <a:lumOff val="25000"/>
                  </a:schemeClr>
                </a:solidFill>
              </a:defRPr>
            </a:lvl3pPr>
            <a:lvl4pPr marL="1371600" indent="0">
              <a:buNone/>
              <a:defRPr>
                <a:solidFill>
                  <a:schemeClr val="tx1">
                    <a:lumMod val="75000"/>
                    <a:lumOff val="25000"/>
                  </a:schemeClr>
                </a:solidFill>
              </a:defRPr>
            </a:lvl4pPr>
            <a:lvl5pPr marL="1828800" indent="0">
              <a:buNone/>
              <a:defRPr>
                <a:solidFill>
                  <a:schemeClr val="tx1">
                    <a:lumMod val="75000"/>
                    <a:lumOff val="25000"/>
                  </a:schemeClr>
                </a:solidFill>
              </a:defRPr>
            </a:lvl5pPr>
          </a:lstStyle>
          <a:p>
            <a:pPr lvl="0"/>
            <a:r>
              <a:rPr lang="ru-RU"/>
              <a:t>Санкт-Петербург, </a:t>
            </a:r>
            <a:br>
              <a:rPr lang="ru-RU"/>
            </a:br>
            <a:r>
              <a:rPr lang="ru-RU"/>
              <a:t>Университетская наб., 7-9</a:t>
            </a:r>
            <a:br>
              <a:rPr lang="ru-RU"/>
            </a:br>
            <a:r>
              <a:rPr lang="ru-RU"/>
              <a:t>тел.: +7 (812) 360 60 30</a:t>
            </a:r>
            <a:endParaRPr lang="en-US"/>
          </a:p>
        </p:txBody>
      </p:sp>
      <p:sp>
        <p:nvSpPr>
          <p:cNvPr id="23" name="Заголовок 1">
            <a:extLst>
              <a:ext uri="{FF2B5EF4-FFF2-40B4-BE49-F238E27FC236}">
                <a16:creationId xmlns:a16="http://schemas.microsoft.com/office/drawing/2014/main" id="{8A97BB59-DCB0-4174-BA89-80ED4B78CB7E}"/>
              </a:ext>
            </a:extLst>
          </p:cNvPr>
          <p:cNvSpPr txBox="1">
            <a:spLocks/>
          </p:cNvSpPr>
          <p:nvPr userDrawn="1"/>
        </p:nvSpPr>
        <p:spPr>
          <a:xfrm>
            <a:off x="10050463" y="5929313"/>
            <a:ext cx="1665287" cy="50165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1" kern="1200">
                <a:solidFill>
                  <a:schemeClr val="accent1"/>
                </a:solidFill>
                <a:latin typeface="Segoe UI" panose="020B0502040204020203" pitchFamily="34" charset="0"/>
                <a:ea typeface="+mj-ea"/>
                <a:cs typeface="Segoe UI" panose="020B0502040204020203" pitchFamily="34" charset="0"/>
              </a:defRPr>
            </a:lvl1pPr>
          </a:lstStyle>
          <a:p>
            <a:pPr lvl="0"/>
            <a:r>
              <a:rPr lang="en-US">
                <a:solidFill>
                  <a:schemeClr val="bg1"/>
                </a:solidFill>
              </a:rPr>
              <a:t>spbu.ru</a:t>
            </a:r>
            <a:endParaRPr lang="ru-RU">
              <a:solidFill>
                <a:schemeClr val="bg1"/>
              </a:solidFill>
            </a:endParaRPr>
          </a:p>
        </p:txBody>
      </p:sp>
      <p:pic>
        <p:nvPicPr>
          <p:cNvPr id="24" name="Рисунок 23">
            <a:extLst>
              <a:ext uri="{FF2B5EF4-FFF2-40B4-BE49-F238E27FC236}">
                <a16:creationId xmlns:a16="http://schemas.microsoft.com/office/drawing/2014/main" id="{F70FF6BF-7C1A-423C-AD50-47016508D6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0054" y="675239"/>
            <a:ext cx="2568644" cy="789472"/>
          </a:xfrm>
          <a:prstGeom prst="rect">
            <a:avLst/>
          </a:prstGeom>
        </p:spPr>
      </p:pic>
      <p:sp>
        <p:nvSpPr>
          <p:cNvPr id="25" name="Текст 21">
            <a:extLst>
              <a:ext uri="{FF2B5EF4-FFF2-40B4-BE49-F238E27FC236}">
                <a16:creationId xmlns:a16="http://schemas.microsoft.com/office/drawing/2014/main" id="{8E9F1B28-F2B0-4A9D-B1A3-A93A3C460D2A}"/>
              </a:ext>
            </a:extLst>
          </p:cNvPr>
          <p:cNvSpPr>
            <a:spLocks noGrp="1"/>
          </p:cNvSpPr>
          <p:nvPr>
            <p:ph type="body" sz="quarter" idx="14" hasCustomPrompt="1"/>
          </p:nvPr>
        </p:nvSpPr>
        <p:spPr>
          <a:xfrm>
            <a:off x="5519936" y="2876550"/>
            <a:ext cx="4713287" cy="1543050"/>
          </a:xfrm>
        </p:spPr>
        <p:txBody>
          <a:bodyPr>
            <a:normAutofit/>
          </a:bodyPr>
          <a:lstStyle>
            <a:lvl1pPr marL="0" indent="0">
              <a:lnSpc>
                <a:spcPct val="100000"/>
              </a:lnSpc>
              <a:buNone/>
              <a:defRPr sz="1800" b="1">
                <a:solidFill>
                  <a:schemeClr val="tx1">
                    <a:lumMod val="75000"/>
                    <a:lumOff val="25000"/>
                  </a:schemeClr>
                </a:solidFill>
              </a:defRPr>
            </a:lvl1pPr>
            <a:lvl2pPr marL="457200" indent="0">
              <a:buNone/>
              <a:defRPr>
                <a:solidFill>
                  <a:schemeClr val="tx1">
                    <a:lumMod val="75000"/>
                    <a:lumOff val="25000"/>
                  </a:schemeClr>
                </a:solidFill>
              </a:defRPr>
            </a:lvl2pPr>
            <a:lvl3pPr marL="914400" indent="0">
              <a:buNone/>
              <a:defRPr>
                <a:solidFill>
                  <a:schemeClr val="tx1">
                    <a:lumMod val="75000"/>
                    <a:lumOff val="25000"/>
                  </a:schemeClr>
                </a:solidFill>
              </a:defRPr>
            </a:lvl3pPr>
            <a:lvl4pPr marL="1371600" indent="0">
              <a:buNone/>
              <a:defRPr>
                <a:solidFill>
                  <a:schemeClr val="tx1">
                    <a:lumMod val="75000"/>
                    <a:lumOff val="25000"/>
                  </a:schemeClr>
                </a:solidFill>
              </a:defRPr>
            </a:lvl4pPr>
            <a:lvl5pPr marL="1828800" indent="0">
              <a:buNone/>
              <a:defRPr>
                <a:solidFill>
                  <a:schemeClr val="tx1">
                    <a:lumMod val="75000"/>
                    <a:lumOff val="25000"/>
                  </a:schemeClr>
                </a:solidFill>
              </a:defRPr>
            </a:lvl5pPr>
          </a:lstStyle>
          <a:p>
            <a:pPr lvl="0"/>
            <a:r>
              <a:rPr lang="en-US"/>
              <a:t>mail@spbu.ru</a:t>
            </a:r>
          </a:p>
        </p:txBody>
      </p:sp>
      <p:sp>
        <p:nvSpPr>
          <p:cNvPr id="2" name="Прямоугольник 1">
            <a:extLst>
              <a:ext uri="{FF2B5EF4-FFF2-40B4-BE49-F238E27FC236}">
                <a16:creationId xmlns:a16="http://schemas.microsoft.com/office/drawing/2014/main" id="{3350E5A0-40F8-43A3-841B-6A4893C9040D}"/>
              </a:ext>
            </a:extLst>
          </p:cNvPr>
          <p:cNvSpPr/>
          <p:nvPr userDrawn="1"/>
        </p:nvSpPr>
        <p:spPr>
          <a:xfrm>
            <a:off x="664709" y="2154089"/>
            <a:ext cx="1867499" cy="523220"/>
          </a:xfrm>
          <a:prstGeom prst="rect">
            <a:avLst/>
          </a:prstGeom>
        </p:spPr>
        <p:txBody>
          <a:bodyPr wrap="none">
            <a:spAutoFit/>
          </a:bodyPr>
          <a:lstStyle/>
          <a:p>
            <a:pPr lvl="0"/>
            <a:r>
              <a:rPr lang="ru-RU" sz="2800" b="1" dirty="0">
                <a:solidFill>
                  <a:schemeClr val="accent1"/>
                </a:solidFill>
                <a:latin typeface="Segoe UI" panose="020B0502040204020203" pitchFamily="34" charset="0"/>
                <a:cs typeface="Segoe UI" panose="020B0502040204020203" pitchFamily="34" charset="0"/>
              </a:rPr>
              <a:t>Контакты</a:t>
            </a:r>
          </a:p>
        </p:txBody>
      </p:sp>
    </p:spTree>
    <p:extLst>
      <p:ext uri="{BB962C8B-B14F-4D97-AF65-F5344CB8AC3E}">
        <p14:creationId xmlns:p14="http://schemas.microsoft.com/office/powerpoint/2010/main" val="494721015"/>
      </p:ext>
    </p:extLst>
  </p:cSld>
  <p:clrMapOvr>
    <a:masterClrMapping/>
  </p:clrMapOvr>
  <p:extLst>
    <p:ext uri="{DCECCB84-F9BA-43D5-87BE-67443E8EF086}">
      <p15:sldGuideLst xmlns:p15="http://schemas.microsoft.com/office/powerpoint/2012/main">
        <p15:guide id="1" pos="41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7CD3A3D1-9BB5-47FB-9DDD-9C36A3631ECA}"/>
              </a:ext>
            </a:extLst>
          </p:cNvPr>
          <p:cNvPicPr>
            <a:picLocks noChangeAspect="1"/>
          </p:cNvPicPr>
          <p:nvPr userDrawn="1"/>
        </p:nvPicPr>
        <p:blipFill rotWithShape="1">
          <a:blip r:embed="rId12">
            <a:extLst>
              <a:ext uri="{28A0092B-C50C-407E-A947-70E740481C1C}">
                <a14:useLocalDpi xmlns:a14="http://schemas.microsoft.com/office/drawing/2010/main" val="0"/>
              </a:ext>
            </a:extLst>
          </a:blip>
          <a:srcRect r="46263"/>
          <a:stretch/>
        </p:blipFill>
        <p:spPr>
          <a:xfrm>
            <a:off x="9877789" y="0"/>
            <a:ext cx="2314212" cy="6858000"/>
          </a:xfrm>
          <a:prstGeom prst="rect">
            <a:avLst/>
          </a:prstGeom>
        </p:spPr>
      </p:pic>
      <p:sp>
        <p:nvSpPr>
          <p:cNvPr id="2" name="Заголовок 1">
            <a:extLst>
              <a:ext uri="{FF2B5EF4-FFF2-40B4-BE49-F238E27FC236}">
                <a16:creationId xmlns:a16="http://schemas.microsoft.com/office/drawing/2014/main" id="{B4F16899-AC2B-4C56-A816-AB82758D1C2F}"/>
              </a:ext>
            </a:extLst>
          </p:cNvPr>
          <p:cNvSpPr>
            <a:spLocks noGrp="1"/>
          </p:cNvSpPr>
          <p:nvPr>
            <p:ph type="title"/>
          </p:nvPr>
        </p:nvSpPr>
        <p:spPr>
          <a:xfrm>
            <a:off x="238125" y="159087"/>
            <a:ext cx="10303852" cy="540649"/>
          </a:xfrm>
          <a:prstGeom prst="rect">
            <a:avLst/>
          </a:prstGeom>
        </p:spPr>
        <p:txBody>
          <a:bodyPr vert="horz" lIns="91440" tIns="45720" rIns="91440" bIns="45720" rtlCol="0" anchor="t">
            <a:noAutofit/>
          </a:bodyPr>
          <a:lstStyle/>
          <a:p>
            <a:r>
              <a:rPr lang="ru-RU" dirty="0"/>
              <a:t>Образец заголовка</a:t>
            </a:r>
            <a:br>
              <a:rPr lang="ru-RU" dirty="0"/>
            </a:br>
            <a:r>
              <a:rPr lang="ru-RU" dirty="0"/>
              <a:t>2 строки (32 </a:t>
            </a:r>
            <a:r>
              <a:rPr lang="en-US" dirty="0" err="1"/>
              <a:t>pt</a:t>
            </a:r>
            <a:r>
              <a:rPr lang="ru-RU" dirty="0"/>
              <a:t>)</a:t>
            </a:r>
          </a:p>
        </p:txBody>
      </p:sp>
      <p:sp>
        <p:nvSpPr>
          <p:cNvPr id="3" name="Текст 2">
            <a:extLst>
              <a:ext uri="{FF2B5EF4-FFF2-40B4-BE49-F238E27FC236}">
                <a16:creationId xmlns:a16="http://schemas.microsoft.com/office/drawing/2014/main" id="{1EC3EC6B-FFB0-4869-867F-6AE3C4F3D4F8}"/>
              </a:ext>
            </a:extLst>
          </p:cNvPr>
          <p:cNvSpPr>
            <a:spLocks noGrp="1"/>
          </p:cNvSpPr>
          <p:nvPr>
            <p:ph type="body" idx="1"/>
          </p:nvPr>
        </p:nvSpPr>
        <p:spPr>
          <a:xfrm>
            <a:off x="238125" y="1268414"/>
            <a:ext cx="11777702" cy="504507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омер слайда 5">
            <a:extLst>
              <a:ext uri="{FF2B5EF4-FFF2-40B4-BE49-F238E27FC236}">
                <a16:creationId xmlns:a16="http://schemas.microsoft.com/office/drawing/2014/main" id="{BF2A2829-CFDA-45D3-8A5B-9E60806B9677}"/>
              </a:ext>
            </a:extLst>
          </p:cNvPr>
          <p:cNvSpPr>
            <a:spLocks noGrp="1"/>
          </p:cNvSpPr>
          <p:nvPr>
            <p:ph type="sldNum" sz="quarter" idx="4"/>
          </p:nvPr>
        </p:nvSpPr>
        <p:spPr>
          <a:xfrm>
            <a:off x="11456376" y="6460602"/>
            <a:ext cx="663632" cy="239136"/>
          </a:xfrm>
          <a:prstGeom prst="rect">
            <a:avLst/>
          </a:prstGeom>
        </p:spPr>
        <p:txBody>
          <a:bodyPr vert="horz" lIns="91440" tIns="45720" rIns="91440" bIns="45720" rtlCol="0" anchor="ctr"/>
          <a:lstStyle>
            <a:lvl1pPr algn="r">
              <a:defRPr sz="1200">
                <a:solidFill>
                  <a:schemeClr val="tx1">
                    <a:lumMod val="75000"/>
                  </a:schemeClr>
                </a:solidFill>
              </a:defRPr>
            </a:lvl1pPr>
          </a:lstStyle>
          <a:p>
            <a:fld id="{1FD38E61-9C24-476F-BFBC-20F0EEEA3A3D}" type="slidenum">
              <a:rPr lang="ru-RU" smtClean="0"/>
              <a:pPr/>
              <a:t>‹#›</a:t>
            </a:fld>
            <a:endParaRPr lang="ru-RU"/>
          </a:p>
        </p:txBody>
      </p:sp>
      <p:pic>
        <p:nvPicPr>
          <p:cNvPr id="8" name="Рисунок 7">
            <a:extLst>
              <a:ext uri="{FF2B5EF4-FFF2-40B4-BE49-F238E27FC236}">
                <a16:creationId xmlns:a16="http://schemas.microsoft.com/office/drawing/2014/main" id="{13A9D1F1-273C-4BD3-8CA6-4BF78E8CDF1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708074" y="259539"/>
            <a:ext cx="1303494" cy="430489"/>
          </a:xfrm>
          <a:prstGeom prst="rect">
            <a:avLst/>
          </a:prstGeom>
        </p:spPr>
      </p:pic>
      <p:sp>
        <p:nvSpPr>
          <p:cNvPr id="10" name="Прямоугольник 9">
            <a:extLst>
              <a:ext uri="{FF2B5EF4-FFF2-40B4-BE49-F238E27FC236}">
                <a16:creationId xmlns:a16="http://schemas.microsoft.com/office/drawing/2014/main" id="{F941D7AB-8FCD-483E-8DAA-006829C580C7}"/>
              </a:ext>
            </a:extLst>
          </p:cNvPr>
          <p:cNvSpPr/>
          <p:nvPr userDrawn="1"/>
        </p:nvSpPr>
        <p:spPr>
          <a:xfrm flipV="1">
            <a:off x="11456377" y="6699738"/>
            <a:ext cx="735623" cy="679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4" name="Группа 3">
            <a:extLst>
              <a:ext uri="{FF2B5EF4-FFF2-40B4-BE49-F238E27FC236}">
                <a16:creationId xmlns:a16="http://schemas.microsoft.com/office/drawing/2014/main" id="{0E78389A-057B-48CF-A8CE-D14B97B11615}"/>
              </a:ext>
            </a:extLst>
          </p:cNvPr>
          <p:cNvGrpSpPr/>
          <p:nvPr userDrawn="1"/>
        </p:nvGrpSpPr>
        <p:grpSpPr>
          <a:xfrm>
            <a:off x="12353840" y="159087"/>
            <a:ext cx="1103562" cy="2966485"/>
            <a:chOff x="12321661" y="3684546"/>
            <a:chExt cx="1103562" cy="2966485"/>
          </a:xfrm>
        </p:grpSpPr>
        <p:sp>
          <p:nvSpPr>
            <p:cNvPr id="12" name="Прямоугольник: скругленные противолежащие углы 11">
              <a:extLst>
                <a:ext uri="{FF2B5EF4-FFF2-40B4-BE49-F238E27FC236}">
                  <a16:creationId xmlns:a16="http://schemas.microsoft.com/office/drawing/2014/main" id="{B2B3E62E-A24E-434A-929B-25829454737E}"/>
                </a:ext>
              </a:extLst>
            </p:cNvPr>
            <p:cNvSpPr/>
            <p:nvPr userDrawn="1"/>
          </p:nvSpPr>
          <p:spPr>
            <a:xfrm>
              <a:off x="12321661" y="3684546"/>
              <a:ext cx="1103562" cy="422429"/>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a:extLst>
                <a:ext uri="{FF2B5EF4-FFF2-40B4-BE49-F238E27FC236}">
                  <a16:creationId xmlns:a16="http://schemas.microsoft.com/office/drawing/2014/main" id="{16E1949D-1C32-4A70-8678-7C819B40B60D}"/>
                </a:ext>
              </a:extLst>
            </p:cNvPr>
            <p:cNvSpPr txBox="1"/>
            <p:nvPr userDrawn="1"/>
          </p:nvSpPr>
          <p:spPr>
            <a:xfrm>
              <a:off x="12427169" y="3780118"/>
              <a:ext cx="893178" cy="215444"/>
            </a:xfrm>
            <a:prstGeom prst="rect">
              <a:avLst/>
            </a:prstGeom>
            <a:noFill/>
          </p:spPr>
          <p:txBody>
            <a:bodyPr wrap="square" rtlCol="0">
              <a:spAutoFit/>
            </a:bodyPr>
            <a:lstStyle/>
            <a:p>
              <a:pPr algn="ctr"/>
              <a:r>
                <a:rPr lang="ru-RU" sz="800">
                  <a:solidFill>
                    <a:schemeClr val="bg1"/>
                  </a:solidFill>
                </a:rPr>
                <a:t>175 / 44 / 34</a:t>
              </a:r>
              <a:endParaRPr lang="ru-RU" sz="800" b="1">
                <a:solidFill>
                  <a:schemeClr val="bg1"/>
                </a:solidFill>
              </a:endParaRPr>
            </a:p>
          </p:txBody>
        </p:sp>
        <p:sp>
          <p:nvSpPr>
            <p:cNvPr id="28" name="Прямоугольник: скругленные противолежащие углы 27">
              <a:extLst>
                <a:ext uri="{FF2B5EF4-FFF2-40B4-BE49-F238E27FC236}">
                  <a16:creationId xmlns:a16="http://schemas.microsoft.com/office/drawing/2014/main" id="{4776BFFF-5E73-4E7D-A0D9-99872241F2B2}"/>
                </a:ext>
              </a:extLst>
            </p:cNvPr>
            <p:cNvSpPr/>
            <p:nvPr userDrawn="1"/>
          </p:nvSpPr>
          <p:spPr>
            <a:xfrm>
              <a:off x="12321661" y="4195929"/>
              <a:ext cx="1103562" cy="422429"/>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9" name="TextBox 28">
              <a:extLst>
                <a:ext uri="{FF2B5EF4-FFF2-40B4-BE49-F238E27FC236}">
                  <a16:creationId xmlns:a16="http://schemas.microsoft.com/office/drawing/2014/main" id="{6D3F9540-449A-4692-99CA-BDE6949562A2}"/>
                </a:ext>
              </a:extLst>
            </p:cNvPr>
            <p:cNvSpPr txBox="1"/>
            <p:nvPr userDrawn="1"/>
          </p:nvSpPr>
          <p:spPr>
            <a:xfrm>
              <a:off x="12427169" y="4291501"/>
              <a:ext cx="893178" cy="215444"/>
            </a:xfrm>
            <a:prstGeom prst="rect">
              <a:avLst/>
            </a:prstGeom>
            <a:noFill/>
          </p:spPr>
          <p:txBody>
            <a:bodyPr wrap="square" rtlCol="0">
              <a:spAutoFit/>
            </a:bodyPr>
            <a:lstStyle/>
            <a:p>
              <a:pPr algn="ctr"/>
              <a:r>
                <a:rPr lang="ru-RU" sz="800">
                  <a:solidFill>
                    <a:schemeClr val="bg1"/>
                  </a:solidFill>
                </a:rPr>
                <a:t>200 / 160 / 110</a:t>
              </a:r>
              <a:endParaRPr lang="ru-RU" sz="800" b="1">
                <a:solidFill>
                  <a:schemeClr val="bg1"/>
                </a:solidFill>
              </a:endParaRPr>
            </a:p>
          </p:txBody>
        </p:sp>
        <p:sp>
          <p:nvSpPr>
            <p:cNvPr id="30" name="Прямоугольник: скругленные противолежащие углы 29">
              <a:extLst>
                <a:ext uri="{FF2B5EF4-FFF2-40B4-BE49-F238E27FC236}">
                  <a16:creationId xmlns:a16="http://schemas.microsoft.com/office/drawing/2014/main" id="{6D82FDF5-DD35-457B-84BE-77AA4526263E}"/>
                </a:ext>
              </a:extLst>
            </p:cNvPr>
            <p:cNvSpPr/>
            <p:nvPr userDrawn="1"/>
          </p:nvSpPr>
          <p:spPr>
            <a:xfrm>
              <a:off x="12321661" y="4699985"/>
              <a:ext cx="1103562" cy="422429"/>
            </a:xfrm>
            <a:prstGeom prst="round2Diag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a:extLst>
                <a:ext uri="{FF2B5EF4-FFF2-40B4-BE49-F238E27FC236}">
                  <a16:creationId xmlns:a16="http://schemas.microsoft.com/office/drawing/2014/main" id="{2481E95C-9EE2-438D-A653-F7FF76BE6E1C}"/>
                </a:ext>
              </a:extLst>
            </p:cNvPr>
            <p:cNvSpPr txBox="1"/>
            <p:nvPr userDrawn="1"/>
          </p:nvSpPr>
          <p:spPr>
            <a:xfrm>
              <a:off x="12427169" y="4795557"/>
              <a:ext cx="893178" cy="215444"/>
            </a:xfrm>
            <a:prstGeom prst="rect">
              <a:avLst/>
            </a:prstGeom>
            <a:noFill/>
          </p:spPr>
          <p:txBody>
            <a:bodyPr wrap="square" rtlCol="0">
              <a:spAutoFit/>
            </a:bodyPr>
            <a:lstStyle/>
            <a:p>
              <a:pPr algn="ctr"/>
              <a:r>
                <a:rPr lang="ru-RU" sz="800">
                  <a:solidFill>
                    <a:schemeClr val="bg1"/>
                  </a:solidFill>
                </a:rPr>
                <a:t>201 / 188 / 171</a:t>
              </a:r>
              <a:endParaRPr lang="ru-RU" sz="800" b="1">
                <a:solidFill>
                  <a:schemeClr val="bg1"/>
                </a:solidFill>
              </a:endParaRPr>
            </a:p>
          </p:txBody>
        </p:sp>
        <p:sp>
          <p:nvSpPr>
            <p:cNvPr id="32" name="Прямоугольник: скругленные противолежащие углы 31">
              <a:extLst>
                <a:ext uri="{FF2B5EF4-FFF2-40B4-BE49-F238E27FC236}">
                  <a16:creationId xmlns:a16="http://schemas.microsoft.com/office/drawing/2014/main" id="{4610D740-ECD4-4242-8922-98D065333B3B}"/>
                </a:ext>
              </a:extLst>
            </p:cNvPr>
            <p:cNvSpPr/>
            <p:nvPr userDrawn="1"/>
          </p:nvSpPr>
          <p:spPr>
            <a:xfrm>
              <a:off x="12321661" y="5204041"/>
              <a:ext cx="1103562" cy="422429"/>
            </a:xfrm>
            <a:prstGeom prst="round2Diag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TextBox 32">
              <a:extLst>
                <a:ext uri="{FF2B5EF4-FFF2-40B4-BE49-F238E27FC236}">
                  <a16:creationId xmlns:a16="http://schemas.microsoft.com/office/drawing/2014/main" id="{707F132A-E7E4-438D-818F-24163BFB1BF9}"/>
                </a:ext>
              </a:extLst>
            </p:cNvPr>
            <p:cNvSpPr txBox="1"/>
            <p:nvPr userDrawn="1"/>
          </p:nvSpPr>
          <p:spPr>
            <a:xfrm>
              <a:off x="12427169" y="5299613"/>
              <a:ext cx="893178" cy="215444"/>
            </a:xfrm>
            <a:prstGeom prst="rect">
              <a:avLst/>
            </a:prstGeom>
            <a:noFill/>
          </p:spPr>
          <p:txBody>
            <a:bodyPr wrap="square" rtlCol="0">
              <a:spAutoFit/>
            </a:bodyPr>
            <a:lstStyle/>
            <a:p>
              <a:pPr algn="ctr"/>
              <a:r>
                <a:rPr lang="ru-RU" sz="800">
                  <a:solidFill>
                    <a:schemeClr val="bg1"/>
                  </a:solidFill>
                </a:rPr>
                <a:t>135 / 135 / 135</a:t>
              </a:r>
              <a:endParaRPr lang="ru-RU" sz="800" b="1">
                <a:solidFill>
                  <a:schemeClr val="bg1"/>
                </a:solidFill>
              </a:endParaRPr>
            </a:p>
          </p:txBody>
        </p:sp>
        <p:sp>
          <p:nvSpPr>
            <p:cNvPr id="34" name="Прямоугольник: скругленные противолежащие углы 33">
              <a:extLst>
                <a:ext uri="{FF2B5EF4-FFF2-40B4-BE49-F238E27FC236}">
                  <a16:creationId xmlns:a16="http://schemas.microsoft.com/office/drawing/2014/main" id="{2E672A30-B803-45A4-A539-B0C1E8A775ED}"/>
                </a:ext>
              </a:extLst>
            </p:cNvPr>
            <p:cNvSpPr/>
            <p:nvPr userDrawn="1"/>
          </p:nvSpPr>
          <p:spPr>
            <a:xfrm>
              <a:off x="12321661" y="5708097"/>
              <a:ext cx="1103562" cy="422429"/>
            </a:xfrm>
            <a:prstGeom prst="round2Diag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extBox 34">
              <a:extLst>
                <a:ext uri="{FF2B5EF4-FFF2-40B4-BE49-F238E27FC236}">
                  <a16:creationId xmlns:a16="http://schemas.microsoft.com/office/drawing/2014/main" id="{337FE4C1-2499-4F6A-988D-6A54CC2FECE3}"/>
                </a:ext>
              </a:extLst>
            </p:cNvPr>
            <p:cNvSpPr txBox="1"/>
            <p:nvPr userDrawn="1"/>
          </p:nvSpPr>
          <p:spPr>
            <a:xfrm>
              <a:off x="12427169" y="5803669"/>
              <a:ext cx="893178" cy="215444"/>
            </a:xfrm>
            <a:prstGeom prst="rect">
              <a:avLst/>
            </a:prstGeom>
            <a:noFill/>
          </p:spPr>
          <p:txBody>
            <a:bodyPr wrap="square" rtlCol="0">
              <a:spAutoFit/>
            </a:bodyPr>
            <a:lstStyle/>
            <a:p>
              <a:pPr algn="ctr"/>
              <a:r>
                <a:rPr lang="ru-RU" sz="800" dirty="0">
                  <a:solidFill>
                    <a:schemeClr val="bg1"/>
                  </a:solidFill>
                </a:rPr>
                <a:t>135 / 135 / 135</a:t>
              </a:r>
              <a:endParaRPr lang="ru-RU" sz="800" b="1" dirty="0">
                <a:solidFill>
                  <a:schemeClr val="bg1"/>
                </a:solidFill>
              </a:endParaRPr>
            </a:p>
          </p:txBody>
        </p:sp>
        <p:sp>
          <p:nvSpPr>
            <p:cNvPr id="19" name="Прямоугольник: скругленные противолежащие углы 18">
              <a:extLst>
                <a:ext uri="{FF2B5EF4-FFF2-40B4-BE49-F238E27FC236}">
                  <a16:creationId xmlns:a16="http://schemas.microsoft.com/office/drawing/2014/main" id="{4656BA54-6A42-4FD7-9C2A-BA5741741F56}"/>
                </a:ext>
              </a:extLst>
            </p:cNvPr>
            <p:cNvSpPr/>
            <p:nvPr userDrawn="1"/>
          </p:nvSpPr>
          <p:spPr>
            <a:xfrm>
              <a:off x="12321661" y="6228602"/>
              <a:ext cx="1103562" cy="422429"/>
            </a:xfrm>
            <a:prstGeom prst="round2Diag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 name="TextBox 19">
              <a:extLst>
                <a:ext uri="{FF2B5EF4-FFF2-40B4-BE49-F238E27FC236}">
                  <a16:creationId xmlns:a16="http://schemas.microsoft.com/office/drawing/2014/main" id="{F24E7DDE-7655-4EF7-849B-9CD221CE5272}"/>
                </a:ext>
              </a:extLst>
            </p:cNvPr>
            <p:cNvSpPr txBox="1"/>
            <p:nvPr userDrawn="1"/>
          </p:nvSpPr>
          <p:spPr>
            <a:xfrm>
              <a:off x="12427169" y="6324174"/>
              <a:ext cx="893178" cy="215444"/>
            </a:xfrm>
            <a:prstGeom prst="rect">
              <a:avLst/>
            </a:prstGeom>
            <a:noFill/>
          </p:spPr>
          <p:txBody>
            <a:bodyPr wrap="square" rtlCol="0">
              <a:spAutoFit/>
            </a:bodyPr>
            <a:lstStyle/>
            <a:p>
              <a:pPr algn="ctr"/>
              <a:r>
                <a:rPr lang="ru-RU" sz="800" dirty="0">
                  <a:solidFill>
                    <a:schemeClr val="bg1"/>
                  </a:solidFill>
                </a:rPr>
                <a:t>174 / 100 / 100</a:t>
              </a:r>
              <a:endParaRPr lang="ru-RU" sz="800" b="1" dirty="0">
                <a:solidFill>
                  <a:schemeClr val="bg1"/>
                </a:solidFill>
              </a:endParaRPr>
            </a:p>
          </p:txBody>
        </p:sp>
      </p:grpSp>
      <p:sp>
        <p:nvSpPr>
          <p:cNvPr id="7" name="TextBox 6">
            <a:extLst>
              <a:ext uri="{FF2B5EF4-FFF2-40B4-BE49-F238E27FC236}">
                <a16:creationId xmlns:a16="http://schemas.microsoft.com/office/drawing/2014/main" id="{D724F7FC-3710-4F90-B6B2-D9951D913CC2}"/>
              </a:ext>
            </a:extLst>
          </p:cNvPr>
          <p:cNvSpPr txBox="1"/>
          <p:nvPr userDrawn="1"/>
        </p:nvSpPr>
        <p:spPr>
          <a:xfrm>
            <a:off x="12353840" y="3255375"/>
            <a:ext cx="1651799" cy="954107"/>
          </a:xfrm>
          <a:prstGeom prst="rect">
            <a:avLst/>
          </a:prstGeom>
          <a:noFill/>
        </p:spPr>
        <p:txBody>
          <a:bodyPr wrap="none" rtlCol="0">
            <a:spAutoFit/>
          </a:bodyPr>
          <a:lstStyle/>
          <a:p>
            <a:r>
              <a:rPr lang="ru-RU" sz="1400" dirty="0">
                <a:latin typeface="Segoe UI" panose="020B0502040204020203" pitchFamily="34" charset="0"/>
                <a:cs typeface="Segoe UI" panose="020B0502040204020203" pitchFamily="34" charset="0"/>
              </a:rPr>
              <a:t>Пожалуйста, </a:t>
            </a:r>
            <a:br>
              <a:rPr lang="en-US" sz="1400" dirty="0">
                <a:latin typeface="Segoe UI" panose="020B0502040204020203" pitchFamily="34" charset="0"/>
                <a:cs typeface="Segoe UI" panose="020B0502040204020203" pitchFamily="34" charset="0"/>
              </a:rPr>
            </a:br>
            <a:r>
              <a:rPr lang="ru-RU" sz="1400" dirty="0">
                <a:latin typeface="Segoe UI" panose="020B0502040204020203" pitchFamily="34" charset="0"/>
                <a:cs typeface="Segoe UI" panose="020B0502040204020203" pitchFamily="34" charset="0"/>
              </a:rPr>
              <a:t>используйте </a:t>
            </a:r>
            <a:br>
              <a:rPr lang="en-US" sz="1400" dirty="0">
                <a:latin typeface="Segoe UI" panose="020B0502040204020203" pitchFamily="34" charset="0"/>
                <a:cs typeface="Segoe UI" panose="020B0502040204020203" pitchFamily="34" charset="0"/>
              </a:rPr>
            </a:br>
            <a:r>
              <a:rPr lang="ru-RU" sz="1400" dirty="0">
                <a:latin typeface="Segoe UI" panose="020B0502040204020203" pitchFamily="34" charset="0"/>
                <a:cs typeface="Segoe UI" panose="020B0502040204020203" pitchFamily="34" charset="0"/>
              </a:rPr>
              <a:t>цветовую гамму </a:t>
            </a:r>
            <a:br>
              <a:rPr lang="en-US" sz="1400" dirty="0">
                <a:latin typeface="Segoe UI" panose="020B0502040204020203" pitchFamily="34" charset="0"/>
                <a:cs typeface="Segoe UI" panose="020B0502040204020203" pitchFamily="34" charset="0"/>
              </a:rPr>
            </a:br>
            <a:r>
              <a:rPr lang="ru-RU" sz="1400" b="1" dirty="0">
                <a:latin typeface="Segoe UI" panose="020B0502040204020203" pitchFamily="34" charset="0"/>
                <a:cs typeface="Segoe UI" panose="020B0502040204020203" pitchFamily="34" charset="0"/>
              </a:rPr>
              <a:t>«300 лет СПбГУ»</a:t>
            </a:r>
          </a:p>
        </p:txBody>
      </p:sp>
    </p:spTree>
    <p:extLst>
      <p:ext uri="{BB962C8B-B14F-4D97-AF65-F5344CB8AC3E}">
        <p14:creationId xmlns:p14="http://schemas.microsoft.com/office/powerpoint/2010/main" val="3667783080"/>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1" r:id="rId3"/>
    <p:sldLayoutId id="2147483650" r:id="rId4"/>
    <p:sldLayoutId id="2147483653" r:id="rId5"/>
    <p:sldLayoutId id="2147483657" r:id="rId6"/>
    <p:sldLayoutId id="2147483662" r:id="rId7"/>
    <p:sldLayoutId id="2147483664" r:id="rId8"/>
    <p:sldLayoutId id="2147483659" r:id="rId9"/>
    <p:sldLayoutId id="2147483665" r:id="rId10"/>
  </p:sldLayoutIdLst>
  <p:txStyles>
    <p:titleStyle>
      <a:lvl1pPr algn="l" defTabSz="914400" rtl="0" eaLnBrk="1" latinLnBrk="0" hangingPunct="1">
        <a:lnSpc>
          <a:spcPct val="90000"/>
        </a:lnSpc>
        <a:spcBef>
          <a:spcPct val="0"/>
        </a:spcBef>
        <a:buNone/>
        <a:defRPr sz="3200" b="1" kern="1200">
          <a:solidFill>
            <a:schemeClr val="accent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schemeClr>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schemeClr>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F26B43"/>
          </p15:clr>
        </p15:guide>
        <p15:guide id="2" pos="3384" userDrawn="1">
          <p15:clr>
            <a:srgbClr val="F26B43"/>
          </p15:clr>
        </p15:guide>
        <p15:guide id="3" pos="3477" userDrawn="1">
          <p15:clr>
            <a:srgbClr val="F26B43"/>
          </p15:clr>
        </p15:guide>
        <p15:guide id="4" orient="horz" pos="799" userDrawn="1">
          <p15:clr>
            <a:srgbClr val="F26B43"/>
          </p15:clr>
        </p15:guide>
        <p15:guide id="5" orient="horz" pos="620" userDrawn="1">
          <p15:clr>
            <a:srgbClr val="F26B43"/>
          </p15:clr>
        </p15:guide>
        <p15:guide id="7" orient="horz" pos="4159" userDrawn="1">
          <p15:clr>
            <a:srgbClr val="F26B43"/>
          </p15:clr>
        </p15:guide>
        <p15:guide id="8" pos="7543" userDrawn="1">
          <p15:clr>
            <a:srgbClr val="F26B43"/>
          </p15:clr>
        </p15:guide>
        <p15:guide id="9" orient="horz" pos="3977" userDrawn="1">
          <p15:clr>
            <a:srgbClr val="F26B43"/>
          </p15:clr>
        </p15:guide>
        <p15:guide id="10" pos="1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PBU_SAMPLE_01_CLONE_00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C2033E-78E1-48C9-A738-3F0F65437203}"/>
              </a:ext>
            </a:extLst>
          </p:cNvPr>
          <p:cNvSpPr>
            <a:spLocks noGrp="1"/>
          </p:cNvSpPr>
          <p:nvPr>
            <p:ph type="ctrTitle"/>
          </p:nvPr>
        </p:nvSpPr>
        <p:spPr>
          <a:xfrm>
            <a:off x="672860" y="2954582"/>
            <a:ext cx="11301653" cy="1933575"/>
          </a:xfrm>
        </p:spPr>
        <p:txBody>
          <a:bodyPr wrap="square" lIns="0" tIns="0" rIns="0" bIns="0" anchor="b">
            <a:noAutofit/>
          </a:bodyPr>
          <a:lstStyle/>
          <a:p>
            <a:pPr marL="0" lvl="0" indent="0" algn="l">
              <a:lnSpc>
                <a:spcPct val="95000"/>
              </a:lnSpc>
              <a:spcBef>
                <a:spcPts val="0"/>
              </a:spcBef>
              <a:spcAft>
                <a:spcPts val="0"/>
              </a:spcAft>
              <a:buNone/>
              <a:defRPr lang="ru-RU" sz="4400" dirty="0">
                <a:solidFill>
                  <a:srgbClr val="181818"/>
                </a:solidFill>
                <a:latin typeface="Segoe UI"/>
                <a:ea typeface="Segoe UI"/>
                <a:cs typeface="Segoe UI"/>
              </a:defRPr>
            </a:pPr>
            <a:r>
              <a:rPr lang="ru-RU" sz="4400" dirty="0">
                <a:solidFill>
                  <a:srgbClr val="181818"/>
                </a:solidFill>
                <a:latin typeface="Segoe UI"/>
                <a:ea typeface="Segoe UI"/>
                <a:cs typeface="Segoe UI"/>
              </a:rPr>
              <a:t>PestCLEF: извлечение графа знаний</a:t>
            </a:r>
          </a:p>
        </p:txBody>
      </p:sp>
      <p:sp>
        <p:nvSpPr>
          <p:cNvPr id="4" name="Текст 3">
            <a:extLst>
              <a:ext uri="{FF2B5EF4-FFF2-40B4-BE49-F238E27FC236}">
                <a16:creationId xmlns:a16="http://schemas.microsoft.com/office/drawing/2014/main" id="{37287369-4947-4F76-8248-69FDB799AE68}"/>
              </a:ext>
            </a:extLst>
          </p:cNvPr>
          <p:cNvSpPr>
            <a:spLocks noGrp="1"/>
          </p:cNvSpPr>
          <p:nvPr>
            <p:ph type="body" sz="quarter" idx="10"/>
          </p:nvPr>
        </p:nvSpPr>
        <p:spPr>
          <a:xfrm>
            <a:off x="664924" y="5434342"/>
            <a:ext cx="11309589" cy="509588"/>
          </a:xfrm>
        </p:spPr>
        <p:txBody>
          <a:bodyPr wrap="square" lIns="0" tIns="0" rIns="0" bIns="0" anchor="t">
            <a:noAutofit/>
          </a:bodyPr>
          <a:lstStyle/>
          <a:p>
            <a:pPr marL="0" lvl="0" indent="0" algn="l">
              <a:lnSpc>
                <a:spcPct val="100000"/>
              </a:lnSpc>
              <a:spcBef>
                <a:spcPts val="0"/>
              </a:spcBef>
              <a:spcAft>
                <a:spcPts val="0"/>
              </a:spcAft>
              <a:buNone/>
              <a:defRPr lang="ru-RU" sz="2400" dirty="0">
                <a:solidFill>
                  <a:srgbClr val="181818"/>
                </a:solidFill>
                <a:latin typeface="Segoe UI"/>
                <a:ea typeface="Segoe UI"/>
                <a:cs typeface="Segoe UI"/>
              </a:defRPr>
            </a:pPr>
            <a:r>
              <a:rPr lang="ru-RU" sz="2400" dirty="0">
                <a:solidFill>
                  <a:srgbClr val="181818"/>
                </a:solidFill>
                <a:latin typeface="Segoe UI"/>
                <a:ea typeface="Segoe UI"/>
                <a:cs typeface="Segoe UI"/>
              </a:rPr>
              <a:t>Кубякин Никита · Зайнуллин Мансур · Аникин Роман</a:t>
            </a:r>
          </a:p>
        </p:txBody>
      </p:sp>
      <p:sp>
        <p:nvSpPr>
          <p:cNvPr id="5" name="Текст 4">
            <a:extLst>
              <a:ext uri="{FF2B5EF4-FFF2-40B4-BE49-F238E27FC236}">
                <a16:creationId xmlns:a16="http://schemas.microsoft.com/office/drawing/2014/main" id="{E10A9515-5417-4D1E-8528-ACDD651CBE34}"/>
              </a:ext>
            </a:extLst>
          </p:cNvPr>
          <p:cNvSpPr>
            <a:spLocks noGrp="1"/>
          </p:cNvSpPr>
          <p:nvPr>
            <p:ph type="body" sz="quarter" idx="11"/>
          </p:nvPr>
        </p:nvSpPr>
        <p:spPr>
          <a:xfrm>
            <a:off x="658813" y="5845175"/>
            <a:ext cx="11315700" cy="344488"/>
          </a:xfrm>
        </p:spPr>
        <p:txBody>
          <a:bodyPr wrap="square" lIns="0" tIns="0" rIns="0" bIns="0" anchor="t">
            <a:noAutofit/>
          </a:bodyPr>
          <a:lstStyle/>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СПбГУ ·4-й курс ·23.Б16-пу ·Базы данных и распределённая цифровая платформа</a:t>
            </a:r>
          </a:p>
        </p:txBody>
      </p:sp>
    </p:spTree>
    <p:extLst>
      <p:ext uri="{BB962C8B-B14F-4D97-AF65-F5344CB8AC3E}">
        <p14:creationId xmlns:p14="http://schemas.microsoft.com/office/powerpoint/2010/main" val="2360639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PBU_SAMPLE_08_CLONE_002">
    <p:spTree>
      <p:nvGrpSpPr>
        <p:cNvPr id="1" name=""/>
        <p:cNvGrpSpPr/>
        <p:nvPr/>
      </p:nvGrpSpPr>
      <p:grpSpPr>
        <a:xfrm>
          <a:off x="0" y="0"/>
          <a:ext cx="0" cy="0"/>
          <a:chOff x="0" y="0"/>
          <a:chExt cx="0" cy="0"/>
        </a:xfrm>
      </p:grpSpPr>
      <p:sp>
        <p:nvSpPr>
          <p:cNvPr id="2" name="Номер слайда 5">
            <a:extLst>
              <a:ext uri="{FF2B5EF4-FFF2-40B4-BE49-F238E27FC236}">
                <a16:creationId xmlns:a16="http://schemas.microsoft.com/office/drawing/2014/main" id="{1068838A-296A-4999-B756-4D98A18A46A4}"/>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2</a:t>
            </a:fld>
            <a:endParaRPr lang="ru-RU"/>
          </a:p>
        </p:txBody>
      </p:sp>
      <p:pic>
        <p:nvPicPr>
          <p:cNvPr id="4" name="Рисунок 3">
            <a:extLst>
              <a:ext uri="{FF2B5EF4-FFF2-40B4-BE49-F238E27FC236}">
                <a16:creationId xmlns:a16="http://schemas.microsoft.com/office/drawing/2014/main" id="{EF41C69C-2362-4AA3-B3D8-85BB2A7ECC6D}"/>
              </a:ext>
            </a:extLst>
          </p:cNvPr>
          <p:cNvPicPr>
            <a:picLocks noChangeAspect="1"/>
          </p:cNvPicPr>
          <p:nvPr/>
        </p:nvPicPr>
        <p:blipFill rotWithShape="1">
          <a:blip r:embed="rId3">
            <a:extLst>
              <a:ext uri="{28A0092B-C50C-407E-A947-70E740481C1C}">
                <a14:useLocalDpi xmlns:a14="http://schemas.microsoft.com/office/drawing/2010/main" val="0"/>
              </a:ext>
            </a:extLst>
          </a:blip>
          <a:srcRect t="27" b="27"/>
          <a:stretch/>
        </p:blipFill>
        <p:spPr>
          <a:xfrm>
            <a:off x="0" y="0"/>
            <a:ext cx="12192000" cy="6858000"/>
          </a:xfrm>
          <a:prstGeom prst="rect">
            <a:avLst/>
          </a:prstGeom>
        </p:spPr>
      </p:pic>
      <p:sp>
        <p:nvSpPr>
          <p:cNvPr id="6" name="Прямоугольник 5">
            <a:extLst>
              <a:ext uri="{FF2B5EF4-FFF2-40B4-BE49-F238E27FC236}">
                <a16:creationId xmlns:a16="http://schemas.microsoft.com/office/drawing/2014/main" id="{625398F6-BBA0-422B-B22D-FC0C528A8C27}"/>
              </a:ext>
            </a:extLst>
          </p:cNvPr>
          <p:cNvSpPr/>
          <p:nvPr/>
        </p:nvSpPr>
        <p:spPr>
          <a:xfrm>
            <a:off x="2623625" y="2648277"/>
            <a:ext cx="9059593" cy="1150000"/>
          </a:xfrm>
          <a:prstGeom prst="rect">
            <a:avLst/>
          </a:prstGeom>
          <a:solidFill>
            <a:schemeClr val="accent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Объект 2">
            <a:extLst>
              <a:ext uri="{FF2B5EF4-FFF2-40B4-BE49-F238E27FC236}">
                <a16:creationId xmlns:a16="http://schemas.microsoft.com/office/drawing/2014/main" id="{8C6C4E47-3D4E-43A4-A77F-0ADD9F1B0048}"/>
              </a:ext>
            </a:extLst>
          </p:cNvPr>
          <p:cNvSpPr txBox="1">
            <a:spLocks/>
          </p:cNvSpPr>
          <p:nvPr/>
        </p:nvSpPr>
        <p:spPr>
          <a:xfrm>
            <a:off x="2749209" y="2738277"/>
            <a:ext cx="8856637" cy="970000"/>
          </a:xfrm>
          <a:prstGeom prst="rect">
            <a:avLst/>
          </a:prstGeom>
        </p:spPr>
        <p:txBody>
          <a:bodyPr wrap="square" lIns="0" tIns="0" rIns="0" bIns="0" anchor="t">
            <a:noAutofit/>
          </a:bodyPr>
          <a:lst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100000"/>
              </a:lnSpc>
              <a:spcBef>
                <a:spcPts val="600"/>
              </a:spcBef>
              <a:buFont typeface="Arial" panose="020B0604020202020204" pitchFamily="34" charset="0"/>
              <a:buNone/>
              <a:defRPr sz="1400" kern="120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l" defTabSz="914400" rtl="0" eaLnBrk="1" latinLnBrk="0" hangingPunct="1">
              <a:lnSpc>
                <a:spcPct val="100000"/>
              </a:lnSpc>
              <a:spcBef>
                <a:spcPts val="600"/>
              </a:spcBef>
              <a:buFont typeface="Arial" panose="020B0604020202020204" pitchFamily="34" charset="0"/>
              <a:buNone/>
              <a:defRPr sz="1200" kern="120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l" defTabSz="914400" rtl="0" eaLnBrk="1" latinLnBrk="0" hangingPunct="1">
              <a:lnSpc>
                <a:spcPct val="100000"/>
              </a:lnSpc>
              <a:spcBef>
                <a:spcPts val="600"/>
              </a:spcBef>
              <a:buFont typeface="Arial" panose="020B0604020202020204" pitchFamily="34" charset="0"/>
              <a:buNone/>
              <a:defRPr sz="1100" kern="120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l" defTabSz="914400" rtl="0" eaLnBrk="1" latinLnBrk="0" hangingPunct="1">
              <a:lnSpc>
                <a:spcPct val="100000"/>
              </a:lnSpc>
              <a:spcBef>
                <a:spcPts val="600"/>
              </a:spcBef>
              <a:buFont typeface="Arial" panose="020B0604020202020204" pitchFamily="34" charset="0"/>
              <a:buNone/>
              <a:defRPr sz="1100" kern="120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spcBef>
                <a:spcPts val="0"/>
              </a:spcBef>
              <a:spcAft>
                <a:spcPts val="0"/>
              </a:spcAft>
              <a:buNone/>
              <a:defRPr lang="ru-RU" sz="3200" dirty="0">
                <a:solidFill>
                  <a:srgbClr val="FFFFFF"/>
                </a:solidFill>
                <a:latin typeface="Segoe UI"/>
                <a:ea typeface="Segoe UI"/>
                <a:cs typeface="Segoe UI"/>
              </a:defRPr>
            </a:pPr>
            <a:r>
              <a:rPr lang="ru-RU" sz="3200" b="1" kern="0" cap="all" dirty="0">
                <a:solidFill>
                  <a:srgbClr val="FFFFFF"/>
                </a:solidFill>
                <a:latin typeface="Segoe UI" panose="020B0502040204020203" pitchFamily="34" charset="0"/>
                <a:ea typeface="Segoe UI" pitchFamily="2" charset="0"/>
                <a:cs typeface="Segoe UI" panose="020B0502040204020203" pitchFamily="34" charset="0"/>
              </a:rPr>
              <a:t>В одном сообщении — </a:t>
            </a:r>
            <a:br>
              <a:rPr lang="ru-RU" sz="3200" b="1" kern="0" cap="all" dirty="0">
                <a:solidFill>
                  <a:srgbClr val="FFFFFF"/>
                </a:solidFill>
                <a:latin typeface="Segoe UI" panose="020B0502040204020203" pitchFamily="34" charset="0"/>
                <a:ea typeface="Segoe UI" pitchFamily="2" charset="0"/>
                <a:cs typeface="Segoe UI" panose="020B0502040204020203" pitchFamily="34" charset="0"/>
              </a:rPr>
            </a:br>
            <a:r>
              <a:rPr lang="ru-RU" sz="3200" b="1" kern="0" cap="all" dirty="0">
                <a:solidFill>
                  <a:srgbClr val="FFFFFF"/>
                </a:solidFill>
                <a:latin typeface="Segoe UI" panose="020B0502040204020203" pitchFamily="34" charset="0"/>
                <a:ea typeface="Segoe UI" pitchFamily="2" charset="0"/>
                <a:cs typeface="Segoe UI" panose="020B0502040204020203" pitchFamily="34" charset="0"/>
              </a:rPr>
              <a:t>несколько связей</a:t>
            </a:r>
          </a:p>
        </p:txBody>
      </p:sp>
      <p:sp>
        <p:nvSpPr>
          <p:cNvPr id="7" name="Прямоугольник 6">
            <a:extLst>
              <a:ext uri="{FF2B5EF4-FFF2-40B4-BE49-F238E27FC236}">
                <a16:creationId xmlns:a16="http://schemas.microsoft.com/office/drawing/2014/main" id="{4ACCF89A-E838-4CD4-B4FE-44CE75C90BDA}"/>
              </a:ext>
            </a:extLst>
          </p:cNvPr>
          <p:cNvSpPr/>
          <p:nvPr/>
        </p:nvSpPr>
        <p:spPr>
          <a:xfrm>
            <a:off x="2623625" y="3854548"/>
            <a:ext cx="9059593" cy="2606054"/>
          </a:xfrm>
          <a:prstGeom prst="rect">
            <a:avLst/>
          </a:prstGeom>
          <a:solidFill>
            <a:schemeClr val="bg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7">
            <a:extLst>
              <a:ext uri="{FF2B5EF4-FFF2-40B4-BE49-F238E27FC236}">
                <a16:creationId xmlns:a16="http://schemas.microsoft.com/office/drawing/2014/main" id="{A43C6388-91A4-419E-B35D-D2AA6DA752F8}"/>
              </a:ext>
            </a:extLst>
          </p:cNvPr>
          <p:cNvSpPr/>
          <p:nvPr/>
        </p:nvSpPr>
        <p:spPr>
          <a:xfrm>
            <a:off x="2749208" y="3952161"/>
            <a:ext cx="4227583" cy="2308324"/>
          </a:xfrm>
          <a:prstGeom prst="rect">
            <a:avLst/>
          </a:prstGeom>
        </p:spPr>
        <p:txBody>
          <a:bodyPr wrap="square" lIns="0" tIns="0" rIns="0" bIns="0" numCol="1" anchor="t">
            <a:noAutofit/>
          </a:bodyPr>
          <a:lstStyle/>
          <a:p>
            <a:pPr marL="0" lvl="0" indent="0" algn="l">
              <a:lnSpc>
                <a:spcPct val="100000"/>
              </a:lnSpc>
              <a:spcBef>
                <a:spcPts val="0"/>
              </a:spcBef>
              <a:spcAft>
                <a:spcPts val="500"/>
              </a:spcAft>
              <a:buNone/>
              <a:defRPr lang="ru-RU" sz="2200" dirty="0">
                <a:solidFill>
                  <a:srgbClr val="181818"/>
                </a:solidFill>
                <a:latin typeface="Segoe UI"/>
                <a:ea typeface="Segoe UI"/>
                <a:cs typeface="Segoe UI"/>
              </a:defRPr>
            </a:pPr>
            <a:r>
              <a:rPr lang="ru-RU" sz="2200" dirty="0">
                <a:solidFill>
                  <a:srgbClr val="181818"/>
                </a:solidFill>
                <a:latin typeface="Segoe UI" panose="020B0502040204020203" pitchFamily="34" charset="0"/>
                <a:ea typeface="Segoe UI" panose="020B0606030504020204" pitchFamily="34" charset="0"/>
                <a:cs typeface="Segoe UI" panose="020B0502040204020203" pitchFamily="34" charset="0"/>
              </a:rPr>
              <a:t>«Оливковые деревья заражены Xylella в Monopoli».</a:t>
            </a:r>
          </a:p>
          <a:p>
            <a:pPr marL="0" lvl="0" indent="0" algn="l">
              <a:lnSpc>
                <a:spcPct val="100000"/>
              </a:lnSpc>
              <a:spcBef>
                <a:spcPts val="0"/>
              </a:spcBef>
              <a:spcAft>
                <a:spcPts val="500"/>
              </a:spcAft>
              <a:buNone/>
              <a:defRPr lang="ru-RU" sz="2200" dirty="0">
                <a:solidFill>
                  <a:srgbClr val="181818"/>
                </a:solidFill>
                <a:latin typeface="Segoe UI"/>
                <a:ea typeface="Segoe UI"/>
                <a:cs typeface="Segoe UI"/>
              </a:defRPr>
            </a:pPr>
            <a:r>
              <a:rPr lang="ru-RU" sz="2200" dirty="0">
                <a:solidFill>
                  <a:srgbClr val="181818"/>
                </a:solidFill>
                <a:latin typeface="Segoe UI" panose="020B0502040204020203" pitchFamily="34" charset="0"/>
                <a:ea typeface="Segoe UI" panose="020B0606030504020204" pitchFamily="34" charset="0"/>
                <a:cs typeface="Segoe UI" panose="020B0502040204020203" pitchFamily="34" charset="0"/>
              </a:rPr>
              <a:t>В сообщении связаны возбудитель, растение и место.</a:t>
            </a:r>
          </a:p>
          <a:p>
            <a:pPr marL="0" lvl="0" indent="0" algn="l">
              <a:lnSpc>
                <a:spcPct val="100000"/>
              </a:lnSpc>
              <a:spcBef>
                <a:spcPts val="0"/>
              </a:spcBef>
              <a:spcAft>
                <a:spcPts val="0"/>
              </a:spcAft>
              <a:buFont typeface="Arial" panose="020B0604020202020204" pitchFamily="34" charset="0"/>
              <a:buNone/>
              <a:defRPr lang="ru-RU" sz="2200" dirty="0">
                <a:solidFill>
                  <a:srgbClr val="181818"/>
                </a:solidFill>
                <a:latin typeface="Segoe UI"/>
                <a:ea typeface="Segoe UI"/>
                <a:cs typeface="Segoe UI"/>
              </a:defRPr>
            </a:pPr>
            <a:r>
              <a:rPr lang="ru-RU" sz="2200" dirty="0">
                <a:solidFill>
                  <a:srgbClr val="181818"/>
                </a:solidFill>
                <a:latin typeface="Segoe UI" panose="020B0502040204020203" pitchFamily="34" charset="0"/>
                <a:ea typeface="Segoe UI" panose="020B0606030504020204" pitchFamily="34" charset="0"/>
                <a:cs typeface="Segoe UI" panose="020B0502040204020203" pitchFamily="34" charset="0"/>
              </a:rPr>
              <a:t>Перевод фрагмента · документ 97985, [288,331).</a:t>
            </a:r>
          </a:p>
        </p:txBody>
      </p:sp>
      <p:sp>
        <p:nvSpPr>
          <p:cNvPr id="100" name="PestCLEF / правая колонка"/>
          <p:cNvSpPr/>
          <p:nvPr/>
        </p:nvSpPr>
        <p:spPr>
          <a:xfrm>
            <a:off x="7228791" y="3952161"/>
            <a:ext cx="4227584" cy="2308324"/>
          </a:xfrm>
          <a:prstGeom prst="rect">
            <a:avLst/>
          </a:prstGeom>
        </p:spPr>
        <p:txBody>
          <a:bodyPr wrap="square" lIns="0" tIns="0" rIns="0" bIns="0" numCol="1" anchor="t">
            <a:noAutofit/>
          </a:bodyPr>
          <a:lstStyle/>
          <a:p>
            <a:pPr marL="0" lvl="0" indent="0" algn="l">
              <a:lnSpc>
                <a:spcPct val="100000"/>
              </a:lnSpc>
              <a:spcBef>
                <a:spcPts val="0"/>
              </a:spcBef>
              <a:spcAft>
                <a:spcPts val="500"/>
              </a:spcAft>
              <a:buNone/>
              <a:defRPr lang="ru-RU" sz="2200" dirty="0">
                <a:solidFill>
                  <a:srgbClr val="181818"/>
                </a:solidFill>
                <a:latin typeface="Segoe UI"/>
                <a:ea typeface="Segoe UI"/>
                <a:cs typeface="Segoe UI"/>
              </a:defRPr>
            </a:pPr>
            <a:r>
              <a:rPr lang="ru-RU" sz="2200" dirty="0">
                <a:solidFill>
                  <a:srgbClr val="181818"/>
                </a:solidFill>
                <a:latin typeface="Segoe UI" panose="020B0502040204020203" pitchFamily="34" charset="0"/>
                <a:ea typeface="Segoe UI" panose="020B0606030504020204" pitchFamily="34" charset="0"/>
                <a:cs typeface="Segoe UI" panose="020B0502040204020203" pitchFamily="34" charset="0"/>
              </a:rPr>
              <a:t>Извлекаем связи и сохраняем документ-источник.</a:t>
            </a:r>
          </a:p>
          <a:p>
            <a:pPr marL="0" lvl="0" indent="0" algn="l">
              <a:lnSpc>
                <a:spcPct val="100000"/>
              </a:lnSpc>
              <a:spcBef>
                <a:spcPts val="0"/>
              </a:spcBef>
              <a:spcAft>
                <a:spcPts val="500"/>
              </a:spcAft>
              <a:buNone/>
              <a:defRPr lang="ru-RU" sz="2200" dirty="0">
                <a:solidFill>
                  <a:srgbClr val="181818"/>
                </a:solidFill>
                <a:latin typeface="Segoe UI"/>
                <a:ea typeface="Segoe UI"/>
                <a:cs typeface="Segoe UI"/>
              </a:defRPr>
            </a:pPr>
            <a:r>
              <a:rPr lang="ru-RU" sz="2200" dirty="0">
                <a:solidFill>
                  <a:srgbClr val="181818"/>
                </a:solidFill>
                <a:latin typeface="Segoe UI" panose="020B0502040204020203" pitchFamily="34" charset="0"/>
                <a:ea typeface="Segoe UI" panose="020B0606030504020204" pitchFamily="34" charset="0"/>
                <a:cs typeface="Segoe UI" panose="020B0502040204020203" pitchFamily="34" charset="0"/>
              </a:rPr>
              <a:t>По нему возвращаемся к исходному тексту.</a:t>
            </a:r>
          </a:p>
          <a:p>
            <a:pPr marL="0" lvl="0" indent="0" algn="l">
              <a:lnSpc>
                <a:spcPct val="100000"/>
              </a:lnSpc>
              <a:spcBef>
                <a:spcPts val="0"/>
              </a:spcBef>
              <a:spcAft>
                <a:spcPts val="0"/>
              </a:spcAft>
              <a:buFont typeface="Arial" panose="020B0604020202020204" pitchFamily="34" charset="0"/>
              <a:buNone/>
              <a:defRPr lang="ru-RU" sz="2200" dirty="0">
                <a:solidFill>
                  <a:srgbClr val="181818"/>
                </a:solidFill>
                <a:latin typeface="Segoe UI"/>
                <a:ea typeface="Segoe UI"/>
                <a:cs typeface="Segoe UI"/>
              </a:defRPr>
            </a:pPr>
            <a:r>
              <a:rPr lang="ru-RU" sz="2200" dirty="0">
                <a:solidFill>
                  <a:srgbClr val="181818"/>
                </a:solidFill>
                <a:latin typeface="Segoe UI" panose="020B0502040204020203" pitchFamily="34" charset="0"/>
                <a:ea typeface="Segoe UI" panose="020B0606030504020204" pitchFamily="34" charset="0"/>
                <a:cs typeface="Segoe UI" panose="020B0502040204020203" pitchFamily="34" charset="0"/>
              </a:rPr>
              <a:t>Качество извлечения нужно проверять.</a:t>
            </a:r>
          </a:p>
        </p:txBody>
      </p:sp>
    </p:spTree>
    <p:extLst>
      <p:ext uri="{BB962C8B-B14F-4D97-AF65-F5344CB8AC3E}">
        <p14:creationId xmlns:p14="http://schemas.microsoft.com/office/powerpoint/2010/main" val="2918353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PBU_SAMPLE_04_CLONE_003">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Задача: текст → отношения</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На входе английский текст о вредителях растений. Ответ состоит из троек «субъект, предикат, объект». Например, ToBRFV → Found_on → tomatoes: возбудитель обнаружен на растении.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Корпус:110 train +55 dev с разметкой;82 test без открытого эталона. Локально используем 165 размеченных документов.</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CSV содержит doc_id и knowledge_graph. Для каждого id нужен JSON-массив троек со строковыми subject, predicate, object. Если связей не выбрано, записывается []. Это не утверждение об отсутствии фактов в тексте.</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корпус; notebook, яч.9,34.</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5102670"/>
            <a:ext cx="5956889" cy="1210818"/>
          </a:xfrm>
        </p:spPr>
        <p:txBody>
          <a:bodyPr wrap="square" lIns="0" tIns="0" rIns="0" bIns="0" anchor="t">
            <a:noAutofit/>
          </a:bodyPr>
          <a:lstStyle/>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 разметке субъект и объект могут иметь несколько эквивалентных названий; прогноз использует одну строковую форму. Граф относится к конкретному документу.</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3</a:t>
            </a:fld>
            <a:endParaRPr lang="ru-RU" dirty="0"/>
          </a:p>
        </p:txBody>
      </p:sp>
      <p:graphicFrame>
        <p:nvGraphicFramePr>
          <p:cNvPr id="100" name="Семь типов сущностей"/>
          <p:cNvGraphicFramePr/>
          <p:nvPr/>
        </p:nvGraphicFramePr>
        <p:xfrm>
          <a:off x="6017623" y="1268413"/>
          <a:ext cx="5956889" cy="3705158"/>
        </p:xfrm>
        <a:graphic>
          <a:graphicData uri="http://schemas.openxmlformats.org/drawingml/2006/table">
            <a:tbl>
              <a:tblPr firstRow="1"/>
              <a:tblGrid>
                <a:gridCol w="2621031">
                  <a:extLst>
                    <a:ext uri="{9D8B030D-6E8A-4147-A177-3AD203B41FA5}">
                      <a16:colId xmlns:a16="http://schemas.microsoft.com/office/drawing/2014/main" val="20000"/>
                    </a:ext>
                  </a:extLst>
                </a:gridCol>
                <a:gridCol w="3335858">
                  <a:extLst>
                    <a:ext uri="{9D8B030D-6E8A-4147-A177-3AD203B41FA5}">
                      <a16:colId xmlns:a16="http://schemas.microsoft.com/office/drawing/2014/main" val="20001"/>
                    </a:ext>
                  </a:extLst>
                </a:gridCol>
              </a:tblGrid>
              <a:tr h="383003">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Тип</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Смысл в задаче</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extLst>
                  <a:ext uri="{0D108BD9-81ED-4DB2-BD59-A6C34878D82A}">
                    <a16:rowId xmlns:a16="http://schemas.microsoft.com/office/drawing/2014/main" val="10000"/>
                  </a:ext>
                </a:extLst>
              </a:tr>
              <a:tr h="65110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Pest</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вредитель или возбудитель</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38300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Plant</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растение-хозяин</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38300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Disease</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заболевание</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r h="44045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Vector</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организм-переносчик</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4"/>
                  </a:ext>
                </a:extLst>
              </a:tr>
              <a:tr h="38300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Location</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место</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5"/>
                  </a:ext>
                </a:extLst>
              </a:tr>
              <a:tr h="38300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Date</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дата или период</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6"/>
                  </a:ext>
                </a:extLst>
              </a:tr>
              <a:tr h="651106">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Dissemination_</a:t>
                      </a:r>
                    </a:p>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pathway</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путь распространения</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PBU_SAMPLE_04_CLONE_004">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Упоминание, концепт и граф</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Упоминание: фрагмент текста с типом и границами. Полное название вируса и ToBRFV встречаются в одном документе.</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Сущность: объект, который обозначает текст. Концепт в нашем коде: группа упоминаний, считающихся одной сущностью документа. Каноническая форма служит подписью.</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Граф знаний в определении книги: граф данных, потенциально дополненный схемой, идентичностью, контекстом, онтологиями или правилами. Реализация всех этих средств не обязательна.</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гл.3 с.25; §6.2 с.107–108 (PDF45,127–128).</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Pest: ToBRFV → Found_on → Plant: tomatoes</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Узлы представляют концепты; предикат подписывает направленное ребро. Перестановка концов меняет смысл.</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 NetworkX используется MultiDiGraph: направленный мультиграф допускает разные рёбра между одной парой узлов. У узла хранятся тип и подпись, у ребра предикат и документы-источники.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Одинаковая выбранная тройка не повторяется. Структура хранения сама не извлекает отношения и не подтверждает их истинность.</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§2.1 с.7–10 (PDF27–30); notebook, яч.24.</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4</a:t>
            </a:fld>
            <a:endParaRPr lang="ru-RU" dirty="0"/>
          </a:p>
        </p:txBody>
      </p:sp>
    </p:spTree>
    <p:extLst>
      <p:ext uri="{BB962C8B-B14F-4D97-AF65-F5344CB8AC3E}">
        <p14:creationId xmlns:p14="http://schemas.microsoft.com/office/powerpoint/2010/main" val="1818409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PBU_SAMPLE_04_CLONE_005">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Схема ограничивает </a:t>
            </a:r>
            <a:br>
              <a:rPr lang="ru-RU" sz="3200" dirty="0">
                <a:latin typeface="Segoe UI"/>
                <a:ea typeface="Segoe UI"/>
                <a:cs typeface="Segoe UI"/>
              </a:rPr>
            </a:br>
            <a:r>
              <a:rPr lang="ru-RU" sz="3200" dirty="0">
                <a:latin typeface="Segoe UI"/>
                <a:ea typeface="Segoe UI"/>
                <a:cs typeface="Segoe UI"/>
              </a:rPr>
              <a:t>допустимые связи</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5254022"/>
            <a:ext cx="5570492" cy="1059466"/>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Итого: 7 предикатов, 20 сигнатур.</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Сигнатура: предикат + тип субъекта + тип объекта.</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Примеры сигнатур:</a:t>
            </a:r>
          </a:p>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Pest → Causes → Disease</a:t>
            </a:r>
          </a:p>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Disease → Affects → Plant</a:t>
            </a:r>
          </a:p>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Vector → Transmits → Pest</a:t>
            </a:r>
          </a:p>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Pest → Located_in → Location</a:t>
            </a:r>
          </a:p>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Описание PestCLEF на Kaggle перечисляет 18 сочетаний. Ещё два поддержаны эталоном: Dissemination_pathway → Located_in → Location и → Occurs_on → Date.</a:t>
            </a:r>
          </a:p>
          <a:p>
            <a:pPr marL="0" lvl="0" indent="0" algn="l">
              <a:lnSpc>
                <a:spcPct val="100000"/>
              </a:lnSpc>
              <a:spcBef>
                <a:spcPts val="0"/>
              </a:spcBef>
              <a:spcAft>
                <a:spcPts val="3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 20 сочетаниям проверяются кандидаты и вставка рёбер. Проверочная схема задаёт допустимость типов, а не вывод новых фактов. Подходящие типы могут сопровождать неверную связь.</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яч.17,24; §3.1.2 с.27/PDF47.</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5</a:t>
            </a:fld>
            <a:endParaRPr lang="ru-RU" dirty="0"/>
          </a:p>
        </p:txBody>
      </p:sp>
      <p:graphicFrame>
        <p:nvGraphicFramePr>
          <p:cNvPr id="100" name="Семь предикатов / двадцать сигнатур"/>
          <p:cNvGraphicFramePr/>
          <p:nvPr/>
        </p:nvGraphicFramePr>
        <p:xfrm>
          <a:off x="238125" y="1268414"/>
          <a:ext cx="5570492" cy="3783806"/>
        </p:xfrm>
        <a:graphic>
          <a:graphicData uri="http://schemas.openxmlformats.org/drawingml/2006/table">
            <a:tbl>
              <a:tblPr firstRow="1"/>
              <a:tblGrid>
                <a:gridCol w="1726853">
                  <a:extLst>
                    <a:ext uri="{9D8B030D-6E8A-4147-A177-3AD203B41FA5}">
                      <a16:colId xmlns:a16="http://schemas.microsoft.com/office/drawing/2014/main" val="20000"/>
                    </a:ext>
                  </a:extLst>
                </a:gridCol>
                <a:gridCol w="2395312">
                  <a:extLst>
                    <a:ext uri="{9D8B030D-6E8A-4147-A177-3AD203B41FA5}">
                      <a16:colId xmlns:a16="http://schemas.microsoft.com/office/drawing/2014/main" val="20001"/>
                    </a:ext>
                  </a:extLst>
                </a:gridCol>
                <a:gridCol w="1448327">
                  <a:extLst>
                    <a:ext uri="{9D8B030D-6E8A-4147-A177-3AD203B41FA5}">
                      <a16:colId xmlns:a16="http://schemas.microsoft.com/office/drawing/2014/main" val="20002"/>
                    </a:ext>
                  </a:extLst>
                </a:gridCol>
              </a:tblGrid>
              <a:tr h="716932">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Предикат</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Русский смысл</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Число</a:t>
                      </a:r>
                      <a:endParaRPr lang="ru-RU" sz="2000" b="0" i="0" dirty="0">
                        <a:solidFill>
                          <a:srgbClr val="181818"/>
                        </a:solidFill>
                        <a:latin typeface="Segoe UI"/>
                        <a:ea typeface="Segoe UI"/>
                        <a:cs typeface="Segoe UI"/>
                      </a:endParaRPr>
                    </a:p>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сигнатур</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extLst>
                  <a:ext uri="{0D108BD9-81ED-4DB2-BD59-A6C34878D82A}">
                    <a16:rowId xmlns:a16="http://schemas.microsoft.com/office/drawing/2014/main" val="10000"/>
                  </a:ext>
                </a:extLst>
              </a:tr>
              <a:tr h="39829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Located_in</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расположен в</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39829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Occurs_on</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относится к дате</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39829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Found_on</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обнаружен на</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4</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r h="39829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Transmits</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переносит</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4"/>
                  </a:ext>
                </a:extLst>
              </a:tr>
              <a:tr h="677102">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Dispersed_by</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распространяется через</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5"/>
                  </a:ext>
                </a:extLst>
              </a:tr>
              <a:tr h="39829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Causes</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вызывает болезнь</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6"/>
                  </a:ext>
                </a:extLst>
              </a:tr>
              <a:tr h="398297">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Affects</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поражает растение</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PBU_SAMPLE_04_CLONE_006">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От текста к графу: шесть шагов</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endParaRP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NER распознаёт упоминания; объединение связывает формы; извлечение отношений оценивает пары концептов.</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Графовый слой повторно проверяет сигнатуры, убирает дубликаты, сохраняет документы-источники и поддерживает запросы.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Множество троек до и после графового слоя совпало. Отдельный прирост F1 от него не измерен; новые факты по правилам не выводятся.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Если отношение потеряно до кандидатов, граф его не восстановит. Если оно выбрано ошибочно, sources поможет проверить исходный текст.</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яч.11–24,31,33,39.</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6</a:t>
            </a:fld>
            <a:endParaRPr lang="ru-RU" dirty="0"/>
          </a:p>
        </p:txBody>
      </p:sp>
      <p:sp>
        <p:nvSpPr>
          <p:cNvPr id="100" name="native / 100"/>
          <p:cNvSpPr txBox="1"/>
          <p:nvPr/>
        </p:nvSpPr>
        <p:spPr>
          <a:xfrm>
            <a:off x="238125" y="1268414"/>
            <a:ext cx="5570492" cy="368290"/>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Текст документа</a:t>
            </a:r>
            <a:endParaRPr lang="ru-RU" sz="2000" b="0" i="0" dirty="0">
              <a:solidFill>
                <a:srgbClr val="181818"/>
              </a:solidFill>
              <a:latin typeface="Segoe UI"/>
              <a:ea typeface="Segoe UI"/>
              <a:cs typeface="Segoe UI"/>
            </a:endParaRPr>
          </a:p>
        </p:txBody>
      </p:sp>
      <p:cxnSp>
        <p:nvCxnSpPr>
          <p:cNvPr id="101" name="Текст → шаг 1"/>
          <p:cNvCxnSpPr/>
          <p:nvPr/>
        </p:nvCxnSpPr>
        <p:spPr>
          <a:xfrm>
            <a:off x="3023371" y="1648704"/>
            <a:ext cx="0" cy="263570"/>
          </a:xfrm>
          <a:prstGeom prst="line">
            <a:avLst/>
          </a:prstGeom>
          <a:ln w="16510">
            <a:solidFill>
              <a:srgbClr val="AF2C22"/>
            </a:solidFill>
            <a:prstDash val="solid"/>
            <a:headEnd type="none" w="med" len="med"/>
            <a:tailEnd type="triangle" w="med" len="med"/>
          </a:ln>
        </p:spPr>
      </p:cxnSp>
      <p:sp>
        <p:nvSpPr>
          <p:cNvPr id="102" name="Шесть шагов / 1"/>
          <p:cNvSpPr txBox="1"/>
          <p:nvPr/>
        </p:nvSpPr>
        <p:spPr>
          <a:xfrm>
            <a:off x="238125" y="1924274"/>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 CRF + словарь: упоминания и типы</a:t>
            </a:r>
          </a:p>
        </p:txBody>
      </p:sp>
      <p:cxnSp>
        <p:nvCxnSpPr>
          <p:cNvPr id="103" name="Шесть шагов / arrow 1"/>
          <p:cNvCxnSpPr>
            <a:stCxn id="102" idx="2"/>
            <a:endCxn id="104" idx="0"/>
          </p:cNvCxnSpPr>
          <p:nvPr/>
        </p:nvCxnSpPr>
        <p:spPr>
          <a:xfrm>
            <a:off x="3023371" y="2579908"/>
            <a:ext cx="0" cy="71082"/>
          </a:xfrm>
          <a:prstGeom prst="line">
            <a:avLst/>
          </a:prstGeom>
          <a:ln w="16510">
            <a:solidFill>
              <a:srgbClr val="AF2C22"/>
            </a:solidFill>
            <a:prstDash val="solid"/>
            <a:headEnd type="none" w="med" len="med"/>
            <a:tailEnd type="triangle" w="med" len="med"/>
          </a:ln>
        </p:spPr>
      </p:cxnSp>
      <p:sp>
        <p:nvSpPr>
          <p:cNvPr id="104" name="Шесть шагов / 2"/>
          <p:cNvSpPr txBox="1"/>
          <p:nvPr/>
        </p:nvSpPr>
        <p:spPr>
          <a:xfrm>
            <a:off x="238125" y="2675990"/>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2. Нормализация: концепты и формы</a:t>
            </a:r>
          </a:p>
        </p:txBody>
      </p:sp>
      <p:cxnSp>
        <p:nvCxnSpPr>
          <p:cNvPr id="105" name="Шесть шагов / arrow 2"/>
          <p:cNvCxnSpPr>
            <a:stCxn id="104" idx="2"/>
            <a:endCxn id="106" idx="0"/>
          </p:cNvCxnSpPr>
          <p:nvPr/>
        </p:nvCxnSpPr>
        <p:spPr>
          <a:xfrm>
            <a:off x="3023371" y="3331624"/>
            <a:ext cx="0" cy="71082"/>
          </a:xfrm>
          <a:prstGeom prst="line">
            <a:avLst/>
          </a:prstGeom>
          <a:ln w="16510">
            <a:solidFill>
              <a:srgbClr val="AF2C22"/>
            </a:solidFill>
            <a:prstDash val="solid"/>
            <a:headEnd type="none" w="med" len="med"/>
            <a:tailEnd type="triangle" w="med" len="med"/>
          </a:ln>
        </p:spPr>
      </p:cxnSp>
      <p:sp>
        <p:nvSpPr>
          <p:cNvPr id="106" name="Шесть шагов / 3"/>
          <p:cNvSpPr txBox="1"/>
          <p:nvPr/>
        </p:nvSpPr>
        <p:spPr>
          <a:xfrm>
            <a:off x="238125" y="3427706"/>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3. Схема + 154 признака: кандидаты</a:t>
            </a:r>
          </a:p>
        </p:txBody>
      </p:sp>
      <p:cxnSp>
        <p:nvCxnSpPr>
          <p:cNvPr id="107" name="Шесть шагов / arrow 3"/>
          <p:cNvCxnSpPr>
            <a:stCxn id="106" idx="2"/>
            <a:endCxn id="108" idx="0"/>
          </p:cNvCxnSpPr>
          <p:nvPr/>
        </p:nvCxnSpPr>
        <p:spPr>
          <a:xfrm>
            <a:off x="3023371" y="4083340"/>
            <a:ext cx="0" cy="71082"/>
          </a:xfrm>
          <a:prstGeom prst="line">
            <a:avLst/>
          </a:prstGeom>
          <a:ln w="16510">
            <a:solidFill>
              <a:srgbClr val="AF2C22"/>
            </a:solidFill>
            <a:prstDash val="solid"/>
            <a:headEnd type="none" w="med" len="med"/>
            <a:tailEnd type="triangle" w="med" len="med"/>
          </a:ln>
        </p:spPr>
      </p:cxnSp>
      <p:sp>
        <p:nvSpPr>
          <p:cNvPr id="108" name="Шесть шагов / 4"/>
          <p:cNvSpPr txBox="1"/>
          <p:nvPr/>
        </p:nvSpPr>
        <p:spPr>
          <a:xfrm>
            <a:off x="238125" y="4179422"/>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4. LightGBM + отбор: выбранные тройки</a:t>
            </a:r>
          </a:p>
        </p:txBody>
      </p:sp>
      <p:cxnSp>
        <p:nvCxnSpPr>
          <p:cNvPr id="109" name="Шесть шагов / arrow 4"/>
          <p:cNvCxnSpPr>
            <a:stCxn id="108" idx="2"/>
            <a:endCxn id="110" idx="0"/>
          </p:cNvCxnSpPr>
          <p:nvPr/>
        </p:nvCxnSpPr>
        <p:spPr>
          <a:xfrm>
            <a:off x="3023371" y="4835056"/>
            <a:ext cx="0" cy="71082"/>
          </a:xfrm>
          <a:prstGeom prst="line">
            <a:avLst/>
          </a:prstGeom>
          <a:ln w="16510">
            <a:solidFill>
              <a:srgbClr val="AF2C22"/>
            </a:solidFill>
            <a:prstDash val="solid"/>
            <a:headEnd type="none" w="med" len="med"/>
            <a:tailEnd type="triangle" w="med" len="med"/>
          </a:ln>
        </p:spPr>
      </p:cxnSp>
      <p:sp>
        <p:nvSpPr>
          <p:cNvPr id="110" name="Шесть шагов / 5"/>
          <p:cNvSpPr txBox="1"/>
          <p:nvPr/>
        </p:nvSpPr>
        <p:spPr>
          <a:xfrm>
            <a:off x="238125" y="4931138"/>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 MultiDiGraph: типы и источники</a:t>
            </a:r>
          </a:p>
        </p:txBody>
      </p:sp>
      <p:cxnSp>
        <p:nvCxnSpPr>
          <p:cNvPr id="111" name="Шесть шагов / arrow 5"/>
          <p:cNvCxnSpPr>
            <a:stCxn id="110" idx="2"/>
            <a:endCxn id="112" idx="0"/>
          </p:cNvCxnSpPr>
          <p:nvPr/>
        </p:nvCxnSpPr>
        <p:spPr>
          <a:xfrm>
            <a:off x="3023371" y="5586772"/>
            <a:ext cx="0" cy="71082"/>
          </a:xfrm>
          <a:prstGeom prst="line">
            <a:avLst/>
          </a:prstGeom>
          <a:ln w="16510">
            <a:solidFill>
              <a:srgbClr val="AF2C22"/>
            </a:solidFill>
            <a:prstDash val="solid"/>
            <a:headEnd type="none" w="med" len="med"/>
            <a:tailEnd type="triangle" w="med" len="med"/>
          </a:ln>
        </p:spPr>
      </p:cxnSp>
      <p:sp>
        <p:nvSpPr>
          <p:cNvPr id="112" name="Шесть шагов / 6"/>
          <p:cNvSpPr txBox="1"/>
          <p:nvPr/>
        </p:nvSpPr>
        <p:spPr>
          <a:xfrm>
            <a:off x="238125" y="5682854"/>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6. CSV для Kaggle; GraphML для хранения</a:t>
            </a:r>
          </a:p>
        </p:txBody>
      </p:sp>
    </p:spTree>
    <p:extLst>
      <p:ext uri="{BB962C8B-B14F-4D97-AF65-F5344CB8AC3E}">
        <p14:creationId xmlns:p14="http://schemas.microsoft.com/office/powerpoint/2010/main" val="1818409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PBU_SAMPLE_04_CLONE_007">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CRF и словарь находят упоминания</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NER распознаёт упоминания именованных сущностей: тип и символьные границы в тексте.</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CRF, условное случайное поле, предсказывает последовательность BIO-меток: B начинает упоминание, I продолжает, O обозначает прочий текст.</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Признаки: написание и регистр, форма слова, префиксы/суффиксы, признаки даты/места, соседние токены и обучающий словарь. Контекст помогает выбрать совместимую последовательность меток.</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яч.11,13; §6.2.2 с.107/PDF127.</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Два применения словаря: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1. Признак CRF: поиск известных последовательностей слева направо, с приоритетом самого длинного совпадения.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2. После CRF: добавление надёжных знакомых форм отдельным словарём.</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При объединении CRF имеет приоритет. Словарные добавления идут от длинных к коротким и не пересекают занятые границы.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Словари строятся из разрешённой обучающей разметки. Новая форма или неверная граница может привести к пропуску сущности и отношений.</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яч.15,26.</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7</a:t>
            </a:fld>
            <a:endParaRPr lang="ru-RU" dirty="0"/>
          </a:p>
        </p:txBody>
      </p:sp>
    </p:spTree>
    <p:extLst>
      <p:ext uri="{BB962C8B-B14F-4D97-AF65-F5344CB8AC3E}">
        <p14:creationId xmlns:p14="http://schemas.microsoft.com/office/powerpoint/2010/main" val="1818409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PBU_SAMPLE_04_CLONE_008">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Идентичность отделена от подписи</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749515"/>
            <a:ext cx="5570492" cy="1563973"/>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Выбирается самая частая форма; при равенстве первая по позиции. Сокращение наследует идентификатор раскрытой формы.</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walkthrough.json, concepts[0].</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Ключ концепта: тип и пара resource/reference из обучающей нормализации. Одинаковые номера разных ресурсов не равны.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Без ссылки используется нормализованная форма. Шаблон «полное название (сокращение)» связывает варианты; одинаковые строки разных типов остаются разными концептами.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Но id экспортируемого графа проще: тип + нормализованная каноническая строка. Внешняя идентичность полностью не сохраняется. Возможны раздельные алиасы и слитые омонимы; полного междокументного разрешения нет.</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яч.17,24,37; §3.2 с.35–37/PDF55–57.</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8</a:t>
            </a:fld>
            <a:endParaRPr lang="ru-RU" dirty="0"/>
          </a:p>
        </p:txBody>
      </p:sp>
      <p:sp>
        <p:nvSpPr>
          <p:cNvPr id="100" name="native / 100"/>
          <p:cNvSpPr txBox="1"/>
          <p:nvPr/>
        </p:nvSpPr>
        <p:spPr>
          <a:xfrm>
            <a:off x="238125" y="1268414"/>
            <a:ext cx="5570492" cy="327930"/>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Документ 104650: один концепт Pest</a:t>
            </a:r>
            <a:endParaRPr lang="ru-RU" sz="2000" b="0" i="0" dirty="0">
              <a:solidFill>
                <a:srgbClr val="181818"/>
              </a:solidFill>
              <a:latin typeface="Segoe UI"/>
              <a:ea typeface="Segoe UI"/>
              <a:cs typeface="Segoe UI"/>
            </a:endParaRPr>
          </a:p>
        </p:txBody>
      </p:sp>
      <p:sp>
        <p:nvSpPr>
          <p:cNvPr id="101" name="native / 101"/>
          <p:cNvSpPr txBox="1"/>
          <p:nvPr/>
        </p:nvSpPr>
        <p:spPr>
          <a:xfrm>
            <a:off x="304971" y="1722471"/>
            <a:ext cx="1723139" cy="1135142"/>
          </a:xfrm>
          <a:prstGeom prst="rect">
            <a:avLst/>
          </a:prstGeom>
          <a:solidFill>
            <a:srgbClr val="FBF9F7"/>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Tomato Brown</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Rugose Fruit</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Virus:</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 упоминаний</a:t>
            </a:r>
          </a:p>
        </p:txBody>
      </p:sp>
      <p:sp>
        <p:nvSpPr>
          <p:cNvPr id="102" name="native / 102"/>
          <p:cNvSpPr txBox="1"/>
          <p:nvPr/>
        </p:nvSpPr>
        <p:spPr>
          <a:xfrm>
            <a:off x="2161802" y="1722471"/>
            <a:ext cx="1723139" cy="1135142"/>
          </a:xfrm>
          <a:prstGeom prst="rect">
            <a:avLst/>
          </a:prstGeom>
          <a:solidFill>
            <a:srgbClr val="FBF9F7"/>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Tomato brown</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rugose fruit</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virus:</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a:t>
            </a:r>
          </a:p>
        </p:txBody>
      </p:sp>
      <p:sp>
        <p:nvSpPr>
          <p:cNvPr id="103" name="native / 103"/>
          <p:cNvSpPr txBox="1"/>
          <p:nvPr/>
        </p:nvSpPr>
        <p:spPr>
          <a:xfrm>
            <a:off x="4018632" y="1722471"/>
            <a:ext cx="1723139" cy="1135142"/>
          </a:xfrm>
          <a:prstGeom prst="rect">
            <a:avLst/>
          </a:prstGeom>
          <a:solidFill>
            <a:srgbClr val="FBF9F7"/>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ToBRFV:</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13</a:t>
            </a:r>
          </a:p>
        </p:txBody>
      </p:sp>
      <p:sp>
        <p:nvSpPr>
          <p:cNvPr id="104" name="native / 104"/>
          <p:cNvSpPr txBox="1"/>
          <p:nvPr/>
        </p:nvSpPr>
        <p:spPr>
          <a:xfrm>
            <a:off x="516650" y="3210767"/>
            <a:ext cx="5013443" cy="665950"/>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Общая нормализация:</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NCBI_Taxonomy : 1761477</a:t>
            </a:r>
          </a:p>
        </p:txBody>
      </p:sp>
      <p:cxnSp>
        <p:nvCxnSpPr>
          <p:cNvPr id="105" name="Форма → общая нормализация"/>
          <p:cNvCxnSpPr/>
          <p:nvPr/>
        </p:nvCxnSpPr>
        <p:spPr>
          <a:xfrm>
            <a:off x="1166540" y="2869613"/>
            <a:ext cx="1856831" cy="329154"/>
          </a:xfrm>
          <a:prstGeom prst="line">
            <a:avLst/>
          </a:prstGeom>
          <a:ln w="16510">
            <a:solidFill>
              <a:srgbClr val="AF2C22"/>
            </a:solidFill>
            <a:prstDash val="solid"/>
            <a:headEnd type="none" w="med" len="med"/>
            <a:tailEnd type="triangle" w="med" len="med"/>
          </a:ln>
        </p:spPr>
      </p:cxnSp>
      <p:cxnSp>
        <p:nvCxnSpPr>
          <p:cNvPr id="106" name="Форма → общая нормализация"/>
          <p:cNvCxnSpPr/>
          <p:nvPr/>
        </p:nvCxnSpPr>
        <p:spPr>
          <a:xfrm>
            <a:off x="3023371" y="2869613"/>
            <a:ext cx="0" cy="329154"/>
          </a:xfrm>
          <a:prstGeom prst="line">
            <a:avLst/>
          </a:prstGeom>
          <a:ln w="16510">
            <a:solidFill>
              <a:srgbClr val="AF2C22"/>
            </a:solidFill>
            <a:prstDash val="solid"/>
            <a:headEnd type="none" w="med" len="med"/>
            <a:tailEnd type="triangle" w="med" len="med"/>
          </a:ln>
        </p:spPr>
      </p:cxnSp>
      <p:cxnSp>
        <p:nvCxnSpPr>
          <p:cNvPr id="107" name="Форма → общая нормализация"/>
          <p:cNvCxnSpPr/>
          <p:nvPr/>
        </p:nvCxnSpPr>
        <p:spPr>
          <a:xfrm flipH="1">
            <a:off x="3023371" y="2869613"/>
            <a:ext cx="1856830" cy="329154"/>
          </a:xfrm>
          <a:prstGeom prst="line">
            <a:avLst/>
          </a:prstGeom>
          <a:ln w="16510">
            <a:solidFill>
              <a:srgbClr val="AF2C22"/>
            </a:solidFill>
            <a:prstDash val="solid"/>
            <a:headEnd type="none" w="med" len="med"/>
            <a:tailEnd type="triangle" w="med" len="med"/>
          </a:ln>
        </p:spPr>
      </p:cxnSp>
      <p:sp>
        <p:nvSpPr>
          <p:cNvPr id="108" name="native / 108"/>
          <p:cNvSpPr txBox="1"/>
          <p:nvPr/>
        </p:nvSpPr>
        <p:spPr>
          <a:xfrm>
            <a:off x="238125" y="4169332"/>
            <a:ext cx="5570492" cy="443967"/>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19 упоминаний; подпись ToBRFV</a:t>
            </a:r>
            <a:endParaRPr lang="ru-RU" sz="2000" b="0" i="0" dirty="0">
              <a:solidFill>
                <a:srgbClr val="181818"/>
              </a:solidFill>
              <a:latin typeface="Segoe UI"/>
              <a:ea typeface="Segoe UI"/>
              <a:cs typeface="Segoe UI"/>
            </a:endParaRPr>
          </a:p>
        </p:txBody>
      </p:sp>
      <p:cxnSp>
        <p:nvCxnSpPr>
          <p:cNvPr id="109" name="Нормализация → подпись"/>
          <p:cNvCxnSpPr/>
          <p:nvPr/>
        </p:nvCxnSpPr>
        <p:spPr>
          <a:xfrm flipH="1">
            <a:off x="3023371" y="3888717"/>
            <a:ext cx="1" cy="268615"/>
          </a:xfrm>
          <a:prstGeom prst="line">
            <a:avLst/>
          </a:prstGeom>
          <a:ln w="16510">
            <a:solidFill>
              <a:srgbClr val="AF2C22"/>
            </a:solidFill>
            <a:prstDash val="solid"/>
            <a:headEnd type="none" w="med" len="med"/>
            <a:tailEnd type="triangle" w="med" len="med"/>
          </a:ln>
        </p:spPr>
      </p:cxnSp>
    </p:spTree>
    <p:extLst>
      <p:ext uri="{BB962C8B-B14F-4D97-AF65-F5344CB8AC3E}">
        <p14:creationId xmlns:p14="http://schemas.microsoft.com/office/powerpoint/2010/main" val="181840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PBU_SAMPLE_04_CLONE_009">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154 признака описывают кандидата</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2850467"/>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Кандидат: одна направленная тройка концептов (субъект, предикат, объект), ещё не выбранная в ответ.</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Для каждой из 20 сигнатур перебираются все пары концептов подходящих типов. Каждая допустимая тройка получает один вектор.</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Итого 154; индикаторы слов бинарные.</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candidates, notebook, яч.19,22.</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Из всех пар упоминаний выбирается ближайшая по начальным позициям. Слова берутся из первых 300 символов между ними и 60 символов снаружи. Расстояния по предложениям/абзацам отдельно минимизируются по всем парам.</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pair_prior считает обучающие отношения с той же парой форм и предикатом. Из обучающих признаков вычитается вклад документа. Это счётчик, не вероятность или правило.</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LightGBM — бинарный классификатор,250 раундов бустинга деревьев. При обучении y=1, если предикат и нормализованные формы концов совпадают с эталонной связью; иначе y=0. Выход p оценивает совпадение кандидата с разметкой; отдельный отбор определяет включение связи.</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яч.17,19,22,29.</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9</a:t>
            </a:fld>
            <a:endParaRPr lang="ru-RU" dirty="0"/>
          </a:p>
        </p:txBody>
      </p:sp>
      <p:graphicFrame>
        <p:nvGraphicFramePr>
          <p:cNvPr id="100" name="Группы признаков 30 + 62 + 62"/>
          <p:cNvGraphicFramePr/>
          <p:nvPr/>
        </p:nvGraphicFramePr>
        <p:xfrm>
          <a:off x="238125" y="4245008"/>
          <a:ext cx="5570492" cy="2068480"/>
        </p:xfrm>
        <a:graphic>
          <a:graphicData uri="http://schemas.openxmlformats.org/drawingml/2006/table">
            <a:tbl>
              <a:tblPr firstRow="1"/>
              <a:tblGrid>
                <a:gridCol w="4567803">
                  <a:extLst>
                    <a:ext uri="{9D8B030D-6E8A-4147-A177-3AD203B41FA5}">
                      <a16:colId xmlns:a16="http://schemas.microsoft.com/office/drawing/2014/main" val="20000"/>
                    </a:ext>
                  </a:extLst>
                </a:gridCol>
                <a:gridCol w="1002689">
                  <a:extLst>
                    <a:ext uri="{9D8B030D-6E8A-4147-A177-3AD203B41FA5}">
                      <a16:colId xmlns:a16="http://schemas.microsoft.com/office/drawing/2014/main" val="20001"/>
                    </a:ext>
                  </a:extLst>
                </a:gridCol>
              </a:tblGrid>
              <a:tr h="383052">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Группа признаков</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Число</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extLst>
                  <a:ext uri="{0D108BD9-81ED-4DB2-BD59-A6C34878D82A}">
                    <a16:rowId xmlns:a16="http://schemas.microsoft.com/office/drawing/2014/main" val="10000"/>
                  </a:ext>
                </a:extLst>
              </a:tr>
              <a:tr h="68949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Базовые: типы, частоты, позиции, расстояния</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30</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497967">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Слова между упоминаниями</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62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497968">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Слова во внешнем контексте</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62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PBU_SAMPLE_04_CLONE_010">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От оценки кандидата к набору связей</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169332"/>
            <a:ext cx="5570492" cy="2144156"/>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G оценивает число эталонных связей; Σp суммирует оценки всех кандидатов документа. Выбирается k с наибольшей F̂1.</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rho = 0.7 изменяет G и размер выбранного набора. Это не порог отдельного ребра.</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select, яч.21.</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empty_t=0.3 проверяет документ: если максимальная оценка ниже 0.3, ответ пуст.</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Поштучного удаления всех рёбер ниже 0.3 нет: такой кандидат может войти в выбранную верхнюю часть списка, если документ прошёл проверку.</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Процедура приближённая: неизвестный эталон не используется. Калибровка оценок как вероятности биологической истинности не измерена.</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rho и empty_t сохранены при сравнении и не подбирались на внешних проверочных прогнозах.</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яч.21,29; quality.json, settings.</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10</a:t>
            </a:fld>
            <a:endParaRPr lang="ru-RU" dirty="0"/>
          </a:p>
        </p:txBody>
      </p:sp>
      <p:sp>
        <p:nvSpPr>
          <p:cNvPr id="100" name="native / 100"/>
          <p:cNvSpPr txBox="1"/>
          <p:nvPr/>
        </p:nvSpPr>
        <p:spPr>
          <a:xfrm>
            <a:off x="238125" y="1268414"/>
            <a:ext cx="5570492" cy="630634"/>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Кандидаты сортируются по оценке p.</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Для первых k кандидатов:</a:t>
            </a:r>
          </a:p>
        </p:txBody>
      </p:sp>
      <mc:AlternateContent xmlns:mc="http://schemas.openxmlformats.org/markup-compatibility/2006" xmlns:a14="http://schemas.microsoft.com/office/drawing/2010/main">
        <mc:Choice Requires="a14">
          <p:sp>
            <p:nvSpPr>
              <p:cNvPr id="101" name="G / число эталонных связей"/>
              <p:cNvSpPr txBox="1"/>
              <p:nvPr/>
            </p:nvSpPr>
            <p:spPr>
              <a:xfrm>
                <a:off x="238125" y="1999950"/>
                <a:ext cx="5570492" cy="908113"/>
              </a:xfrm>
              <a:prstGeom prst="rect">
                <a:avLst/>
              </a:prstGeom>
              <a:noFill/>
              <a:ln w="10160">
                <a:noFill/>
              </a:ln>
            </p:spPr>
            <p:txBody>
              <a:bodyPr wrap="square" lIns="0" tIns="0" rIns="0" bIns="0" anchor="ctr">
                <a:noAutofit/>
              </a:bodyPr>
              <a:lstStyle/>
              <a:p>
                <a:pPr algn="l">
                  <a:buNone/>
                </a:pPr>
                <a14:m>
                  <m:oMathPara xmlns:m="http://schemas.openxmlformats.org/officeDocument/2006/math">
                    <m:oMathParaPr>
                      <m:jc m:val="left"/>
                    </m:oMathParaPr>
                    <m:oMath xmlns:m="http://schemas.openxmlformats.org/officeDocument/2006/math">
                      <m:r>
                        <a:rPr lang="ru-RU" sz="2600" b="0" i="1" dirty="0">
                          <a:solidFill>
                            <a:srgbClr val="181818"/>
                          </a:solidFill>
                          <a:latin typeface="Cambria Math"/>
                          <a:ea typeface="Cambria Math"/>
                          <a:cs typeface="Cambria Math"/>
                        </a:rPr>
                        <m:t>𝐺</m:t>
                      </m:r>
                      <m:r>
                        <a:rPr lang="ru-RU" sz="2600" b="0" i="0" dirty="0">
                          <a:solidFill>
                            <a:srgbClr val="181818"/>
                          </a:solidFill>
                          <a:latin typeface="Cambria Math"/>
                          <a:ea typeface="Cambria Math"/>
                          <a:cs typeface="Cambria Math"/>
                        </a:rPr>
                        <m:t> = </m:t>
                      </m:r>
                      <m:r>
                        <m:rPr>
                          <m:sty m:val="p"/>
                        </m:rPr>
                        <a:rPr lang="ru-RU" sz="2600" b="0" i="0" dirty="0">
                          <a:solidFill>
                            <a:srgbClr val="181818"/>
                          </a:solidFill>
                          <a:latin typeface="Cambria Math"/>
                          <a:ea typeface="Cambria Math"/>
                          <a:cs typeface="Cambria Math"/>
                        </a:rPr>
                        <m:t>max</m:t>
                      </m:r>
                      <m:d>
                        <m:dPr>
                          <m:ctrlPr>
                            <a:rPr lang="ru-RU" sz="2600" b="0" i="1" dirty="0">
                              <a:solidFill>
                                <a:srgbClr val="181818"/>
                              </a:solidFill>
                              <a:latin typeface="Cambria Math" panose="02040503050406030204" pitchFamily="18" charset="0"/>
                              <a:ea typeface="Cambria Math"/>
                              <a:cs typeface="Cambria Math"/>
                            </a:rPr>
                          </m:ctrlPr>
                        </m:dPr>
                        <m:e>
                          <m:r>
                            <a:rPr lang="ru-RU" sz="2600" b="0" i="0" dirty="0">
                              <a:solidFill>
                                <a:srgbClr val="181818"/>
                              </a:solidFill>
                              <a:latin typeface="Cambria Math"/>
                              <a:ea typeface="Cambria Math"/>
                              <a:cs typeface="Cambria Math"/>
                            </a:rPr>
                            <m:t>1, </m:t>
                          </m:r>
                          <m:f>
                            <m:fPr>
                              <m:ctrlPr>
                                <a:rPr lang="ru-RU" sz="2600" b="0" i="1" dirty="0">
                                  <a:solidFill>
                                    <a:srgbClr val="181818"/>
                                  </a:solidFill>
                                  <a:latin typeface="Cambria Math" panose="02040503050406030204" pitchFamily="18" charset="0"/>
                                  <a:ea typeface="Cambria Math"/>
                                  <a:cs typeface="Cambria Math"/>
                                </a:rPr>
                              </m:ctrlPr>
                            </m:fPr>
                            <m:num>
                              <m:nary>
                                <m:naryPr>
                                  <m:chr m:val="∑"/>
                                  <m:limLoc m:val="subSup"/>
                                  <m:ctrlPr>
                                    <a:rPr lang="ru-RU" sz="2600" b="0" i="1" dirty="0">
                                      <a:solidFill>
                                        <a:srgbClr val="181818"/>
                                      </a:solidFill>
                                      <a:latin typeface="Cambria Math" panose="02040503050406030204" pitchFamily="18" charset="0"/>
                                      <a:ea typeface="Cambria Math"/>
                                      <a:cs typeface="Cambria Math"/>
                                    </a:rPr>
                                  </m:ctrlPr>
                                </m:naryPr>
                                <m:sub/>
                                <m:sup/>
                                <m:e>
                                  <m:r>
                                    <a:rPr lang="ru-RU" sz="2600" b="0" i="1" dirty="0">
                                      <a:solidFill>
                                        <a:srgbClr val="181818"/>
                                      </a:solidFill>
                                      <a:latin typeface="Cambria Math"/>
                                      <a:ea typeface="Cambria Math"/>
                                      <a:cs typeface="Cambria Math"/>
                                    </a:rPr>
                                    <m:t>𝑝</m:t>
                                  </m:r>
                                </m:e>
                              </m:nary>
                            </m:num>
                            <m:den>
                              <m:r>
                                <a:rPr lang="ru-RU" sz="2600" b="0" i="1" dirty="0">
                                  <a:solidFill>
                                    <a:srgbClr val="181818"/>
                                  </a:solidFill>
                                  <a:latin typeface="Cambria Math"/>
                                  <a:ea typeface="Cambria Math"/>
                                  <a:cs typeface="Cambria Math"/>
                                </a:rPr>
                                <m:t>𝜌</m:t>
                              </m:r>
                            </m:den>
                          </m:f>
                        </m:e>
                      </m:d>
                    </m:oMath>
                  </m:oMathPara>
                </a14:m>
                <a:endParaRPr lang="ru-RU" sz="2600" b="0" i="0" dirty="0">
                  <a:solidFill>
                    <a:srgbClr val="181818"/>
                  </a:solidFill>
                  <a:latin typeface="Cambria Math"/>
                  <a:ea typeface="Cambria Math"/>
                  <a:cs typeface="Cambria Math"/>
                </a:endParaRPr>
              </a:p>
            </p:txBody>
          </p:sp>
        </mc:Choice>
        <mc:Fallback xmlns:m="http://schemas.openxmlformats.org/officeDocument/2006/math" xmlns="">
          <p:sp xmlns:p="http://schemas.openxmlformats.org/presentationml/2006/main" xmlns:a="http://schemas.openxmlformats.org/drawingml/2006/main">
            <p:nvSpPr>
              <p:cNvPr id="100101000" name="G / число эталонных связей / native math text"/>
              <p:cNvSpPr txBox="1"/>
              <p:nvPr/>
            </p:nvSpPr>
            <p:spPr>
              <a:xfrm>
                <a:off x="238125" y="1999950"/>
                <a:ext cx="1828800" cy="908113"/>
              </a:xfrm>
              <a:prstGeom prst="rect">
                <a:avLst/>
              </a:prstGeom>
              <a:noFill/>
              <a:ln w="10160">
                <a:noFill/>
              </a:ln>
            </p:spPr>
            <p:txBody>
              <a:bodyPr wrap="none" lIns="0" rIns="0" tIns="0" bIns="0" anchor="ctr">
                <a:noAutofit/>
              </a:bodyPr>
              <a:lstStyle/>
              <a:p>
                <a:pPr algn="l" marL="0" indent="0">
                  <a:lnSpc>
                    <a:spcPct val="100000"/>
                  </a:lnSpc>
                  <a:spcAft>
                    <a:spcPts val="0"/>
                  </a:spcAft>
                  <a:buNone/>
                  <a:defRPr lang="ru-RU" sz="2600" b="0" i="0" dirty="0">
                    <a:solidFill>
                      <a:srgbClr val="181818"/>
                    </a:solidFill>
                    <a:latin typeface="Cambria Math"/>
                    <a:ea typeface="Cambria Math"/>
                    <a:cs typeface="Cambria Math"/>
                  </a:defRPr>
                </a:pPr>
                <a:r>
                  <a:rPr lang="ru-RU" sz="2600" b="0" i="0" dirty="0">
                    <a:solidFill>
                      <a:srgbClr val="181818"/>
                    </a:solidFill>
                    <a:latin typeface="Cambria Math"/>
                    <a:ea typeface="Cambria Math"/>
                    <a:cs typeface="Cambria Math"/>
                  </a:rPr>
                  <a:t>G = max(1,</a:t>
                </a:r>
                <a:endParaRPr lang="ru-RU" sz="26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1001" name="G / число эталонных связей / native math text"/>
              <p:cNvSpPr txBox="1"/>
              <p:nvPr/>
            </p:nvSpPr>
            <p:spPr>
              <a:xfrm>
                <a:off x="2066925" y="2009031"/>
                <a:ext cx="1143000" cy="404110"/>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300" b="0" i="0" dirty="0">
                    <a:solidFill>
                      <a:srgbClr val="181818"/>
                    </a:solidFill>
                    <a:latin typeface="Cambria Math"/>
                    <a:ea typeface="Cambria Math"/>
                    <a:cs typeface="Cambria Math"/>
                  </a:defRPr>
                </a:pPr>
                <a:r>
                  <a:rPr lang="ru-RU" sz="2300" b="0" i="0" dirty="0">
                    <a:solidFill>
                      <a:srgbClr val="181818"/>
                    </a:solidFill>
                    <a:latin typeface="Cambria Math"/>
                    <a:ea typeface="Cambria Math"/>
                    <a:cs typeface="Cambria Math"/>
                  </a:rPr>
                  <a:t>∑ p</a:t>
                </a:r>
                <a:endParaRPr lang="ru-RU" sz="23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1002" name="G / число эталонных связей / native math rule"/>
              <p:cNvSpPr txBox="0"/>
              <p:nvPr/>
            </p:nvSpPr>
            <p:spPr>
              <a:xfrm flipH="0" flipV="0">
                <a:off x="2066925" y="2454006"/>
                <a:ext cx="1143000" cy="0"/>
              </a:xfrm>
              <a:prstGeom prst="line">
                <a:avLst/>
              </a:prstGeom>
              <a:ln w="12700">
                <a:solidFill>
                  <a:srgbClr val="181818"/>
                </a:solidFill>
              </a:ln>
            </p:spPr>
          </p:sp>
          <p:sp xmlns:p="http://schemas.openxmlformats.org/presentationml/2006/main" xmlns:a="http://schemas.openxmlformats.org/drawingml/2006/main">
            <p:nvSpPr>
              <p:cNvPr id="100101003" name="G / число эталонных связей / native math text"/>
              <p:cNvSpPr txBox="1"/>
              <p:nvPr/>
            </p:nvSpPr>
            <p:spPr>
              <a:xfrm>
                <a:off x="2066925" y="2499412"/>
                <a:ext cx="1143000" cy="399570"/>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300" b="0" i="0" dirty="0">
                    <a:solidFill>
                      <a:srgbClr val="181818"/>
                    </a:solidFill>
                    <a:latin typeface="Cambria Math"/>
                    <a:ea typeface="Cambria Math"/>
                    <a:cs typeface="Cambria Math"/>
                  </a:defRPr>
                </a:pPr>
                <a:r>
                  <a:rPr lang="ru-RU" sz="2300" b="0" i="0" dirty="0">
                    <a:solidFill>
                      <a:srgbClr val="181818"/>
                    </a:solidFill>
                    <a:latin typeface="Cambria Math"/>
                    <a:ea typeface="Cambria Math"/>
                    <a:cs typeface="Cambria Math"/>
                  </a:rPr>
                  <a:t>ρ</a:t>
                </a:r>
                <a:endParaRPr lang="ru-RU" sz="23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1004" name="G / число эталонных связей / native math text"/>
              <p:cNvSpPr txBox="1"/>
              <p:nvPr/>
            </p:nvSpPr>
            <p:spPr>
              <a:xfrm>
                <a:off x="3264789" y="1999950"/>
                <a:ext cx="256032" cy="908113"/>
              </a:xfrm>
              <a:prstGeom prst="rect">
                <a:avLst/>
              </a:prstGeom>
              <a:noFill/>
              <a:ln w="10160">
                <a:noFill/>
              </a:ln>
            </p:spPr>
            <p:txBody>
              <a:bodyPr wrap="none" lIns="0" rIns="0" tIns="0" bIns="0" anchor="ctr">
                <a:noAutofit/>
              </a:bodyPr>
              <a:lstStyle/>
              <a:p>
                <a:pPr algn="l" marL="0" indent="0">
                  <a:lnSpc>
                    <a:spcPct val="100000"/>
                  </a:lnSpc>
                  <a:spcAft>
                    <a:spcPts val="0"/>
                  </a:spcAft>
                  <a:buNone/>
                  <a:defRPr lang="ru-RU" sz="2600" b="0" i="0" dirty="0">
                    <a:solidFill>
                      <a:srgbClr val="181818"/>
                    </a:solidFill>
                    <a:latin typeface="Cambria Math"/>
                    <a:ea typeface="Cambria Math"/>
                    <a:cs typeface="Cambria Math"/>
                  </a:defRPr>
                </a:pPr>
                <a:r>
                  <a:rPr lang="ru-RU" sz="2600" b="0" i="0" dirty="0">
                    <a:solidFill>
                      <a:srgbClr val="181818"/>
                    </a:solidFill>
                    <a:latin typeface="Cambria Math"/>
                    <a:ea typeface="Cambria Math"/>
                    <a:cs typeface="Cambria Math"/>
                  </a:rPr>
                  <a:t>)</a:t>
                </a:r>
                <a:endParaRPr lang="ru-RU" sz="2600" b="0" i="0" dirty="0">
                  <a:solidFill>
                    <a:srgbClr val="181818"/>
                  </a:solidFill>
                  <a:latin typeface="Cambria Math"/>
                  <a:ea typeface="Cambria Math"/>
                  <a:cs typeface="Cambria Math"/>
                </a:endParaRPr>
              </a:p>
            </p:txBody>
          </p:sp>
        </mc:Fallback>
      </mc:AlternateContent>
      <mc:AlternateContent xmlns:mc="http://schemas.openxmlformats.org/markup-compatibility/2006" xmlns:a14="http://schemas.microsoft.com/office/drawing/2010/main">
        <mc:Choice Requires="a14">
          <p:sp>
            <p:nvSpPr>
              <p:cNvPr id="102" name="Ожидаемая F1 первых k"/>
              <p:cNvSpPr txBox="1"/>
              <p:nvPr/>
            </p:nvSpPr>
            <p:spPr>
              <a:xfrm>
                <a:off x="238125" y="3008965"/>
                <a:ext cx="5570492" cy="1034240"/>
              </a:xfrm>
              <a:prstGeom prst="rect">
                <a:avLst/>
              </a:prstGeom>
              <a:noFill/>
              <a:ln w="10160">
                <a:noFill/>
              </a:ln>
            </p:spPr>
            <p:txBody>
              <a:bodyPr wrap="square" lIns="0" tIns="0" rIns="0" bIns="0" anchor="ctr">
                <a:noAutofit/>
              </a:bodyPr>
              <a:lstStyle/>
              <a:p>
                <a:pPr algn="l">
                  <a:buNone/>
                </a:pPr>
                <a14:m>
                  <m:oMathPara xmlns:m="http://schemas.openxmlformats.org/officeDocument/2006/math">
                    <m:oMathParaPr>
                      <m:jc m:val="left"/>
                    </m:oMathParaPr>
                    <m:oMath xmlns:m="http://schemas.openxmlformats.org/officeDocument/2006/math">
                      <m:sSub>
                        <m:sSubPr>
                          <m:ctrlPr>
                            <a:rPr lang="ru-RU" sz="2600" b="0" dirty="0">
                              <a:solidFill>
                                <a:srgbClr val="181818"/>
                              </a:solidFill>
                              <a:latin typeface="Cambria Math" panose="02040503050406030204" pitchFamily="18" charset="0"/>
                              <a:ea typeface="Cambria Math"/>
                              <a:cs typeface="Cambria Math"/>
                            </a:rPr>
                          </m:ctrlPr>
                        </m:sSubPr>
                        <m:e>
                          <m:acc>
                            <m:accPr>
                              <m:chr m:val="̂"/>
                              <m:ctrlPr>
                                <a:rPr lang="ru-RU" sz="2600" b="0" dirty="0">
                                  <a:solidFill>
                                    <a:srgbClr val="181818"/>
                                  </a:solidFill>
                                  <a:latin typeface="Cambria Math" panose="02040503050406030204" pitchFamily="18" charset="0"/>
                                  <a:ea typeface="Cambria Math"/>
                                  <a:cs typeface="Cambria Math"/>
                                </a:rPr>
                              </m:ctrlPr>
                            </m:accPr>
                            <m:e>
                              <m:r>
                                <a:rPr lang="ru-RU" sz="2600" b="0" i="1" dirty="0">
                                  <a:solidFill>
                                    <a:srgbClr val="181818"/>
                                  </a:solidFill>
                                  <a:latin typeface="Cambria Math"/>
                                  <a:ea typeface="Cambria Math"/>
                                  <a:cs typeface="Cambria Math"/>
                                </a:rPr>
                                <m:t>𝐹</m:t>
                              </m:r>
                            </m:e>
                          </m:acc>
                        </m:e>
                        <m:sub>
                          <m:r>
                            <a:rPr lang="ru-RU" sz="2600" b="0" i="0" dirty="0">
                              <a:solidFill>
                                <a:srgbClr val="181818"/>
                              </a:solidFill>
                              <a:latin typeface="Cambria Math"/>
                              <a:ea typeface="Cambria Math"/>
                              <a:cs typeface="Cambria Math"/>
                            </a:rPr>
                            <m:t>1</m:t>
                          </m:r>
                        </m:sub>
                      </m:sSub>
                      <m:r>
                        <a:rPr lang="ru-RU" sz="2600" b="0" i="0" dirty="0">
                          <a:solidFill>
                            <a:srgbClr val="181818"/>
                          </a:solidFill>
                          <a:latin typeface="Cambria Math"/>
                          <a:ea typeface="Cambria Math"/>
                          <a:cs typeface="Cambria Math"/>
                        </a:rPr>
                        <m:t>(</m:t>
                      </m:r>
                      <m:r>
                        <a:rPr lang="ru-RU" sz="2600" b="0" i="1" dirty="0">
                          <a:solidFill>
                            <a:srgbClr val="181818"/>
                          </a:solidFill>
                          <a:latin typeface="Cambria Math"/>
                          <a:ea typeface="Cambria Math"/>
                          <a:cs typeface="Cambria Math"/>
                        </a:rPr>
                        <m:t>𝑘</m:t>
                      </m:r>
                      <m:r>
                        <a:rPr lang="ru-RU" sz="2600" b="0" i="0" dirty="0">
                          <a:solidFill>
                            <a:srgbClr val="181818"/>
                          </a:solidFill>
                          <a:latin typeface="Cambria Math"/>
                          <a:ea typeface="Cambria Math"/>
                          <a:cs typeface="Cambria Math"/>
                        </a:rPr>
                        <m:t>) = </m:t>
                      </m:r>
                      <m:f>
                        <m:fPr>
                          <m:ctrlPr>
                            <a:rPr lang="ru-RU" sz="2600" b="0" i="1" dirty="0">
                              <a:solidFill>
                                <a:srgbClr val="181818"/>
                              </a:solidFill>
                              <a:latin typeface="Cambria Math" panose="02040503050406030204" pitchFamily="18" charset="0"/>
                              <a:ea typeface="Cambria Math"/>
                              <a:cs typeface="Cambria Math"/>
                            </a:rPr>
                          </m:ctrlPr>
                        </m:fPr>
                        <m:num>
                          <m:r>
                            <a:rPr lang="ru-RU" sz="2600" b="0" i="0" dirty="0">
                              <a:solidFill>
                                <a:srgbClr val="181818"/>
                              </a:solidFill>
                              <a:latin typeface="Cambria Math"/>
                              <a:ea typeface="Cambria Math"/>
                              <a:cs typeface="Cambria Math"/>
                            </a:rPr>
                            <m:t>2</m:t>
                          </m:r>
                          <m:nary>
                            <m:naryPr>
                              <m:chr m:val="∑"/>
                              <m:limLoc m:val="subSup"/>
                              <m:ctrlPr>
                                <a:rPr lang="ru-RU" sz="2600" b="0" i="1" dirty="0">
                                  <a:solidFill>
                                    <a:srgbClr val="181818"/>
                                  </a:solidFill>
                                  <a:latin typeface="Cambria Math" panose="02040503050406030204" pitchFamily="18" charset="0"/>
                                  <a:ea typeface="Cambria Math"/>
                                  <a:cs typeface="Cambria Math"/>
                                </a:rPr>
                              </m:ctrlPr>
                            </m:naryPr>
                            <m:sub>
                              <m:r>
                                <m:rPr>
                                  <m:sty m:val="p"/>
                                </m:rPr>
                                <a:rPr lang="ru-RU" sz="2600" b="0" i="0" dirty="0">
                                  <a:solidFill>
                                    <a:srgbClr val="181818"/>
                                  </a:solidFill>
                                  <a:latin typeface="Cambria Math"/>
                                  <a:ea typeface="Cambria Math"/>
                                  <a:cs typeface="Cambria Math"/>
                                </a:rPr>
                                <m:t>top</m:t>
                              </m:r>
                              <m:r>
                                <a:rPr lang="ru-RU" sz="2600" b="0" i="0" dirty="0">
                                  <a:solidFill>
                                    <a:srgbClr val="181818"/>
                                  </a:solidFill>
                                  <a:latin typeface="Cambria Math"/>
                                  <a:ea typeface="Cambria Math"/>
                                  <a:cs typeface="Cambria Math"/>
                                </a:rPr>
                                <m:t>−</m:t>
                              </m:r>
                              <m:r>
                                <m:rPr>
                                  <m:sty m:val="p"/>
                                </m:rPr>
                                <a:rPr lang="ru-RU" sz="2600" b="0" i="0" dirty="0">
                                  <a:solidFill>
                                    <a:srgbClr val="181818"/>
                                  </a:solidFill>
                                  <a:latin typeface="Cambria Math"/>
                                  <a:ea typeface="Cambria Math"/>
                                  <a:cs typeface="Cambria Math"/>
                                </a:rPr>
                                <m:t>k</m:t>
                              </m:r>
                            </m:sub>
                            <m:sup/>
                            <m:e>
                              <m:r>
                                <a:rPr lang="ru-RU" sz="2600" b="0" i="1" dirty="0">
                                  <a:solidFill>
                                    <a:srgbClr val="181818"/>
                                  </a:solidFill>
                                  <a:latin typeface="Cambria Math"/>
                                  <a:ea typeface="Cambria Math"/>
                                  <a:cs typeface="Cambria Math"/>
                                </a:rPr>
                                <m:t>𝑝</m:t>
                              </m:r>
                            </m:e>
                          </m:nary>
                        </m:num>
                        <m:den>
                          <m:r>
                            <a:rPr lang="ru-RU" sz="2600" b="0" i="1" dirty="0">
                              <a:solidFill>
                                <a:srgbClr val="181818"/>
                              </a:solidFill>
                              <a:latin typeface="Cambria Math"/>
                              <a:ea typeface="Cambria Math"/>
                              <a:cs typeface="Cambria Math"/>
                            </a:rPr>
                            <m:t>𝑘</m:t>
                          </m:r>
                          <m:r>
                            <a:rPr lang="ru-RU" sz="2600" b="0" i="0" dirty="0">
                              <a:solidFill>
                                <a:srgbClr val="181818"/>
                              </a:solidFill>
                              <a:latin typeface="Cambria Math"/>
                              <a:ea typeface="Cambria Math"/>
                              <a:cs typeface="Cambria Math"/>
                            </a:rPr>
                            <m:t> + </m:t>
                          </m:r>
                          <m:r>
                            <a:rPr lang="ru-RU" sz="2600" b="0" i="1" dirty="0">
                              <a:solidFill>
                                <a:srgbClr val="181818"/>
                              </a:solidFill>
                              <a:latin typeface="Cambria Math"/>
                              <a:ea typeface="Cambria Math"/>
                              <a:cs typeface="Cambria Math"/>
                            </a:rPr>
                            <m:t>𝐺</m:t>
                          </m:r>
                        </m:den>
                      </m:f>
                    </m:oMath>
                  </m:oMathPara>
                </a14:m>
                <a:endParaRPr lang="ru-RU" sz="2600" b="0" i="0" dirty="0">
                  <a:solidFill>
                    <a:srgbClr val="181818"/>
                  </a:solidFill>
                  <a:latin typeface="Cambria Math"/>
                  <a:ea typeface="Cambria Math"/>
                  <a:cs typeface="Cambria Math"/>
                </a:endParaRPr>
              </a:p>
            </p:txBody>
          </p:sp>
        </mc:Choice>
        <mc:Fallback xmlns:m="http://schemas.openxmlformats.org/officeDocument/2006/math" xmlns="">
          <p:sp xmlns:p="http://schemas.openxmlformats.org/presentationml/2006/main" xmlns:a="http://schemas.openxmlformats.org/drawingml/2006/main">
            <p:nvSpPr>
              <p:cNvPr id="100102000" name="Ожидаемая F1 первых k / native math text"/>
              <p:cNvSpPr txBox="1"/>
              <p:nvPr/>
            </p:nvSpPr>
            <p:spPr>
              <a:xfrm>
                <a:off x="238125" y="3008965"/>
                <a:ext cx="1234440" cy="1034240"/>
              </a:xfrm>
              <a:prstGeom prst="rect">
                <a:avLst/>
              </a:prstGeom>
              <a:noFill/>
              <a:ln w="10160">
                <a:noFill/>
              </a:ln>
            </p:spPr>
            <p:txBody>
              <a:bodyPr wrap="none" lIns="0" rIns="0" tIns="0" bIns="0" anchor="ctr">
                <a:noAutofit/>
              </a:bodyPr>
              <a:lstStyle/>
              <a:p>
                <a:pPr algn="l" marL="0" indent="0">
                  <a:lnSpc>
                    <a:spcPct val="100000"/>
                  </a:lnSpc>
                  <a:spcAft>
                    <a:spcPts val="0"/>
                  </a:spcAft>
                  <a:buNone/>
                  <a:defRPr lang="ru-RU" sz="2600" b="0" i="0" dirty="0">
                    <a:solidFill>
                      <a:srgbClr val="181818"/>
                    </a:solidFill>
                    <a:latin typeface="Cambria Math"/>
                    <a:ea typeface="Cambria Math"/>
                    <a:cs typeface="Cambria Math"/>
                  </a:defRPr>
                </a:pPr>
                <a:r>
                  <a:rPr lang="ru-RU" sz="2600" b="0" i="1" dirty="0" baseline="0">
                    <a:solidFill>
                      <a:srgbClr val="181818"/>
                    </a:solidFill>
                    <a:latin typeface="Cambria Math"/>
                    <a:ea typeface="Cambria Math"/>
                    <a:cs typeface="Cambria Math"/>
                  </a:rPr>
                  <a:t>F</a:t>
                </a:r>
                <a:r>
                  <a:rPr lang="ru-RU" sz="2000" b="0" i="0" dirty="0" baseline="-25000">
                    <a:solidFill>
                      <a:srgbClr val="181818"/>
                    </a:solidFill>
                    <a:latin typeface="Cambria Math"/>
                    <a:ea typeface="Cambria Math"/>
                    <a:cs typeface="Cambria Math"/>
                  </a:rPr>
                  <a:t>1</a:t>
                </a:r>
                <a:r>
                  <a:rPr lang="ru-RU" sz="2600" b="0" i="0" dirty="0" baseline="0">
                    <a:solidFill>
                      <a:srgbClr val="181818"/>
                    </a:solidFill>
                    <a:latin typeface="Cambria Math"/>
                    <a:ea typeface="Cambria Math"/>
                    <a:cs typeface="Cambria Math"/>
                  </a:rPr>
                  <a:t>(k) =</a:t>
                </a:r>
                <a:endParaRPr lang="ru-RU" sz="26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2001" name="Ожидаемая F1 первых k / native math rule"/>
              <p:cNvSpPr txBox="0"/>
              <p:nvPr/>
            </p:nvSpPr>
            <p:spPr>
              <a:xfrm flipH="0" flipV="1">
                <a:off x="260985" y="3288210"/>
                <a:ext cx="73152" cy="82739"/>
              </a:xfrm>
              <a:prstGeom prst="line">
                <a:avLst/>
              </a:prstGeom>
              <a:ln w="12700">
                <a:solidFill>
                  <a:srgbClr val="181818"/>
                </a:solidFill>
              </a:ln>
            </p:spPr>
          </p:sp>
          <p:sp xmlns:p="http://schemas.openxmlformats.org/presentationml/2006/main" xmlns:a="http://schemas.openxmlformats.org/drawingml/2006/main">
            <p:nvSpPr>
              <p:cNvPr id="100102002" name="Ожидаемая F1 первых k / native math rule"/>
              <p:cNvSpPr txBox="0"/>
              <p:nvPr/>
            </p:nvSpPr>
            <p:spPr>
              <a:xfrm flipH="0" flipV="0">
                <a:off x="334137" y="3288210"/>
                <a:ext cx="73152" cy="82739"/>
              </a:xfrm>
              <a:prstGeom prst="line">
                <a:avLst/>
              </a:prstGeom>
              <a:ln w="12700">
                <a:solidFill>
                  <a:srgbClr val="181818"/>
                </a:solidFill>
              </a:ln>
            </p:spPr>
          </p:sp>
          <p:sp xmlns:p="http://schemas.openxmlformats.org/presentationml/2006/main" xmlns:a="http://schemas.openxmlformats.org/drawingml/2006/main">
            <p:nvSpPr>
              <p:cNvPr id="100102003" name="Ожидаемая F1 первых k / native math text"/>
              <p:cNvSpPr txBox="1"/>
              <p:nvPr/>
            </p:nvSpPr>
            <p:spPr>
              <a:xfrm>
                <a:off x="1472565" y="3019307"/>
                <a:ext cx="2286000" cy="460237"/>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300" b="0" i="0" dirty="0">
                    <a:solidFill>
                      <a:srgbClr val="181818"/>
                    </a:solidFill>
                    <a:latin typeface="Cambria Math"/>
                    <a:ea typeface="Cambria Math"/>
                    <a:cs typeface="Cambria Math"/>
                  </a:defRPr>
                </a:pPr>
                <a:r>
                  <a:rPr lang="ru-RU" sz="2300" b="0" i="0" dirty="0" baseline="0">
                    <a:solidFill>
                      <a:srgbClr val="181818"/>
                    </a:solidFill>
                    <a:latin typeface="Cambria Math"/>
                    <a:ea typeface="Cambria Math"/>
                    <a:cs typeface="Cambria Math"/>
                  </a:rPr>
                  <a:t>2∑</a:t>
                </a:r>
                <a:r>
                  <a:rPr lang="ru-RU" sz="2000" b="0" i="0" dirty="0" baseline="-25000">
                    <a:solidFill>
                      <a:srgbClr val="181818"/>
                    </a:solidFill>
                    <a:latin typeface="Cambria Math"/>
                    <a:ea typeface="Cambria Math"/>
                    <a:cs typeface="Cambria Math"/>
                  </a:rPr>
                  <a:t>top-k</a:t>
                </a:r>
                <a:r>
                  <a:rPr lang="ru-RU" sz="2300" b="0" i="1" dirty="0" baseline="0">
                    <a:solidFill>
                      <a:srgbClr val="181818"/>
                    </a:solidFill>
                    <a:latin typeface="Cambria Math"/>
                    <a:ea typeface="Cambria Math"/>
                    <a:cs typeface="Cambria Math"/>
                  </a:rPr>
                  <a:t> p</a:t>
                </a:r>
                <a:endParaRPr lang="ru-RU" sz="23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2004" name="Ожидаемая F1 первых k / native math rule"/>
              <p:cNvSpPr txBox="0"/>
              <p:nvPr/>
            </p:nvSpPr>
            <p:spPr>
              <a:xfrm flipH="0" flipV="0">
                <a:off x="1472565" y="3526085"/>
                <a:ext cx="2286000" cy="0"/>
              </a:xfrm>
              <a:prstGeom prst="line">
                <a:avLst/>
              </a:prstGeom>
              <a:ln w="12700">
                <a:solidFill>
                  <a:srgbClr val="181818"/>
                </a:solidFill>
              </a:ln>
            </p:spPr>
          </p:sp>
          <p:sp xmlns:p="http://schemas.openxmlformats.org/presentationml/2006/main" xmlns:a="http://schemas.openxmlformats.org/drawingml/2006/main">
            <p:nvSpPr>
              <p:cNvPr id="100102005" name="Ожидаемая F1 первых k / native math text"/>
              <p:cNvSpPr txBox="1"/>
              <p:nvPr/>
            </p:nvSpPr>
            <p:spPr>
              <a:xfrm>
                <a:off x="1472565" y="3577797"/>
                <a:ext cx="2286000" cy="455066"/>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300" b="0" i="0" dirty="0">
                    <a:solidFill>
                      <a:srgbClr val="181818"/>
                    </a:solidFill>
                    <a:latin typeface="Cambria Math"/>
                    <a:ea typeface="Cambria Math"/>
                    <a:cs typeface="Cambria Math"/>
                  </a:defRPr>
                </a:pPr>
                <a:r>
                  <a:rPr lang="ru-RU" sz="2300" b="0" i="0" dirty="0">
                    <a:solidFill>
                      <a:srgbClr val="181818"/>
                    </a:solidFill>
                    <a:latin typeface="Cambria Math"/>
                    <a:ea typeface="Cambria Math"/>
                    <a:cs typeface="Cambria Math"/>
                  </a:rPr>
                  <a:t>k + G</a:t>
                </a:r>
                <a:endParaRPr lang="ru-RU" sz="2300" b="0" i="0" dirty="0">
                  <a:solidFill>
                    <a:srgbClr val="181818"/>
                  </a:solidFill>
                  <a:latin typeface="Cambria Math"/>
                  <a:ea typeface="Cambria Math"/>
                  <a:cs typeface="Cambria Math"/>
                </a:endParaRPr>
              </a:p>
            </p:txBody>
          </p:sp>
        </mc:Fallback>
      </mc:AlternateContent>
    </p:spTree>
    <p:extLst>
      <p:ext uri="{BB962C8B-B14F-4D97-AF65-F5344CB8AC3E}">
        <p14:creationId xmlns:p14="http://schemas.microsoft.com/office/powerpoint/2010/main" val="1818409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PBU_SAMPLE_04_CLONE_01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Пример 104650: текст и упоминания</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Фрагмент текста [84,265):</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“Tomato brown rugose fruit virus (ToBRFV; genus, Tobamovirus, family, Virgaviridae) was first reported in 2015 infecting tomatoes grown under protected cropping in the Jordan Valley.”</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Форма → тип → [начало,конец)</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Полное название → Pest → [84,115)</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ToBRFV → Pest → [117,123)</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tomatoes → Plant → [204,212)</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Jordan Valley → Location → [251,264)</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Смещения считаются с нуля; конец не включён.</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Источник:104650.txt; walkthrough.json.</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Фрагмент сообщает о возбудителе на tomatoes в Jordan Valley; это чтение текста, а не исправление прогноза.</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Весь документ:38 упоминаний →11 концептов →36 кандидатов →15 троек. Полные формы и ToBRFV составили один концепт из 19 упоминаний.</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Показан сохранённый прогноз внешнего фолда 2, третьего при нумерации с нуля. Документ и его текстовая группа исключены из обучения прогнозирующей модели. Эталон нужен только для сравнения.</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яч.51; walkthrough.json.</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11</a:t>
            </a:fld>
            <a:endParaRPr lang="ru-RU" dirty="0"/>
          </a:p>
        </p:txBody>
      </p:sp>
    </p:spTree>
    <p:extLst>
      <p:ext uri="{BB962C8B-B14F-4D97-AF65-F5344CB8AC3E}">
        <p14:creationId xmlns:p14="http://schemas.microsoft.com/office/powerpoint/2010/main" val="1818409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PBU_SAMPLE_04_CLONE_01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Пример 104650: оценки и результат</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3463021"/>
            <a:ext cx="5570492" cy="307749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Для первого кандидата:</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subject_mentions=19; object_mentions=5</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same_sentence=1; same_paragraph=1</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pair_prior=5</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Это значения входных признаков и выход модели. Они не являются измерением вклада отдельных признаков или калиброванной вероятностью истинности.</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walkthrough.json, top_candidates[0:2].</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Граф: Pest:ToBRFV → Found_on → Plant:tomatoes; источник 104650.</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Две записи выбранного JSON:</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{"predicate":"Found_on","subject":"ToBRFV","object":"tomatoes"}</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{"predicate":"Located_in","subject":"ToBRFV","object":"Jordan Valley"}</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Граф содержит все 15 выбранных троек. CSV сохраняет только predicate, subject, object; типы и sources остаются графовыми атрибутами.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Пример показывает прохождение цепочки, но не отсутствие ошибок документа.</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walkthrough.json, graph_json; notebook, яч.24,31.</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12</a:t>
            </a:fld>
            <a:endParaRPr lang="ru-RU" dirty="0"/>
          </a:p>
        </p:txBody>
      </p:sp>
      <p:graphicFrame>
        <p:nvGraphicFramePr>
          <p:cNvPr id="100" name="Два выбранных кандидата 104650"/>
          <p:cNvGraphicFramePr/>
          <p:nvPr/>
        </p:nvGraphicFramePr>
        <p:xfrm>
          <a:off x="238125" y="1268414"/>
          <a:ext cx="5570492" cy="2018030"/>
        </p:xfrm>
        <a:graphic>
          <a:graphicData uri="http://schemas.openxmlformats.org/drawingml/2006/table">
            <a:tbl>
              <a:tblPr firstRow="1"/>
              <a:tblGrid>
                <a:gridCol w="2785246">
                  <a:extLst>
                    <a:ext uri="{9D8B030D-6E8A-4147-A177-3AD203B41FA5}">
                      <a16:colId xmlns:a16="http://schemas.microsoft.com/office/drawing/2014/main" val="20000"/>
                    </a:ext>
                  </a:extLst>
                </a:gridCol>
                <a:gridCol w="1336918">
                  <a:extLst>
                    <a:ext uri="{9D8B030D-6E8A-4147-A177-3AD203B41FA5}">
                      <a16:colId xmlns:a16="http://schemas.microsoft.com/office/drawing/2014/main" val="20001"/>
                    </a:ext>
                  </a:extLst>
                </a:gridCol>
                <a:gridCol w="1448328">
                  <a:extLst>
                    <a:ext uri="{9D8B030D-6E8A-4147-A177-3AD203B41FA5}">
                      <a16:colId xmlns:a16="http://schemas.microsoft.com/office/drawing/2014/main" val="20002"/>
                    </a:ext>
                  </a:extLst>
                </a:gridCol>
              </a:tblGrid>
              <a:tr h="448451">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Кандидат</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Оценка</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Выбран</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extLst>
                  <a:ext uri="{0D108BD9-81ED-4DB2-BD59-A6C34878D82A}">
                    <a16:rowId xmlns:a16="http://schemas.microsoft.com/office/drawing/2014/main" val="10000"/>
                  </a:ext>
                </a:extLst>
              </a:tr>
              <a:tr h="784789">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ToBRFV → Found_on → tomatoes</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0.931085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да</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784790">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ToBRFV → Located_in → Jordan Valley</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0.916850</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да</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PBU_SAMPLE_04_CLONE_013">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Проверка отделяет </a:t>
            </a:r>
            <a:br>
              <a:rPr lang="ru-RU" sz="3200" dirty="0">
                <a:latin typeface="Segoe UI"/>
                <a:ea typeface="Segoe UI"/>
                <a:cs typeface="Segoe UI"/>
              </a:rPr>
            </a:br>
            <a:r>
              <a:rPr lang="ru-RU" sz="3200" dirty="0">
                <a:latin typeface="Segoe UI"/>
                <a:ea typeface="Segoe UI"/>
                <a:cs typeface="Segoe UI"/>
              </a:rPr>
              <a:t>обучение от оценки</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976543"/>
            <a:ext cx="5570492" cy="1563973"/>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Группа: одинаковый текст после сворачивания пробелов.</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Для каждого: обучение отдельно от проверки.</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Словари, нормализации и частоты не видят внешнюю проверку.</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Текстовая группа объединяет одинаковые тексты. Фолд — отложенная часть разбиения, содержащая несколько групп. OOF: документ и группа не участвовали в обучении прогнозирующей модели.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Дополнительно: словарный признак CRF исключает группу документа; Priors вычитает его собственные частоты. Это не ещё пять CRF.</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Карта нормализаций отношений использует всё внешнее обучение, не отдельные внутренние OOF-карты.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rho/empty_t фиксированы заранее;5 финальных seed относятся к test.</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яч.9,13,17,22,26,29,33.</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13</a:t>
            </a:fld>
            <a:endParaRPr lang="ru-RU" dirty="0"/>
          </a:p>
        </p:txBody>
      </p:sp>
      <p:sp>
        <p:nvSpPr>
          <p:cNvPr id="100" name="native / 100"/>
          <p:cNvSpPr txBox="1"/>
          <p:nvPr/>
        </p:nvSpPr>
        <p:spPr>
          <a:xfrm>
            <a:off x="238125" y="1268414"/>
            <a:ext cx="5570492" cy="327930"/>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165 документов →164 текстовые группы</a:t>
            </a:r>
          </a:p>
        </p:txBody>
      </p:sp>
      <p:sp>
        <p:nvSpPr>
          <p:cNvPr id="101" name="native / 101"/>
          <p:cNvSpPr txBox="1"/>
          <p:nvPr/>
        </p:nvSpPr>
        <p:spPr>
          <a:xfrm>
            <a:off x="238125" y="1646795"/>
            <a:ext cx="5570492" cy="327930"/>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 внешних групповых фолдов, seed 0</a:t>
            </a:r>
          </a:p>
        </p:txBody>
      </p:sp>
      <p:sp>
        <p:nvSpPr>
          <p:cNvPr id="102" name="native / 102"/>
          <p:cNvSpPr txBox="1"/>
          <p:nvPr/>
        </p:nvSpPr>
        <p:spPr>
          <a:xfrm>
            <a:off x="265977" y="2075626"/>
            <a:ext cx="3063771" cy="327930"/>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Внешнее обучение:</a:t>
            </a:r>
          </a:p>
        </p:txBody>
      </p:sp>
      <p:sp>
        <p:nvSpPr>
          <p:cNvPr id="103" name="native / 103"/>
          <p:cNvSpPr txBox="1"/>
          <p:nvPr/>
        </p:nvSpPr>
        <p:spPr>
          <a:xfrm>
            <a:off x="3385453" y="2075626"/>
            <a:ext cx="2423164" cy="327930"/>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Внешняя проверка:</a:t>
            </a:r>
          </a:p>
        </p:txBody>
      </p:sp>
      <p:cxnSp>
        <p:nvCxnSpPr>
          <p:cNvPr id="104" name="Внешний фолд → ветвь"/>
          <p:cNvCxnSpPr/>
          <p:nvPr/>
        </p:nvCxnSpPr>
        <p:spPr>
          <a:xfrm flipH="1">
            <a:off x="1797862" y="1986725"/>
            <a:ext cx="1225509" cy="76901"/>
          </a:xfrm>
          <a:prstGeom prst="line">
            <a:avLst/>
          </a:prstGeom>
          <a:ln w="16510">
            <a:solidFill>
              <a:srgbClr val="AF2C22"/>
            </a:solidFill>
            <a:prstDash val="solid"/>
            <a:headEnd type="none" w="med" len="med"/>
            <a:tailEnd type="triangle" w="med" len="med"/>
          </a:ln>
        </p:spPr>
      </p:cxnSp>
      <p:cxnSp>
        <p:nvCxnSpPr>
          <p:cNvPr id="105" name="Внешний фолд → ветвь"/>
          <p:cNvCxnSpPr/>
          <p:nvPr/>
        </p:nvCxnSpPr>
        <p:spPr>
          <a:xfrm>
            <a:off x="3023371" y="1986725"/>
            <a:ext cx="1573664" cy="76901"/>
          </a:xfrm>
          <a:prstGeom prst="line">
            <a:avLst/>
          </a:prstGeom>
          <a:ln w="16510">
            <a:solidFill>
              <a:srgbClr val="AF2C22"/>
            </a:solidFill>
            <a:prstDash val="solid"/>
            <a:headEnd type="none" w="med" len="med"/>
            <a:tailEnd type="triangle" w="med" len="med"/>
          </a:ln>
        </p:spPr>
      </p:cxnSp>
      <p:sp>
        <p:nvSpPr>
          <p:cNvPr id="106" name="native / 106"/>
          <p:cNvSpPr txBox="1"/>
          <p:nvPr/>
        </p:nvSpPr>
        <p:spPr>
          <a:xfrm>
            <a:off x="265977" y="2454006"/>
            <a:ext cx="3063771" cy="1059466"/>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 внутренних фолдов:</a:t>
            </a:r>
          </a:p>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один прогнозируется,</a:t>
            </a:r>
          </a:p>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остальные 4 обучают NER</a:t>
            </a:r>
          </a:p>
        </p:txBody>
      </p:sp>
      <p:sp>
        <p:nvSpPr>
          <p:cNvPr id="107" name="native / 107"/>
          <p:cNvSpPr txBox="1"/>
          <p:nvPr/>
        </p:nvSpPr>
        <p:spPr>
          <a:xfrm>
            <a:off x="265977" y="3599238"/>
            <a:ext cx="3063771"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OOF-упоминания</a:t>
            </a:r>
          </a:p>
        </p:txBody>
      </p:sp>
      <p:sp>
        <p:nvSpPr>
          <p:cNvPr id="108" name="native / 108"/>
          <p:cNvSpPr txBox="1"/>
          <p:nvPr/>
        </p:nvSpPr>
        <p:spPr>
          <a:xfrm>
            <a:off x="265977" y="4043205"/>
            <a:ext cx="3063771"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Признаки</a:t>
            </a:r>
          </a:p>
        </p:txBody>
      </p:sp>
      <p:sp>
        <p:nvSpPr>
          <p:cNvPr id="109" name="native / 109"/>
          <p:cNvSpPr txBox="1"/>
          <p:nvPr/>
        </p:nvSpPr>
        <p:spPr>
          <a:xfrm>
            <a:off x="265977" y="4487171"/>
            <a:ext cx="3063771"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Обучение LightGBM</a:t>
            </a:r>
          </a:p>
        </p:txBody>
      </p:sp>
      <p:cxnSp>
        <p:nvCxnSpPr>
          <p:cNvPr id="110" name="Внутренние OOF → обучение RE"/>
          <p:cNvCxnSpPr/>
          <p:nvPr/>
        </p:nvCxnSpPr>
        <p:spPr>
          <a:xfrm>
            <a:off x="1797863" y="3525472"/>
            <a:ext cx="0" cy="61766"/>
          </a:xfrm>
          <a:prstGeom prst="line">
            <a:avLst/>
          </a:prstGeom>
          <a:ln w="16510">
            <a:solidFill>
              <a:srgbClr val="AF2C22"/>
            </a:solidFill>
            <a:prstDash val="solid"/>
            <a:headEnd type="none" w="med" len="med"/>
            <a:tailEnd type="triangle" w="med" len="med"/>
          </a:ln>
        </p:spPr>
      </p:cxnSp>
      <p:cxnSp>
        <p:nvCxnSpPr>
          <p:cNvPr id="111" name="Внутренние OOF → обучение RE"/>
          <p:cNvCxnSpPr/>
          <p:nvPr/>
        </p:nvCxnSpPr>
        <p:spPr>
          <a:xfrm>
            <a:off x="1797863" y="3939168"/>
            <a:ext cx="0" cy="92037"/>
          </a:xfrm>
          <a:prstGeom prst="line">
            <a:avLst/>
          </a:prstGeom>
          <a:ln w="16510">
            <a:solidFill>
              <a:srgbClr val="AF2C22"/>
            </a:solidFill>
            <a:prstDash val="solid"/>
            <a:headEnd type="none" w="med" len="med"/>
            <a:tailEnd type="triangle" w="med" len="med"/>
          </a:ln>
        </p:spPr>
      </p:cxnSp>
      <p:cxnSp>
        <p:nvCxnSpPr>
          <p:cNvPr id="112" name="Внутренние OOF → обучение RE"/>
          <p:cNvCxnSpPr/>
          <p:nvPr/>
        </p:nvCxnSpPr>
        <p:spPr>
          <a:xfrm>
            <a:off x="1797863" y="4383135"/>
            <a:ext cx="0" cy="92036"/>
          </a:xfrm>
          <a:prstGeom prst="line">
            <a:avLst/>
          </a:prstGeom>
          <a:ln w="16510">
            <a:solidFill>
              <a:srgbClr val="AF2C22"/>
            </a:solidFill>
            <a:prstDash val="solid"/>
            <a:headEnd type="none" w="med" len="med"/>
            <a:tailEnd type="triangle" w="med" len="med"/>
          </a:ln>
        </p:spPr>
      </p:cxnSp>
      <p:sp>
        <p:nvSpPr>
          <p:cNvPr id="113" name="native / 113"/>
          <p:cNvSpPr txBox="1"/>
          <p:nvPr/>
        </p:nvSpPr>
        <p:spPr>
          <a:xfrm>
            <a:off x="3385453" y="2454006"/>
            <a:ext cx="2423164"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Только текст</a:t>
            </a:r>
          </a:p>
        </p:txBody>
      </p:sp>
      <p:sp>
        <p:nvSpPr>
          <p:cNvPr id="114" name="native / 114"/>
          <p:cNvSpPr txBox="1"/>
          <p:nvPr/>
        </p:nvSpPr>
        <p:spPr>
          <a:xfrm>
            <a:off x="3385453" y="2882838"/>
            <a:ext cx="2423164" cy="857663"/>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NER, обученный</a:t>
            </a:r>
          </a:p>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на внешнем обучении</a:t>
            </a:r>
          </a:p>
        </p:txBody>
      </p:sp>
      <p:sp>
        <p:nvSpPr>
          <p:cNvPr id="115" name="native / 115"/>
          <p:cNvSpPr txBox="1"/>
          <p:nvPr/>
        </p:nvSpPr>
        <p:spPr>
          <a:xfrm>
            <a:off x="3385453" y="3851492"/>
            <a:ext cx="2423164"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Признаки</a:t>
            </a:r>
          </a:p>
        </p:txBody>
      </p:sp>
      <p:sp>
        <p:nvSpPr>
          <p:cNvPr id="116" name="native / 116"/>
          <p:cNvSpPr txBox="1"/>
          <p:nvPr/>
        </p:nvSpPr>
        <p:spPr>
          <a:xfrm>
            <a:off x="3385453" y="4234918"/>
            <a:ext cx="2423164"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Отношения</a:t>
            </a:r>
          </a:p>
        </p:txBody>
      </p:sp>
      <p:sp>
        <p:nvSpPr>
          <p:cNvPr id="117" name="native / 117"/>
          <p:cNvSpPr txBox="1"/>
          <p:nvPr/>
        </p:nvSpPr>
        <p:spPr>
          <a:xfrm>
            <a:off x="3385453" y="4623388"/>
            <a:ext cx="2423164" cy="327930"/>
          </a:xfrm>
          <a:prstGeom prst="rect">
            <a:avLst/>
          </a:prstGeom>
          <a:noFill/>
          <a:ln w="10160">
            <a:noFill/>
          </a:ln>
        </p:spPr>
        <p:txBody>
          <a:bodyPr wrap="square" lIns="0" tIns="0" rIns="0" bIns="0" anchor="ctr">
            <a:noAutofit/>
          </a:bodyPr>
          <a:lstStyle/>
          <a:p>
            <a:pPr marL="0" indent="0" algn="l">
              <a:lnSpc>
                <a:spcPct val="9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Оценка по эталону</a:t>
            </a:r>
          </a:p>
        </p:txBody>
      </p:sp>
      <p:cxnSp>
        <p:nvCxnSpPr>
          <p:cNvPr id="118" name="Внешняя проверка → следующий шаг"/>
          <p:cNvCxnSpPr/>
          <p:nvPr/>
        </p:nvCxnSpPr>
        <p:spPr>
          <a:xfrm>
            <a:off x="4597035" y="2793936"/>
            <a:ext cx="0" cy="76902"/>
          </a:xfrm>
          <a:prstGeom prst="line">
            <a:avLst/>
          </a:prstGeom>
          <a:ln w="16510">
            <a:solidFill>
              <a:srgbClr val="AF2C22"/>
            </a:solidFill>
            <a:prstDash val="solid"/>
            <a:headEnd type="none" w="med" len="med"/>
            <a:tailEnd type="triangle" w="med" len="med"/>
          </a:ln>
        </p:spPr>
      </p:cxnSp>
      <p:cxnSp>
        <p:nvCxnSpPr>
          <p:cNvPr id="119" name="Внешняя проверка → следующий шаг"/>
          <p:cNvCxnSpPr/>
          <p:nvPr/>
        </p:nvCxnSpPr>
        <p:spPr>
          <a:xfrm>
            <a:off x="4597035" y="3752501"/>
            <a:ext cx="0" cy="86991"/>
          </a:xfrm>
          <a:prstGeom prst="line">
            <a:avLst/>
          </a:prstGeom>
          <a:ln w="16510">
            <a:solidFill>
              <a:srgbClr val="AF2C22"/>
            </a:solidFill>
            <a:prstDash val="solid"/>
            <a:headEnd type="none" w="med" len="med"/>
            <a:tailEnd type="triangle" w="med" len="med"/>
          </a:ln>
        </p:spPr>
      </p:cxnSp>
      <p:cxnSp>
        <p:nvCxnSpPr>
          <p:cNvPr id="120" name="Внешняя проверка → следующий шаг"/>
          <p:cNvCxnSpPr/>
          <p:nvPr/>
        </p:nvCxnSpPr>
        <p:spPr>
          <a:xfrm>
            <a:off x="4597035" y="4191422"/>
            <a:ext cx="0" cy="31496"/>
          </a:xfrm>
          <a:prstGeom prst="line">
            <a:avLst/>
          </a:prstGeom>
          <a:ln w="16510">
            <a:solidFill>
              <a:srgbClr val="AF2C22"/>
            </a:solidFill>
            <a:prstDash val="solid"/>
            <a:headEnd type="none" w="med" len="med"/>
            <a:tailEnd type="triangle" w="med" len="med"/>
          </a:ln>
        </p:spPr>
      </p:cxnSp>
      <p:cxnSp>
        <p:nvCxnSpPr>
          <p:cNvPr id="121" name="Внешняя проверка → следующий шаг"/>
          <p:cNvCxnSpPr/>
          <p:nvPr/>
        </p:nvCxnSpPr>
        <p:spPr>
          <a:xfrm>
            <a:off x="4597035" y="4574848"/>
            <a:ext cx="0" cy="36540"/>
          </a:xfrm>
          <a:prstGeom prst="line">
            <a:avLst/>
          </a:prstGeom>
          <a:ln w="16510">
            <a:solidFill>
              <a:srgbClr val="AF2C22"/>
            </a:solidFill>
            <a:prstDash val="solid"/>
            <a:headEnd type="none" w="med" len="med"/>
            <a:tailEnd type="triangle" w="med" len="med"/>
          </a:ln>
        </p:spPr>
      </p:cxnSp>
    </p:spTree>
    <p:extLst>
      <p:ext uri="{BB962C8B-B14F-4D97-AF65-F5344CB8AC3E}">
        <p14:creationId xmlns:p14="http://schemas.microsoft.com/office/powerpoint/2010/main" val="1818409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PBU_SAMPLE_04_CLONE_014">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Качество: точность, полнота и F1</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699064"/>
            <a:ext cx="5570492" cy="161442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Macro F1: среднее F1 по документам, каждый имеет одинаковый вес.</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F1: F1 из суммарных TP,FP,FN; документы с большим числом связей дают больше счётчиков.</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яч.8,43.</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Локальный scorer сверяет тройки с наборами эквивалентных форм эталона. Для предикатов игнорируются регистр, пробелы и подчёркивания; для форм регистр и пробелы.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Повторы прогнозов удаляются, учитывается первый совпавший эталон; оптимального взаимно-однозначного сопоставления нет. Оба графа пусты: F1=1; пустой эталон и непустой прогноз:0.</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Эквивалентность evaluator Kaggle не подтверждена. Совпадение с разметкой не устанавливает полноту всех биологических знаний.</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яч.8; §7.1–2 с.119–121/PDF139–141.</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14</a:t>
            </a:fld>
            <a:endParaRPr lang="ru-RU" dirty="0"/>
          </a:p>
        </p:txBody>
      </p:sp>
      <p:sp>
        <p:nvSpPr>
          <p:cNvPr id="100" name="native / 100"/>
          <p:cNvSpPr txBox="1"/>
          <p:nvPr/>
        </p:nvSpPr>
        <p:spPr>
          <a:xfrm>
            <a:off x="238125" y="1268414"/>
            <a:ext cx="5570492" cy="882888"/>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TP: совпавшая эталонная связь</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FP: прогноз без совпадения</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FN: эталонная связь без совпадения</a:t>
            </a:r>
          </a:p>
        </p:txBody>
      </p:sp>
      <p:sp>
        <p:nvSpPr>
          <p:cNvPr id="101" name="native / 101"/>
          <p:cNvSpPr txBox="1"/>
          <p:nvPr/>
        </p:nvSpPr>
        <p:spPr>
          <a:xfrm>
            <a:off x="238125" y="2277429"/>
            <a:ext cx="2451016" cy="731536"/>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Точность (precision)</a:t>
            </a:r>
          </a:p>
        </p:txBody>
      </p:sp>
      <mc:AlternateContent xmlns:mc="http://schemas.openxmlformats.org/markup-compatibility/2006" xmlns:a14="http://schemas.microsoft.com/office/drawing/2010/main">
        <mc:Choice Requires="a14">
          <p:sp>
            <p:nvSpPr>
              <p:cNvPr id="102" name="Точность (precision)"/>
              <p:cNvSpPr txBox="1"/>
              <p:nvPr/>
            </p:nvSpPr>
            <p:spPr>
              <a:xfrm>
                <a:off x="2744846" y="2277429"/>
                <a:ext cx="3063771" cy="731536"/>
              </a:xfrm>
              <a:prstGeom prst="rect">
                <a:avLst/>
              </a:prstGeom>
              <a:noFill/>
              <a:ln w="10160">
                <a:noFill/>
              </a:ln>
            </p:spPr>
            <p:txBody>
              <a:bodyPr wrap="square" lIns="0" tIns="0" rIns="0" bIns="0" anchor="ctr">
                <a:noAutofit/>
              </a:bodyPr>
              <a:lstStyle/>
              <a:p>
                <a:pPr algn="l">
                  <a:buNone/>
                </a:pPr>
                <a14:m>
                  <m:oMathPara xmlns:m="http://schemas.openxmlformats.org/officeDocument/2006/math">
                    <m:oMathParaPr>
                      <m:jc m:val="left"/>
                    </m:oMathParaPr>
                    <m:oMath xmlns:m="http://schemas.openxmlformats.org/officeDocument/2006/math">
                      <m:r>
                        <a:rPr lang="ru-RU" sz="2400" b="0" i="1" dirty="0">
                          <a:solidFill>
                            <a:srgbClr val="181818"/>
                          </a:solidFill>
                          <a:latin typeface="Cambria Math"/>
                          <a:ea typeface="Cambria Math"/>
                          <a:cs typeface="Cambria Math"/>
                        </a:rPr>
                        <m:t>𝑃</m:t>
                      </m:r>
                      <m:r>
                        <a:rPr lang="ru-RU" sz="2400" b="0" i="0" dirty="0">
                          <a:solidFill>
                            <a:srgbClr val="181818"/>
                          </a:solidFill>
                          <a:latin typeface="Cambria Math"/>
                          <a:ea typeface="Cambria Math"/>
                          <a:cs typeface="Cambria Math"/>
                        </a:rPr>
                        <m:t> = </m:t>
                      </m:r>
                      <m:f>
                        <m:fPr>
                          <m:ctrlPr>
                            <a:rPr lang="ru-RU" sz="2400" b="0" i="1" dirty="0">
                              <a:solidFill>
                                <a:srgbClr val="181818"/>
                              </a:solidFill>
                              <a:latin typeface="Cambria Math" panose="02040503050406030204" pitchFamily="18" charset="0"/>
                              <a:ea typeface="Cambria Math"/>
                              <a:cs typeface="Cambria Math"/>
                            </a:rPr>
                          </m:ctrlPr>
                        </m:fPr>
                        <m:num>
                          <m:r>
                            <m:rPr>
                              <m:sty m:val="p"/>
                            </m:rPr>
                            <a:rPr lang="ru-RU" sz="2400" b="0" i="0" dirty="0">
                              <a:solidFill>
                                <a:srgbClr val="181818"/>
                              </a:solidFill>
                              <a:latin typeface="Cambria Math"/>
                              <a:ea typeface="Cambria Math"/>
                              <a:cs typeface="Cambria Math"/>
                            </a:rPr>
                            <m:t>TP</m:t>
                          </m:r>
                        </m:num>
                        <m:den>
                          <m:r>
                            <m:rPr>
                              <m:sty m:val="p"/>
                            </m:rPr>
                            <a:rPr lang="ru-RU" sz="2400" b="0" i="0" dirty="0">
                              <a:solidFill>
                                <a:srgbClr val="181818"/>
                              </a:solidFill>
                              <a:latin typeface="Cambria Math"/>
                              <a:ea typeface="Cambria Math"/>
                              <a:cs typeface="Cambria Math"/>
                            </a:rPr>
                            <m:t>TP</m:t>
                          </m:r>
                          <m:r>
                            <a:rPr lang="ru-RU" sz="2400" b="0" i="0" dirty="0">
                              <a:solidFill>
                                <a:srgbClr val="181818"/>
                              </a:solidFill>
                              <a:latin typeface="Cambria Math"/>
                              <a:ea typeface="Cambria Math"/>
                              <a:cs typeface="Cambria Math"/>
                            </a:rPr>
                            <m:t> + </m:t>
                          </m:r>
                          <m:r>
                            <m:rPr>
                              <m:sty m:val="p"/>
                            </m:rPr>
                            <a:rPr lang="ru-RU" sz="2400" b="0" i="0" dirty="0">
                              <a:solidFill>
                                <a:srgbClr val="181818"/>
                              </a:solidFill>
                              <a:latin typeface="Cambria Math"/>
                              <a:ea typeface="Cambria Math"/>
                              <a:cs typeface="Cambria Math"/>
                            </a:rPr>
                            <m:t>FP</m:t>
                          </m:r>
                        </m:den>
                      </m:f>
                    </m:oMath>
                  </m:oMathPara>
                </a14:m>
                <a:endParaRPr lang="ru-RU" sz="2400" b="0" i="0" dirty="0">
                  <a:solidFill>
                    <a:srgbClr val="181818"/>
                  </a:solidFill>
                  <a:latin typeface="Cambria Math"/>
                  <a:ea typeface="Cambria Math"/>
                  <a:cs typeface="Cambria Math"/>
                </a:endParaRPr>
              </a:p>
            </p:txBody>
          </p:sp>
        </mc:Choice>
        <mc:Fallback xmlns:m="http://schemas.openxmlformats.org/officeDocument/2006/math" xmlns="">
          <p:sp xmlns:p="http://schemas.openxmlformats.org/presentationml/2006/main" xmlns:a="http://schemas.openxmlformats.org/drawingml/2006/main">
            <p:nvSpPr>
              <p:cNvPr id="100102000" name="Точность (precision) / native math text"/>
              <p:cNvSpPr txBox="1"/>
              <p:nvPr/>
            </p:nvSpPr>
            <p:spPr>
              <a:xfrm>
                <a:off x="2744846" y="2277429"/>
                <a:ext cx="667512" cy="731536"/>
              </a:xfrm>
              <a:prstGeom prst="rect">
                <a:avLst/>
              </a:prstGeom>
              <a:noFill/>
              <a:ln w="10160">
                <a:noFill/>
              </a:ln>
            </p:spPr>
            <p:txBody>
              <a:bodyPr wrap="none" lIns="0" rIns="0" tIns="0" bIns="0" anchor="ctr">
                <a:noAutofit/>
              </a:bodyPr>
              <a:lstStyle/>
              <a:p>
                <a:pPr algn="l" marL="0" indent="0">
                  <a:lnSpc>
                    <a:spcPct val="100000"/>
                  </a:lnSpc>
                  <a:spcAft>
                    <a:spcPts val="0"/>
                  </a:spcAft>
                  <a:buNone/>
                  <a:defRPr lang="ru-RU" sz="2400" b="0" i="0" dirty="0">
                    <a:solidFill>
                      <a:srgbClr val="181818"/>
                    </a:solidFill>
                    <a:latin typeface="Cambria Math"/>
                    <a:ea typeface="Cambria Math"/>
                    <a:cs typeface="Cambria Math"/>
                  </a:defRPr>
                </a:pPr>
                <a:r>
                  <a:rPr lang="ru-RU" sz="2400" b="0" i="0" dirty="0">
                    <a:solidFill>
                      <a:srgbClr val="181818"/>
                    </a:solidFill>
                    <a:latin typeface="Cambria Math"/>
                    <a:ea typeface="Cambria Math"/>
                    <a:cs typeface="Cambria Math"/>
                  </a:rPr>
                  <a:t>P =</a:t>
                </a:r>
                <a:endParaRPr lang="ru-RU" sz="24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2001" name="Точность (precision) / native math text"/>
              <p:cNvSpPr txBox="1"/>
              <p:nvPr/>
            </p:nvSpPr>
            <p:spPr>
              <a:xfrm>
                <a:off x="3467222" y="2284744"/>
                <a:ext cx="2341395" cy="325534"/>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000" b="0" i="0" dirty="0">
                    <a:solidFill>
                      <a:srgbClr val="181818"/>
                    </a:solidFill>
                    <a:latin typeface="Cambria Math"/>
                    <a:ea typeface="Cambria Math"/>
                    <a:cs typeface="Cambria Math"/>
                  </a:defRPr>
                </a:pPr>
                <a:r>
                  <a:rPr lang="ru-RU" sz="2000" b="0" i="0" dirty="0">
                    <a:solidFill>
                      <a:srgbClr val="181818"/>
                    </a:solidFill>
                    <a:latin typeface="Cambria Math"/>
                    <a:ea typeface="Cambria Math"/>
                    <a:cs typeface="Cambria Math"/>
                  </a:rPr>
                  <a:t>TP</a:t>
                </a:r>
                <a:endParaRPr lang="ru-RU" sz="20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2002" name="Точность (precision) / native math rule"/>
              <p:cNvSpPr txBox="0"/>
              <p:nvPr/>
            </p:nvSpPr>
            <p:spPr>
              <a:xfrm flipH="0" flipV="0">
                <a:off x="3467222" y="2643197"/>
                <a:ext cx="2341395" cy="0"/>
              </a:xfrm>
              <a:prstGeom prst="line">
                <a:avLst/>
              </a:prstGeom>
              <a:ln w="12700">
                <a:solidFill>
                  <a:srgbClr val="181818"/>
                </a:solidFill>
              </a:ln>
            </p:spPr>
          </p:sp>
          <p:sp xmlns:p="http://schemas.openxmlformats.org/presentationml/2006/main" xmlns:a="http://schemas.openxmlformats.org/drawingml/2006/main">
            <p:nvSpPr>
              <p:cNvPr id="100102003" name="Точность (precision) / native math text"/>
              <p:cNvSpPr txBox="1"/>
              <p:nvPr/>
            </p:nvSpPr>
            <p:spPr>
              <a:xfrm>
                <a:off x="3467222" y="2679774"/>
                <a:ext cx="2341395" cy="321876"/>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000" b="0" i="0" dirty="0">
                    <a:solidFill>
                      <a:srgbClr val="181818"/>
                    </a:solidFill>
                    <a:latin typeface="Cambria Math"/>
                    <a:ea typeface="Cambria Math"/>
                    <a:cs typeface="Cambria Math"/>
                  </a:defRPr>
                </a:pPr>
                <a:r>
                  <a:rPr lang="ru-RU" sz="2000" b="0" i="0" dirty="0">
                    <a:solidFill>
                      <a:srgbClr val="181818"/>
                    </a:solidFill>
                    <a:latin typeface="Cambria Math"/>
                    <a:ea typeface="Cambria Math"/>
                    <a:cs typeface="Cambria Math"/>
                  </a:rPr>
                  <a:t>TP + FP</a:t>
                </a:r>
                <a:endParaRPr lang="ru-RU" sz="2000" b="0" i="0" dirty="0">
                  <a:solidFill>
                    <a:srgbClr val="181818"/>
                  </a:solidFill>
                  <a:latin typeface="Cambria Math"/>
                  <a:ea typeface="Cambria Math"/>
                  <a:cs typeface="Cambria Math"/>
                </a:endParaRPr>
              </a:p>
            </p:txBody>
          </p:sp>
        </mc:Fallback>
      </mc:AlternateContent>
      <p:sp>
        <p:nvSpPr>
          <p:cNvPr id="103" name="native / 103"/>
          <p:cNvSpPr txBox="1"/>
          <p:nvPr/>
        </p:nvSpPr>
        <p:spPr>
          <a:xfrm>
            <a:off x="238125" y="3059415"/>
            <a:ext cx="2451016" cy="731536"/>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Полнота (recall)</a:t>
            </a:r>
          </a:p>
        </p:txBody>
      </p:sp>
      <mc:AlternateContent xmlns:mc="http://schemas.openxmlformats.org/markup-compatibility/2006" xmlns:a14="http://schemas.microsoft.com/office/drawing/2010/main">
        <mc:Choice Requires="a14">
          <p:sp>
            <p:nvSpPr>
              <p:cNvPr id="104" name="Полнота (recall)"/>
              <p:cNvSpPr txBox="1"/>
              <p:nvPr/>
            </p:nvSpPr>
            <p:spPr>
              <a:xfrm>
                <a:off x="2744846" y="3059415"/>
                <a:ext cx="3063771" cy="731536"/>
              </a:xfrm>
              <a:prstGeom prst="rect">
                <a:avLst/>
              </a:prstGeom>
              <a:noFill/>
              <a:ln w="10160">
                <a:noFill/>
              </a:ln>
            </p:spPr>
            <p:txBody>
              <a:bodyPr wrap="square" lIns="0" tIns="0" rIns="0" bIns="0" anchor="ctr">
                <a:noAutofit/>
              </a:bodyPr>
              <a:lstStyle/>
              <a:p>
                <a:pPr algn="l">
                  <a:buNone/>
                </a:pPr>
                <a14:m>
                  <m:oMathPara xmlns:m="http://schemas.openxmlformats.org/officeDocument/2006/math">
                    <m:oMathParaPr>
                      <m:jc m:val="left"/>
                    </m:oMathParaPr>
                    <m:oMath xmlns:m="http://schemas.openxmlformats.org/officeDocument/2006/math">
                      <m:r>
                        <a:rPr lang="ru-RU" sz="2400" b="0" i="1" dirty="0">
                          <a:solidFill>
                            <a:srgbClr val="181818"/>
                          </a:solidFill>
                          <a:latin typeface="Cambria Math"/>
                          <a:ea typeface="Cambria Math"/>
                          <a:cs typeface="Cambria Math"/>
                        </a:rPr>
                        <m:t>𝑅</m:t>
                      </m:r>
                      <m:r>
                        <a:rPr lang="ru-RU" sz="2400" b="0" i="0" dirty="0">
                          <a:solidFill>
                            <a:srgbClr val="181818"/>
                          </a:solidFill>
                          <a:latin typeface="Cambria Math"/>
                          <a:ea typeface="Cambria Math"/>
                          <a:cs typeface="Cambria Math"/>
                        </a:rPr>
                        <m:t> = </m:t>
                      </m:r>
                      <m:f>
                        <m:fPr>
                          <m:ctrlPr>
                            <a:rPr lang="ru-RU" sz="2400" b="0" i="1" dirty="0">
                              <a:solidFill>
                                <a:srgbClr val="181818"/>
                              </a:solidFill>
                              <a:latin typeface="Cambria Math" panose="02040503050406030204" pitchFamily="18" charset="0"/>
                              <a:ea typeface="Cambria Math"/>
                              <a:cs typeface="Cambria Math"/>
                            </a:rPr>
                          </m:ctrlPr>
                        </m:fPr>
                        <m:num>
                          <m:r>
                            <m:rPr>
                              <m:sty m:val="p"/>
                            </m:rPr>
                            <a:rPr lang="ru-RU" sz="2400" b="0" i="0" dirty="0">
                              <a:solidFill>
                                <a:srgbClr val="181818"/>
                              </a:solidFill>
                              <a:latin typeface="Cambria Math"/>
                              <a:ea typeface="Cambria Math"/>
                              <a:cs typeface="Cambria Math"/>
                            </a:rPr>
                            <m:t>TP</m:t>
                          </m:r>
                        </m:num>
                        <m:den>
                          <m:r>
                            <m:rPr>
                              <m:sty m:val="p"/>
                            </m:rPr>
                            <a:rPr lang="ru-RU" sz="2400" b="0" i="0" dirty="0">
                              <a:solidFill>
                                <a:srgbClr val="181818"/>
                              </a:solidFill>
                              <a:latin typeface="Cambria Math"/>
                              <a:ea typeface="Cambria Math"/>
                              <a:cs typeface="Cambria Math"/>
                            </a:rPr>
                            <m:t>TP</m:t>
                          </m:r>
                          <m:r>
                            <a:rPr lang="ru-RU" sz="2400" b="0" i="0" dirty="0">
                              <a:solidFill>
                                <a:srgbClr val="181818"/>
                              </a:solidFill>
                              <a:latin typeface="Cambria Math"/>
                              <a:ea typeface="Cambria Math"/>
                              <a:cs typeface="Cambria Math"/>
                            </a:rPr>
                            <m:t> + </m:t>
                          </m:r>
                          <m:r>
                            <m:rPr>
                              <m:sty m:val="p"/>
                            </m:rPr>
                            <a:rPr lang="ru-RU" sz="2400" b="0" i="0" dirty="0">
                              <a:solidFill>
                                <a:srgbClr val="181818"/>
                              </a:solidFill>
                              <a:latin typeface="Cambria Math"/>
                              <a:ea typeface="Cambria Math"/>
                              <a:cs typeface="Cambria Math"/>
                            </a:rPr>
                            <m:t>FN</m:t>
                          </m:r>
                        </m:den>
                      </m:f>
                    </m:oMath>
                  </m:oMathPara>
                </a14:m>
                <a:endParaRPr lang="ru-RU" sz="2400" b="0" i="0" dirty="0">
                  <a:solidFill>
                    <a:srgbClr val="181818"/>
                  </a:solidFill>
                  <a:latin typeface="Cambria Math"/>
                  <a:ea typeface="Cambria Math"/>
                  <a:cs typeface="Cambria Math"/>
                </a:endParaRPr>
              </a:p>
            </p:txBody>
          </p:sp>
        </mc:Choice>
        <mc:Fallback xmlns:m="http://schemas.openxmlformats.org/officeDocument/2006/math" xmlns="">
          <p:sp xmlns:p="http://schemas.openxmlformats.org/presentationml/2006/main" xmlns:a="http://schemas.openxmlformats.org/drawingml/2006/main">
            <p:nvSpPr>
              <p:cNvPr id="100104000" name="Полнота (recall) / native math text"/>
              <p:cNvSpPr txBox="1"/>
              <p:nvPr/>
            </p:nvSpPr>
            <p:spPr>
              <a:xfrm>
                <a:off x="2744846" y="3059415"/>
                <a:ext cx="667512" cy="731536"/>
              </a:xfrm>
              <a:prstGeom prst="rect">
                <a:avLst/>
              </a:prstGeom>
              <a:noFill/>
              <a:ln w="10160">
                <a:noFill/>
              </a:ln>
            </p:spPr>
            <p:txBody>
              <a:bodyPr wrap="none" lIns="0" rIns="0" tIns="0" bIns="0" anchor="ctr">
                <a:noAutofit/>
              </a:bodyPr>
              <a:lstStyle/>
              <a:p>
                <a:pPr algn="l" marL="0" indent="0">
                  <a:lnSpc>
                    <a:spcPct val="100000"/>
                  </a:lnSpc>
                  <a:spcAft>
                    <a:spcPts val="0"/>
                  </a:spcAft>
                  <a:buNone/>
                  <a:defRPr lang="ru-RU" sz="2400" b="0" i="0" dirty="0">
                    <a:solidFill>
                      <a:srgbClr val="181818"/>
                    </a:solidFill>
                    <a:latin typeface="Cambria Math"/>
                    <a:ea typeface="Cambria Math"/>
                    <a:cs typeface="Cambria Math"/>
                  </a:defRPr>
                </a:pPr>
                <a:r>
                  <a:rPr lang="ru-RU" sz="2400" b="0" i="0" dirty="0">
                    <a:solidFill>
                      <a:srgbClr val="181818"/>
                    </a:solidFill>
                    <a:latin typeface="Cambria Math"/>
                    <a:ea typeface="Cambria Math"/>
                    <a:cs typeface="Cambria Math"/>
                  </a:rPr>
                  <a:t>R =</a:t>
                </a:r>
                <a:endParaRPr lang="ru-RU" sz="24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4001" name="Полнота (recall) / native math text"/>
              <p:cNvSpPr txBox="1"/>
              <p:nvPr/>
            </p:nvSpPr>
            <p:spPr>
              <a:xfrm>
                <a:off x="3467222" y="3066730"/>
                <a:ext cx="2341395" cy="325534"/>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000" b="0" i="0" dirty="0">
                    <a:solidFill>
                      <a:srgbClr val="181818"/>
                    </a:solidFill>
                    <a:latin typeface="Cambria Math"/>
                    <a:ea typeface="Cambria Math"/>
                    <a:cs typeface="Cambria Math"/>
                  </a:defRPr>
                </a:pPr>
                <a:r>
                  <a:rPr lang="ru-RU" sz="2000" b="0" i="0" dirty="0">
                    <a:solidFill>
                      <a:srgbClr val="181818"/>
                    </a:solidFill>
                    <a:latin typeface="Cambria Math"/>
                    <a:ea typeface="Cambria Math"/>
                    <a:cs typeface="Cambria Math"/>
                  </a:rPr>
                  <a:t>TP</a:t>
                </a:r>
                <a:endParaRPr lang="ru-RU" sz="20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4002" name="Полнота (recall) / native math rule"/>
              <p:cNvSpPr txBox="0"/>
              <p:nvPr/>
            </p:nvSpPr>
            <p:spPr>
              <a:xfrm flipH="0" flipV="0">
                <a:off x="3467222" y="3425183"/>
                <a:ext cx="2341395" cy="0"/>
              </a:xfrm>
              <a:prstGeom prst="line">
                <a:avLst/>
              </a:prstGeom>
              <a:ln w="12700">
                <a:solidFill>
                  <a:srgbClr val="181818"/>
                </a:solidFill>
              </a:ln>
            </p:spPr>
          </p:sp>
          <p:sp xmlns:p="http://schemas.openxmlformats.org/presentationml/2006/main" xmlns:a="http://schemas.openxmlformats.org/drawingml/2006/main">
            <p:nvSpPr>
              <p:cNvPr id="100104003" name="Полнота (recall) / native math text"/>
              <p:cNvSpPr txBox="1"/>
              <p:nvPr/>
            </p:nvSpPr>
            <p:spPr>
              <a:xfrm>
                <a:off x="3467222" y="3461760"/>
                <a:ext cx="2341395" cy="321876"/>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000" b="0" i="0" dirty="0">
                    <a:solidFill>
                      <a:srgbClr val="181818"/>
                    </a:solidFill>
                    <a:latin typeface="Cambria Math"/>
                    <a:ea typeface="Cambria Math"/>
                    <a:cs typeface="Cambria Math"/>
                  </a:defRPr>
                </a:pPr>
                <a:r>
                  <a:rPr lang="ru-RU" sz="2000" b="0" i="0" dirty="0">
                    <a:solidFill>
                      <a:srgbClr val="181818"/>
                    </a:solidFill>
                    <a:latin typeface="Cambria Math"/>
                    <a:ea typeface="Cambria Math"/>
                    <a:cs typeface="Cambria Math"/>
                  </a:rPr>
                  <a:t>TP + FN</a:t>
                </a:r>
                <a:endParaRPr lang="ru-RU" sz="2000" b="0" i="0" dirty="0">
                  <a:solidFill>
                    <a:srgbClr val="181818"/>
                  </a:solidFill>
                  <a:latin typeface="Cambria Math"/>
                  <a:ea typeface="Cambria Math"/>
                  <a:cs typeface="Cambria Math"/>
                </a:endParaRPr>
              </a:p>
            </p:txBody>
          </p:sp>
        </mc:Fallback>
      </mc:AlternateContent>
      <p:sp>
        <p:nvSpPr>
          <p:cNvPr id="105" name="native / 105"/>
          <p:cNvSpPr txBox="1"/>
          <p:nvPr/>
        </p:nvSpPr>
        <p:spPr>
          <a:xfrm>
            <a:off x="238125" y="3841402"/>
            <a:ext cx="2451016" cy="731536"/>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F1</a:t>
            </a:r>
          </a:p>
        </p:txBody>
      </p:sp>
      <mc:AlternateContent xmlns:mc="http://schemas.openxmlformats.org/markup-compatibility/2006" xmlns:a14="http://schemas.microsoft.com/office/drawing/2010/main">
        <mc:Choice Requires="a14">
          <p:sp>
            <p:nvSpPr>
              <p:cNvPr id="106" name="F1"/>
              <p:cNvSpPr txBox="1"/>
              <p:nvPr/>
            </p:nvSpPr>
            <p:spPr>
              <a:xfrm>
                <a:off x="2744846" y="3841402"/>
                <a:ext cx="3063771" cy="731536"/>
              </a:xfrm>
              <a:prstGeom prst="rect">
                <a:avLst/>
              </a:prstGeom>
              <a:noFill/>
              <a:ln w="10160">
                <a:noFill/>
              </a:ln>
            </p:spPr>
            <p:txBody>
              <a:bodyPr wrap="square" lIns="0" tIns="0" rIns="0" bIns="0" anchor="ctr">
                <a:noAutofit/>
              </a:bodyPr>
              <a:lstStyle/>
              <a:p>
                <a:pPr algn="l">
                  <a:buNone/>
                </a:pPr>
                <a14:m>
                  <m:oMathPara xmlns:m="http://schemas.openxmlformats.org/officeDocument/2006/math">
                    <m:oMathParaPr>
                      <m:jc m:val="left"/>
                    </m:oMathParaPr>
                    <m:oMath xmlns:m="http://schemas.openxmlformats.org/officeDocument/2006/math">
                      <m:sSub>
                        <m:sSubPr>
                          <m:ctrlPr>
                            <a:rPr lang="ru-RU" sz="2400" b="0" dirty="0">
                              <a:solidFill>
                                <a:srgbClr val="181818"/>
                              </a:solidFill>
                              <a:latin typeface="Cambria Math" panose="02040503050406030204" pitchFamily="18" charset="0"/>
                              <a:ea typeface="Cambria Math"/>
                              <a:cs typeface="Cambria Math"/>
                            </a:rPr>
                          </m:ctrlPr>
                        </m:sSubPr>
                        <m:e>
                          <m:r>
                            <a:rPr lang="ru-RU" sz="2400" b="0" i="1" dirty="0">
                              <a:solidFill>
                                <a:srgbClr val="181818"/>
                              </a:solidFill>
                              <a:latin typeface="Cambria Math"/>
                              <a:ea typeface="Cambria Math"/>
                              <a:cs typeface="Cambria Math"/>
                            </a:rPr>
                            <m:t>𝐹</m:t>
                          </m:r>
                        </m:e>
                        <m:sub>
                          <m:r>
                            <a:rPr lang="ru-RU" sz="2400" b="0" i="0" dirty="0">
                              <a:solidFill>
                                <a:srgbClr val="181818"/>
                              </a:solidFill>
                              <a:latin typeface="Cambria Math"/>
                              <a:ea typeface="Cambria Math"/>
                              <a:cs typeface="Cambria Math"/>
                            </a:rPr>
                            <m:t>1</m:t>
                          </m:r>
                        </m:sub>
                      </m:sSub>
                      <m:r>
                        <a:rPr lang="ru-RU" sz="2400" b="0" i="0" dirty="0">
                          <a:solidFill>
                            <a:srgbClr val="181818"/>
                          </a:solidFill>
                          <a:latin typeface="Cambria Math"/>
                          <a:ea typeface="Cambria Math"/>
                          <a:cs typeface="Cambria Math"/>
                        </a:rPr>
                        <m:t> = </m:t>
                      </m:r>
                      <m:f>
                        <m:fPr>
                          <m:ctrlPr>
                            <a:rPr lang="ru-RU" sz="2400" b="0" i="1" dirty="0">
                              <a:solidFill>
                                <a:srgbClr val="181818"/>
                              </a:solidFill>
                              <a:latin typeface="Cambria Math" panose="02040503050406030204" pitchFamily="18" charset="0"/>
                              <a:ea typeface="Cambria Math"/>
                              <a:cs typeface="Cambria Math"/>
                            </a:rPr>
                          </m:ctrlPr>
                        </m:fPr>
                        <m:num>
                          <m:r>
                            <a:rPr lang="ru-RU" sz="2400" b="0" i="0" dirty="0">
                              <a:solidFill>
                                <a:srgbClr val="181818"/>
                              </a:solidFill>
                              <a:latin typeface="Cambria Math"/>
                              <a:ea typeface="Cambria Math"/>
                              <a:cs typeface="Cambria Math"/>
                            </a:rPr>
                            <m:t>2</m:t>
                          </m:r>
                          <m:r>
                            <m:rPr>
                              <m:sty m:val="p"/>
                            </m:rPr>
                            <a:rPr lang="ru-RU" sz="2400" b="0" i="0" dirty="0">
                              <a:solidFill>
                                <a:srgbClr val="181818"/>
                              </a:solidFill>
                              <a:latin typeface="Cambria Math"/>
                              <a:ea typeface="Cambria Math"/>
                              <a:cs typeface="Cambria Math"/>
                            </a:rPr>
                            <m:t>TP</m:t>
                          </m:r>
                        </m:num>
                        <m:den>
                          <m:r>
                            <a:rPr lang="ru-RU" sz="2400" b="0" i="0" dirty="0">
                              <a:solidFill>
                                <a:srgbClr val="181818"/>
                              </a:solidFill>
                              <a:latin typeface="Cambria Math"/>
                              <a:ea typeface="Cambria Math"/>
                              <a:cs typeface="Cambria Math"/>
                            </a:rPr>
                            <m:t>2</m:t>
                          </m:r>
                          <m:r>
                            <m:rPr>
                              <m:sty m:val="p"/>
                            </m:rPr>
                            <a:rPr lang="ru-RU" sz="2400" b="0" i="0" dirty="0">
                              <a:solidFill>
                                <a:srgbClr val="181818"/>
                              </a:solidFill>
                              <a:latin typeface="Cambria Math"/>
                              <a:ea typeface="Cambria Math"/>
                              <a:cs typeface="Cambria Math"/>
                            </a:rPr>
                            <m:t>TP</m:t>
                          </m:r>
                          <m:r>
                            <a:rPr lang="ru-RU" sz="2400" b="0" i="0" dirty="0">
                              <a:solidFill>
                                <a:srgbClr val="181818"/>
                              </a:solidFill>
                              <a:latin typeface="Cambria Math"/>
                              <a:ea typeface="Cambria Math"/>
                              <a:cs typeface="Cambria Math"/>
                            </a:rPr>
                            <m:t> + </m:t>
                          </m:r>
                          <m:r>
                            <m:rPr>
                              <m:sty m:val="p"/>
                            </m:rPr>
                            <a:rPr lang="ru-RU" sz="2400" b="0" i="0" dirty="0">
                              <a:solidFill>
                                <a:srgbClr val="181818"/>
                              </a:solidFill>
                              <a:latin typeface="Cambria Math"/>
                              <a:ea typeface="Cambria Math"/>
                              <a:cs typeface="Cambria Math"/>
                            </a:rPr>
                            <m:t>FP</m:t>
                          </m:r>
                          <m:r>
                            <a:rPr lang="ru-RU" sz="2400" b="0" i="0" dirty="0">
                              <a:solidFill>
                                <a:srgbClr val="181818"/>
                              </a:solidFill>
                              <a:latin typeface="Cambria Math"/>
                              <a:ea typeface="Cambria Math"/>
                              <a:cs typeface="Cambria Math"/>
                            </a:rPr>
                            <m:t> + </m:t>
                          </m:r>
                          <m:r>
                            <m:rPr>
                              <m:sty m:val="p"/>
                            </m:rPr>
                            <a:rPr lang="ru-RU" sz="2400" b="0" i="0" dirty="0">
                              <a:solidFill>
                                <a:srgbClr val="181818"/>
                              </a:solidFill>
                              <a:latin typeface="Cambria Math"/>
                              <a:ea typeface="Cambria Math"/>
                              <a:cs typeface="Cambria Math"/>
                            </a:rPr>
                            <m:t>FN</m:t>
                          </m:r>
                        </m:den>
                      </m:f>
                    </m:oMath>
                  </m:oMathPara>
                </a14:m>
                <a:endParaRPr lang="ru-RU" sz="2400" b="0" i="0" dirty="0">
                  <a:solidFill>
                    <a:srgbClr val="181818"/>
                  </a:solidFill>
                  <a:latin typeface="Cambria Math"/>
                  <a:ea typeface="Cambria Math"/>
                  <a:cs typeface="Cambria Math"/>
                </a:endParaRPr>
              </a:p>
            </p:txBody>
          </p:sp>
        </mc:Choice>
        <mc:Fallback xmlns:m="http://schemas.openxmlformats.org/officeDocument/2006/math" xmlns="">
          <p:sp xmlns:p="http://schemas.openxmlformats.org/presentationml/2006/main" xmlns:a="http://schemas.openxmlformats.org/drawingml/2006/main">
            <p:nvSpPr>
              <p:cNvPr id="100106000" name="F1 / native math text"/>
              <p:cNvSpPr txBox="1"/>
              <p:nvPr/>
            </p:nvSpPr>
            <p:spPr>
              <a:xfrm>
                <a:off x="2744846" y="3841402"/>
                <a:ext cx="667512" cy="731536"/>
              </a:xfrm>
              <a:prstGeom prst="rect">
                <a:avLst/>
              </a:prstGeom>
              <a:noFill/>
              <a:ln w="10160">
                <a:noFill/>
              </a:ln>
            </p:spPr>
            <p:txBody>
              <a:bodyPr wrap="none" lIns="0" rIns="0" tIns="0" bIns="0" anchor="ctr">
                <a:noAutofit/>
              </a:bodyPr>
              <a:lstStyle/>
              <a:p>
                <a:pPr algn="l" marL="0" indent="0">
                  <a:lnSpc>
                    <a:spcPct val="100000"/>
                  </a:lnSpc>
                  <a:spcAft>
                    <a:spcPts val="0"/>
                  </a:spcAft>
                  <a:buNone/>
                  <a:defRPr lang="ru-RU" sz="2400" b="0" i="0" dirty="0">
                    <a:solidFill>
                      <a:srgbClr val="181818"/>
                    </a:solidFill>
                    <a:latin typeface="Cambria Math"/>
                    <a:ea typeface="Cambria Math"/>
                    <a:cs typeface="Cambria Math"/>
                  </a:defRPr>
                </a:pPr>
                <a:r>
                  <a:rPr lang="ru-RU" sz="2400" b="0" i="1" dirty="0" baseline="0">
                    <a:solidFill>
                      <a:srgbClr val="181818"/>
                    </a:solidFill>
                    <a:latin typeface="Cambria Math"/>
                    <a:ea typeface="Cambria Math"/>
                    <a:cs typeface="Cambria Math"/>
                  </a:rPr>
                  <a:t>F</a:t>
                </a:r>
                <a:r>
                  <a:rPr lang="ru-RU" sz="2000" b="0" i="0" dirty="0" baseline="-25000">
                    <a:solidFill>
                      <a:srgbClr val="181818"/>
                    </a:solidFill>
                    <a:latin typeface="Cambria Math"/>
                    <a:ea typeface="Cambria Math"/>
                    <a:cs typeface="Cambria Math"/>
                  </a:rPr>
                  <a:t>1</a:t>
                </a:r>
                <a:r>
                  <a:rPr lang="ru-RU" sz="2400" b="0" i="0" dirty="0" baseline="0">
                    <a:solidFill>
                      <a:srgbClr val="181818"/>
                    </a:solidFill>
                    <a:latin typeface="Cambria Math"/>
                    <a:ea typeface="Cambria Math"/>
                    <a:cs typeface="Cambria Math"/>
                  </a:rPr>
                  <a:t> =</a:t>
                </a:r>
                <a:endParaRPr lang="ru-RU" sz="24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6001" name="F1 / native math text"/>
              <p:cNvSpPr txBox="1"/>
              <p:nvPr/>
            </p:nvSpPr>
            <p:spPr>
              <a:xfrm>
                <a:off x="3467222" y="3848717"/>
                <a:ext cx="2341395" cy="325534"/>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000" b="0" i="0" dirty="0">
                    <a:solidFill>
                      <a:srgbClr val="181818"/>
                    </a:solidFill>
                    <a:latin typeface="Cambria Math"/>
                    <a:ea typeface="Cambria Math"/>
                    <a:cs typeface="Cambria Math"/>
                  </a:defRPr>
                </a:pPr>
                <a:r>
                  <a:rPr lang="ru-RU" sz="2000" b="0" i="0" dirty="0">
                    <a:solidFill>
                      <a:srgbClr val="181818"/>
                    </a:solidFill>
                    <a:latin typeface="Cambria Math"/>
                    <a:ea typeface="Cambria Math"/>
                    <a:cs typeface="Cambria Math"/>
                  </a:rPr>
                  <a:t>2TP</a:t>
                </a:r>
                <a:endParaRPr lang="ru-RU" sz="2000" b="0" i="0" dirty="0">
                  <a:solidFill>
                    <a:srgbClr val="181818"/>
                  </a:solidFill>
                  <a:latin typeface="Cambria Math"/>
                  <a:ea typeface="Cambria Math"/>
                  <a:cs typeface="Cambria Math"/>
                </a:endParaRPr>
              </a:p>
            </p:txBody>
          </p:sp>
          <p:sp xmlns:p="http://schemas.openxmlformats.org/presentationml/2006/main" xmlns:a="http://schemas.openxmlformats.org/drawingml/2006/main">
            <p:nvSpPr>
              <p:cNvPr id="100106002" name="F1 / native math rule"/>
              <p:cNvSpPr txBox="0"/>
              <p:nvPr/>
            </p:nvSpPr>
            <p:spPr>
              <a:xfrm flipH="0" flipV="0">
                <a:off x="3467222" y="4207170"/>
                <a:ext cx="2341395" cy="0"/>
              </a:xfrm>
              <a:prstGeom prst="line">
                <a:avLst/>
              </a:prstGeom>
              <a:ln w="12700">
                <a:solidFill>
                  <a:srgbClr val="181818"/>
                </a:solidFill>
              </a:ln>
            </p:spPr>
          </p:sp>
          <p:sp xmlns:p="http://schemas.openxmlformats.org/presentationml/2006/main" xmlns:a="http://schemas.openxmlformats.org/drawingml/2006/main">
            <p:nvSpPr>
              <p:cNvPr id="100106003" name="F1 / native math text"/>
              <p:cNvSpPr txBox="1"/>
              <p:nvPr/>
            </p:nvSpPr>
            <p:spPr>
              <a:xfrm>
                <a:off x="3467222" y="4243747"/>
                <a:ext cx="2341395" cy="321876"/>
              </a:xfrm>
              <a:prstGeom prst="rect">
                <a:avLst/>
              </a:prstGeom>
              <a:noFill/>
              <a:ln w="10160">
                <a:noFill/>
              </a:ln>
            </p:spPr>
            <p:txBody>
              <a:bodyPr wrap="none" lIns="0" rIns="0" tIns="0" bIns="0" anchor="ctr">
                <a:noAutofit/>
              </a:bodyPr>
              <a:lstStyle/>
              <a:p>
                <a:pPr algn="ctr" marL="0" indent="0">
                  <a:lnSpc>
                    <a:spcPct val="100000"/>
                  </a:lnSpc>
                  <a:spcAft>
                    <a:spcPts val="0"/>
                  </a:spcAft>
                  <a:buNone/>
                  <a:defRPr lang="ru-RU" sz="2000" b="0" i="0" dirty="0">
                    <a:solidFill>
                      <a:srgbClr val="181818"/>
                    </a:solidFill>
                    <a:latin typeface="Cambria Math"/>
                    <a:ea typeface="Cambria Math"/>
                    <a:cs typeface="Cambria Math"/>
                  </a:defRPr>
                </a:pPr>
                <a:r>
                  <a:rPr lang="ru-RU" sz="2000" b="0" i="0" dirty="0">
                    <a:solidFill>
                      <a:srgbClr val="181818"/>
                    </a:solidFill>
                    <a:latin typeface="Cambria Math"/>
                    <a:ea typeface="Cambria Math"/>
                    <a:cs typeface="Cambria Math"/>
                  </a:rPr>
                  <a:t>2TP + FP + FN</a:t>
                </a:r>
                <a:endParaRPr lang="ru-RU" sz="2000" b="0" i="0" dirty="0">
                  <a:solidFill>
                    <a:srgbClr val="181818"/>
                  </a:solidFill>
                  <a:latin typeface="Cambria Math"/>
                  <a:ea typeface="Cambria Math"/>
                  <a:cs typeface="Cambria Math"/>
                </a:endParaRPr>
              </a:p>
            </p:txBody>
          </p:sp>
        </mc:Fallback>
      </mc:AlternateContent>
    </p:spTree>
    <p:extLst>
      <p:ext uri="{BB962C8B-B14F-4D97-AF65-F5344CB8AC3E}">
        <p14:creationId xmlns:p14="http://schemas.microsoft.com/office/powerpoint/2010/main" val="1818409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PBU_SAMPLE_04_CLONE_015">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Сопоставимое сравнение </a:t>
            </a:r>
            <a:br>
              <a:rPr lang="ru-RU" sz="3200" dirty="0">
                <a:latin typeface="Segoe UI"/>
                <a:ea typeface="Segoe UI"/>
                <a:cs typeface="Segoe UI"/>
              </a:rPr>
            </a:br>
            <a:r>
              <a:rPr lang="ru-RU" sz="3200" dirty="0">
                <a:latin typeface="Segoe UI"/>
                <a:ea typeface="Segoe UI"/>
                <a:cs typeface="Segoe UI"/>
              </a:rPr>
              <a:t>двух вариантов</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Прежняя группировка (legacy)</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Macro F1:0.527168</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precision:0.583541</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recall:0.461084</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F1:0.515135</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При ссылке на полное название сокращение могло остаться с ключом раскрытой строки, а полная форма — с ключом нормализации. Один объект мог попасть в разные группы.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Общие условия: внешние фолды, NER-прогнозы, scorer,250 раундов,seed 0,rho0.7,empty_t0.3.</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Исторический F1≈0.5428 получен зависимым протоколом и здесь не сопоставим.</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Исправленная группировка (fixed)</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Macro F1:0.532901</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precision:0.583594</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recall:0.459113</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Micro F1:0.513923</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Сначала ищется нормализация раскрытого полного названия, затем исходной формы; иначе используется раскрытая строка. Это даёт формам общий ключ, если известна ссылка.</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Macro:+0.005732;micro:−0.001211.</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Сравнение относится к группировке в одном независимом протоколе, не к эффекту графового контейнера.</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quality.json, comparison; notebook, cluster.</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15</a:t>
            </a:fld>
            <a:endParaRPr lang="ru-RU" dirty="0"/>
          </a:p>
        </p:txBody>
      </p:sp>
    </p:spTree>
    <p:extLst>
      <p:ext uri="{BB962C8B-B14F-4D97-AF65-F5344CB8AC3E}">
        <p14:creationId xmlns:p14="http://schemas.microsoft.com/office/powerpoint/2010/main" val="1818409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PBU_SAMPLE_04_CLONE_016">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Kaggle и воспроизводимый результат</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3463021"/>
            <a:ext cx="5570492" cy="2850467"/>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Подтверждение: снимок пользователя.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Статус: Complete (after deadline).</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Точный прежний CSV и прежний private неизвестны. Официальное место в зачёте не заявляется.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Public/private относятся к разным частям test. Эти числа нельзя напрямую сравнивать с локальной CV и приписывать весь прирост одному изменению.</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kaggle-validation.json.</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CSV побайтово совпадает с подтверждённым файлом; оценки применяются при совпадении SHA256.</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31 кодовая ячейка прошла новые ядра:</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холодный запуск:1086.95 с</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 кэшем:49.22 с</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из fdd:47.95 с</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CSV и локальные метрики совпали. Сохранены CRF, словари, нормализации, частоты, пять LightGBM. Для test оценка кандидата — среднее выходов этих пяти моделей.</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predict_document(doc_id,text,bundle) принимает новый текст без эталона. Проверены загрузка моделей и GraphML.</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final-checks.json; inference-smoke.json.</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16</a:t>
            </a:fld>
            <a:endParaRPr lang="ru-RU" dirty="0"/>
          </a:p>
        </p:txBody>
      </p:sp>
      <p:graphicFrame>
        <p:nvGraphicFramePr>
          <p:cNvPr id="100" name="Подтверждённые оценки отправки"/>
          <p:cNvGraphicFramePr/>
          <p:nvPr/>
        </p:nvGraphicFramePr>
        <p:xfrm>
          <a:off x="238125" y="1268414"/>
          <a:ext cx="5570492" cy="2043255"/>
        </p:xfrm>
        <a:graphic>
          <a:graphicData uri="http://schemas.openxmlformats.org/drawingml/2006/table">
            <a:tbl>
              <a:tblPr firstRow="1"/>
              <a:tblGrid>
                <a:gridCol w="3620820">
                  <a:extLst>
                    <a:ext uri="{9D8B030D-6E8A-4147-A177-3AD203B41FA5}">
                      <a16:colId xmlns:a16="http://schemas.microsoft.com/office/drawing/2014/main" val="20000"/>
                    </a:ext>
                  </a:extLst>
                </a:gridCol>
                <a:gridCol w="1949672">
                  <a:extLst>
                    <a:ext uri="{9D8B030D-6E8A-4147-A177-3AD203B41FA5}">
                      <a16:colId xmlns:a16="http://schemas.microsoft.com/office/drawing/2014/main" val="20001"/>
                    </a:ext>
                  </a:extLst>
                </a:gridCol>
              </a:tblGrid>
              <a:tr h="408651">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Оценка отправки</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Значение</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extLst>
                  <a:ext uri="{0D108BD9-81ED-4DB2-BD59-A6C34878D82A}">
                    <a16:rowId xmlns:a16="http://schemas.microsoft.com/office/drawing/2014/main" val="10000"/>
                  </a:ext>
                </a:extLst>
              </a:tr>
              <a:tr h="408651">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Public</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0.57890</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408651">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Private</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0.58085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408651">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Исторический public</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0.38757</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r h="408651">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Разница public</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+0.19133</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DD0C7-83FA-91F5-5CD2-9E4858E4210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A6796F-6D1E-BBA9-6CEB-55467E718F00}"/>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Главные потери: кандидаты и </a:t>
            </a:r>
            <a:r>
              <a:rPr lang="en" sz="3200" dirty="0" err="1">
                <a:latin typeface="Segoe UI"/>
                <a:ea typeface="Segoe UI"/>
                <a:cs typeface="Segoe UI"/>
              </a:rPr>
              <a:t>Dispersed_by</a:t>
            </a:r>
            <a:endParaRPr lang="ru-RU" sz="3200" dirty="0">
              <a:latin typeface="Segoe UI"/>
              <a:ea typeface="Segoe UI"/>
              <a:cs typeface="Segoe UI"/>
            </a:endParaRPr>
          </a:p>
        </p:txBody>
      </p:sp>
      <p:sp>
        <p:nvSpPr>
          <p:cNvPr id="5" name="Номер слайда 5">
            <a:extLst>
              <a:ext uri="{FF2B5EF4-FFF2-40B4-BE49-F238E27FC236}">
                <a16:creationId xmlns:a16="http://schemas.microsoft.com/office/drawing/2014/main" id="{5C7409DB-0C94-E527-8E8F-7A19485240E1}"/>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17</a:t>
            </a:fld>
            <a:endParaRPr lang="ru-RU" dirty="0"/>
          </a:p>
        </p:txBody>
      </p:sp>
      <p:pic>
        <p:nvPicPr>
          <p:cNvPr id="10" name="Рисунок 9">
            <a:extLst>
              <a:ext uri="{FF2B5EF4-FFF2-40B4-BE49-F238E27FC236}">
                <a16:creationId xmlns:a16="http://schemas.microsoft.com/office/drawing/2014/main" id="{9CB070FF-6542-1F8A-C157-40689F99075B}"/>
              </a:ext>
            </a:extLst>
          </p:cNvPr>
          <p:cNvPicPr>
            <a:picLocks noChangeAspect="1"/>
          </p:cNvPicPr>
          <p:nvPr/>
        </p:nvPicPr>
        <p:blipFill>
          <a:blip r:embed="rId3"/>
          <a:stretch>
            <a:fillRect/>
          </a:stretch>
        </p:blipFill>
        <p:spPr>
          <a:xfrm>
            <a:off x="368131" y="1079087"/>
            <a:ext cx="11414337" cy="4981471"/>
          </a:xfrm>
          <a:prstGeom prst="rect">
            <a:avLst/>
          </a:prstGeom>
        </p:spPr>
      </p:pic>
    </p:spTree>
    <p:extLst>
      <p:ext uri="{BB962C8B-B14F-4D97-AF65-F5344CB8AC3E}">
        <p14:creationId xmlns:p14="http://schemas.microsoft.com/office/powerpoint/2010/main" val="2742878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PBU_SAMPLE_04_CLONE_018">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Документные графы и общий граф</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547712"/>
            <a:ext cx="5570492" cy="1967579"/>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Слабая компонента: связность без учёта направления. Узлы создаются при вставке выбранной связи, поэтому изолированных узлов 0. Это не означает, что текст не содержал иных сущностей.</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analysis.json, passport.</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Повтор тройки в разных документах увеличивает 975, но объединяется в одном ребре. Разница 238 означает повторные появления.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Id узла: тип + нормализованная каноническая строка. Из 737 рёбер 609 имеют один источник,128 несколько; максимум 12 документов.</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sources указывает происхождение, а не истинность. Единого doc_id общего графа нет: документы перечислены у узлов и рёбер. В GraphML списки записаны JSON-строками.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Это состав предсказаний, не их точность.</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яч.24,37,39,48.</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18</a:t>
            </a:fld>
            <a:endParaRPr lang="ru-RU" dirty="0"/>
          </a:p>
        </p:txBody>
      </p:sp>
      <p:sp>
        <p:nvSpPr>
          <p:cNvPr id="100" name="Паспорт / названия колонок"/>
          <p:cNvSpPr txBox="1"/>
          <p:nvPr/>
        </p:nvSpPr>
        <p:spPr>
          <a:xfrm>
            <a:off x="238125" y="1268414"/>
            <a:ext cx="5570492" cy="327930"/>
          </a:xfrm>
          <a:prstGeom prst="rect">
            <a:avLst/>
          </a:prstGeom>
          <a:noFill/>
          <a:ln w="10160">
            <a:noFill/>
          </a:ln>
        </p:spPr>
        <p:txBody>
          <a:bodyPr wrap="square" lIns="0" tIns="0" rIns="0" bIns="0" anchor="t">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Предсказанная выборка → значение</a:t>
            </a:r>
          </a:p>
        </p:txBody>
      </p:sp>
      <p:graphicFrame>
        <p:nvGraphicFramePr>
          <p:cNvPr id="101" name="Паспорт предсказаний / два уровня"/>
          <p:cNvGraphicFramePr/>
          <p:nvPr/>
        </p:nvGraphicFramePr>
        <p:xfrm>
          <a:off x="238125" y="1646795"/>
          <a:ext cx="5570492" cy="2693600"/>
        </p:xfrm>
        <a:graphic>
          <a:graphicData uri="http://schemas.openxmlformats.org/drawingml/2006/table">
            <a:tbl>
              <a:tblPr/>
              <a:tblGrid>
                <a:gridCol w="4456394">
                  <a:extLst>
                    <a:ext uri="{9D8B030D-6E8A-4147-A177-3AD203B41FA5}">
                      <a16:colId xmlns:a16="http://schemas.microsoft.com/office/drawing/2014/main" val="20000"/>
                    </a:ext>
                  </a:extLst>
                </a:gridCol>
                <a:gridCol w="1114098">
                  <a:extLst>
                    <a:ext uri="{9D8B030D-6E8A-4147-A177-3AD203B41FA5}">
                      <a16:colId xmlns:a16="http://schemas.microsoft.com/office/drawing/2014/main" val="20001"/>
                    </a:ext>
                  </a:extLst>
                </a:gridCol>
              </a:tblGrid>
              <a:tr h="38198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Test-документы</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82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0"/>
                  </a:ext>
                </a:extLst>
              </a:tr>
              <a:tr h="38198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Документные тройки</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975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38198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Пустые документные графы</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38198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Узлы общего графа</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437</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r h="38198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Разные рёбра общего графа</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737</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4"/>
                  </a:ext>
                </a:extLst>
              </a:tr>
              <a:tr h="38198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Слабые компоненты общего графа</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8</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5"/>
                  </a:ext>
                </a:extLst>
              </a:tr>
              <a:tr h="381985">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Крупнейшая компонента, узлов</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r">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415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PBU_SAMPLE_04_CLONE_019">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Запрос 1: места для Xylella</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951318"/>
            <a:ext cx="5570492" cy="1362170"/>
          </a:xfrm>
        </p:spPr>
        <p:txBody>
          <a:bodyPr wrap="square" lIns="0" tIns="0" rIns="0" bIns="0" anchor="t">
            <a:noAutofit/>
          </a:bodyPr>
          <a:lstStyle/>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Всего 47 разных Location. Здесь показаны 4; полный ответ сохранён в analysis.json, queries.pest_locations.results.</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Xylella выбран по максимуму разных Location по Located_in; при равенстве по id. Это правило выбора узла, не рейтинг распространённости.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Шаблон сопоставляет переменную с существующими рёбрами. Здесь работают функции NetworkX; SPARQL/Cypher не реализованы.</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47 означает число строковых узлов, не подтверждённых очагов. Возможны неоднозначные формы и ошибки извлечения. sources каждого ребра позволяет проверить его документный контекст.</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analysis.json; §2.2.1 с.13–15/PDF33–35.</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19</a:t>
            </a:fld>
            <a:endParaRPr lang="ru-RU" dirty="0"/>
          </a:p>
        </p:txBody>
      </p:sp>
      <p:sp>
        <p:nvSpPr>
          <p:cNvPr id="100" name="Шаблон и тип переменной"/>
          <p:cNvSpPr txBox="1"/>
          <p:nvPr/>
        </p:nvSpPr>
        <p:spPr>
          <a:xfrm>
            <a:off x="238125" y="1268414"/>
            <a:ext cx="5570492" cy="908113"/>
          </a:xfrm>
          <a:prstGeom prst="rect">
            <a:avLst/>
          </a:prstGeom>
          <a:noFill/>
          <a:ln w="10160">
            <a:noFill/>
          </a:ln>
        </p:spPr>
        <p:txBody>
          <a:bodyPr wrap="square" lIns="0" tIns="0" rIns="0" bIns="0" anchor="t">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Шаблон: (Pest:xylella, Located_in, ?place)</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?place обозначает искомый узел Location.</a:t>
            </a:r>
          </a:p>
        </p:txBody>
      </p:sp>
      <p:graphicFrame>
        <p:nvGraphicFramePr>
          <p:cNvPr id="101" name="Ответ запроса / источники рёбер"/>
          <p:cNvGraphicFramePr/>
          <p:nvPr/>
        </p:nvGraphicFramePr>
        <p:xfrm>
          <a:off x="238125" y="2277429"/>
          <a:ext cx="5570492" cy="2421636"/>
        </p:xfrm>
        <a:graphic>
          <a:graphicData uri="http://schemas.openxmlformats.org/drawingml/2006/table">
            <a:tbl>
              <a:tblPr firstRow="1"/>
              <a:tblGrid>
                <a:gridCol w="2228197">
                  <a:extLst>
                    <a:ext uri="{9D8B030D-6E8A-4147-A177-3AD203B41FA5}">
                      <a16:colId xmlns:a16="http://schemas.microsoft.com/office/drawing/2014/main" val="20000"/>
                    </a:ext>
                  </a:extLst>
                </a:gridCol>
                <a:gridCol w="3342295">
                  <a:extLst>
                    <a:ext uri="{9D8B030D-6E8A-4147-A177-3AD203B41FA5}">
                      <a16:colId xmlns:a16="http://schemas.microsoft.com/office/drawing/2014/main" val="20001"/>
                    </a:ext>
                  </a:extLst>
                </a:gridCol>
              </a:tblGrid>
              <a:tr h="378381">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Место</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tc>
                  <a:txBody>
                    <a:bodyPr/>
                    <a:lstStyle/>
                    <a:p>
                      <a:pPr marL="0" indent="0" algn="l">
                        <a:lnSpc>
                          <a:spcPct val="100000"/>
                        </a:lnSpc>
                        <a:spcAft>
                          <a:spcPts val="0"/>
                        </a:spcAft>
                        <a:buNone/>
                        <a:defRPr lang="ru-RU" sz="2000" b="1" i="0" dirty="0">
                          <a:solidFill>
                            <a:srgbClr val="181818"/>
                          </a:solidFill>
                          <a:latin typeface="Segoe UI"/>
                          <a:ea typeface="Segoe UI"/>
                          <a:cs typeface="Segoe UI"/>
                        </a:defRPr>
                      </a:pPr>
                      <a:r>
                        <a:rPr lang="ru-RU" sz="2000" b="1" i="0" dirty="0">
                          <a:solidFill>
                            <a:srgbClr val="181818"/>
                          </a:solidFill>
                          <a:latin typeface="Segoe UI"/>
                          <a:ea typeface="Segoe UI"/>
                          <a:cs typeface="Segoe UI"/>
                        </a:rPr>
                        <a:t>Документы ребра</a:t>
                      </a:r>
                      <a:endParaRPr lang="ru-RU" sz="2000" b="0" i="0" dirty="0">
                        <a:solidFill>
                          <a:srgbClr val="181818"/>
                        </a:solidFill>
                        <a:latin typeface="Segoe UI"/>
                        <a:ea typeface="Segoe UI"/>
                        <a:cs typeface="Segoe UI"/>
                      </a:endParaRP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C9BCAB"/>
                    </a:solidFill>
                  </a:tcPr>
                </a:tc>
                <a:extLst>
                  <a:ext uri="{0D108BD9-81ED-4DB2-BD59-A6C34878D82A}">
                    <a16:rowId xmlns:a16="http://schemas.microsoft.com/office/drawing/2014/main" val="10000"/>
                  </a:ext>
                </a:extLst>
              </a:tr>
              <a:tr h="643247">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BARI</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100506, 103887</a:t>
                      </a:r>
                    </a:p>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115980, 116010</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643247">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Monopoli</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102276, 102892</a:t>
                      </a:r>
                    </a:p>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102894, 97985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378381">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Netherlands</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102892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r h="378380">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Polignano a Mare</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105574, 99733</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PBU_SAMPLE_04_CLONE_020">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Фрагмент графа документа 97985</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4825191"/>
            <a:ext cx="5570492" cy="1488297"/>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Три узла, три направленных ребра. У всех sources=[97985].</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Цвет обозначает тип: Pest, Plant или Location. Это фрагмент, а не весь граф документа.</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подготовленный 97985.graphml.</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doc_id97985; фрагмент[275,331):</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“There are 30 olive trees infected by Xylella in Monopoli”</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Текст сообщает о заражённых Xylella оливковых деревьях в Monopoli. Он позволяет прочитать связь возбудителя с растением и местом.</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sources возвращает к документу; не удостоверяет истинность автоматически. Проверен этот фрагмент, не все связи корпуса. Числа общего тестового графа и оценки CSV относятся к полной выборке исходного CSV, а не к размеру иллюстрации.</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Источник:97985.txt; §3.3 с.40/PDF60.</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20</a:t>
            </a:fld>
            <a:endParaRPr lang="ru-RU" dirty="0"/>
          </a:p>
        </p:txBody>
      </p:sp>
      <p:sp>
        <p:nvSpPr>
          <p:cNvPr id="100" name="native / 100"/>
          <p:cNvSpPr txBox="1"/>
          <p:nvPr/>
        </p:nvSpPr>
        <p:spPr>
          <a:xfrm>
            <a:off x="265977" y="1419766"/>
            <a:ext cx="2005377" cy="807212"/>
          </a:xfrm>
          <a:prstGeom prst="rect">
            <a:avLst/>
          </a:prstGeom>
          <a:solidFill>
            <a:srgbClr val="E66B43"/>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Pest:</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Xylella</a:t>
            </a:r>
          </a:p>
        </p:txBody>
      </p:sp>
      <p:sp>
        <p:nvSpPr>
          <p:cNvPr id="101" name="native / 101"/>
          <p:cNvSpPr txBox="1"/>
          <p:nvPr/>
        </p:nvSpPr>
        <p:spPr>
          <a:xfrm>
            <a:off x="3775387" y="1419766"/>
            <a:ext cx="2005377" cy="807212"/>
          </a:xfrm>
          <a:prstGeom prst="rect">
            <a:avLst/>
          </a:prstGeom>
          <a:solidFill>
            <a:srgbClr val="83A954"/>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Plant:</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olive trees</a:t>
            </a:r>
          </a:p>
        </p:txBody>
      </p:sp>
      <p:sp>
        <p:nvSpPr>
          <p:cNvPr id="102" name="native / 102"/>
          <p:cNvSpPr txBox="1"/>
          <p:nvPr/>
        </p:nvSpPr>
        <p:spPr>
          <a:xfrm>
            <a:off x="1825715" y="3790951"/>
            <a:ext cx="2395312" cy="807212"/>
          </a:xfrm>
          <a:prstGeom prst="rect">
            <a:avLst/>
          </a:prstGeom>
          <a:solidFill>
            <a:srgbClr val="40A69D"/>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Location:</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Monopoli</a:t>
            </a:r>
          </a:p>
        </p:txBody>
      </p:sp>
      <p:cxnSp>
        <p:nvCxnSpPr>
          <p:cNvPr id="103" name="Xylella → Found_on → olive trees"/>
          <p:cNvCxnSpPr>
            <a:stCxn id="100" idx="3"/>
            <a:endCxn id="101" idx="1"/>
          </p:cNvCxnSpPr>
          <p:nvPr/>
        </p:nvCxnSpPr>
        <p:spPr>
          <a:xfrm>
            <a:off x="2271354" y="1823372"/>
            <a:ext cx="1504033" cy="0"/>
          </a:xfrm>
          <a:prstGeom prst="line">
            <a:avLst/>
          </a:prstGeom>
          <a:ln w="16510">
            <a:solidFill>
              <a:srgbClr val="878787"/>
            </a:solidFill>
            <a:prstDash val="solid"/>
            <a:headEnd type="none" w="med" len="med"/>
            <a:tailEnd type="triangle" w="med" len="med"/>
          </a:ln>
        </p:spPr>
      </p:cxnSp>
      <p:cxnSp>
        <p:nvCxnSpPr>
          <p:cNvPr id="104" name="Xylella → Located_in → Monopoli"/>
          <p:cNvCxnSpPr>
            <a:stCxn id="100" idx="2"/>
            <a:endCxn id="102" idx="0"/>
          </p:cNvCxnSpPr>
          <p:nvPr/>
        </p:nvCxnSpPr>
        <p:spPr>
          <a:xfrm>
            <a:off x="1268665" y="2226978"/>
            <a:ext cx="1227737" cy="1563973"/>
          </a:xfrm>
          <a:prstGeom prst="line">
            <a:avLst/>
          </a:prstGeom>
          <a:ln w="16510">
            <a:solidFill>
              <a:srgbClr val="878787"/>
            </a:solidFill>
            <a:prstDash val="solid"/>
            <a:headEnd type="none" w="med" len="med"/>
            <a:tailEnd type="triangle" w="med" len="med"/>
          </a:ln>
        </p:spPr>
      </p:cxnSp>
      <p:cxnSp>
        <p:nvCxnSpPr>
          <p:cNvPr id="105" name="olive trees → Located_in → Monopoli"/>
          <p:cNvCxnSpPr>
            <a:stCxn id="101" idx="2"/>
            <a:endCxn id="102" idx="0"/>
          </p:cNvCxnSpPr>
          <p:nvPr/>
        </p:nvCxnSpPr>
        <p:spPr>
          <a:xfrm flipH="1">
            <a:off x="3550340" y="2226978"/>
            <a:ext cx="1227735" cy="1563973"/>
          </a:xfrm>
          <a:prstGeom prst="line">
            <a:avLst/>
          </a:prstGeom>
          <a:ln w="16510">
            <a:solidFill>
              <a:srgbClr val="878787"/>
            </a:solidFill>
            <a:prstDash val="solid"/>
            <a:headEnd type="none" w="med" len="med"/>
            <a:tailEnd type="triangle" w="med" len="med"/>
          </a:ln>
        </p:spPr>
      </p:cxnSp>
      <p:sp>
        <p:nvSpPr>
          <p:cNvPr id="106" name="native / 106"/>
          <p:cNvSpPr txBox="1"/>
          <p:nvPr/>
        </p:nvSpPr>
        <p:spPr>
          <a:xfrm>
            <a:off x="2299207" y="1293639"/>
            <a:ext cx="1448328" cy="327930"/>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Found_on</a:t>
            </a:r>
          </a:p>
        </p:txBody>
      </p:sp>
      <p:sp>
        <p:nvSpPr>
          <p:cNvPr id="107" name="native / 107"/>
          <p:cNvSpPr txBox="1"/>
          <p:nvPr/>
        </p:nvSpPr>
        <p:spPr>
          <a:xfrm>
            <a:off x="377387" y="2756711"/>
            <a:ext cx="2061082" cy="327930"/>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Located_in</a:t>
            </a:r>
          </a:p>
        </p:txBody>
      </p:sp>
      <p:sp>
        <p:nvSpPr>
          <p:cNvPr id="108" name="native / 108"/>
          <p:cNvSpPr txBox="1"/>
          <p:nvPr/>
        </p:nvSpPr>
        <p:spPr>
          <a:xfrm>
            <a:off x="3803240" y="2756711"/>
            <a:ext cx="1949672" cy="327930"/>
          </a:xfrm>
          <a:prstGeom prst="rect">
            <a:avLst/>
          </a:prstGeom>
          <a:no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Located_in</a:t>
            </a:r>
          </a:p>
        </p:txBody>
      </p:sp>
    </p:spTree>
    <p:extLst>
      <p:ext uri="{BB962C8B-B14F-4D97-AF65-F5344CB8AC3E}">
        <p14:creationId xmlns:p14="http://schemas.microsoft.com/office/powerpoint/2010/main" val="1818409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PBU_SAMPLE_04_CLONE_02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Запрос 2: вредители для Bananas</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5329699"/>
            <a:ext cx="5570492" cy="1261268"/>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Всего 6 узлов. Названия сохранены дословно; таксономическое объединение не выполнялось.</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analysis.json, queries.plant_pests.</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Bananas выбран по максимуму входящих Pest с Found_on; при равенстве по id. Возвращаются все 6 записей с источниками.</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Разные формы могут обозначать один объект, но сходство строк не разрешает их автоматически объединять. Xylella и Xylella fastidiosa имеют разные id; таксономическое равенство не установлено.</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Шум границ:104657 содержит Location «from East Asia» и Date «first time». Тип не гарантирует чистую нормализацию.</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Полное междокументное связывание не реализовано.</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analysis.json, identity_examples.</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21</a:t>
            </a:fld>
            <a:endParaRPr lang="ru-RU" dirty="0"/>
          </a:p>
        </p:txBody>
      </p:sp>
      <p:sp>
        <p:nvSpPr>
          <p:cNvPr id="100" name="Шаблон и тип переменной"/>
          <p:cNvSpPr txBox="1"/>
          <p:nvPr/>
        </p:nvSpPr>
        <p:spPr>
          <a:xfrm>
            <a:off x="238125" y="1268414"/>
            <a:ext cx="5570492" cy="908113"/>
          </a:xfrm>
          <a:prstGeom prst="rect">
            <a:avLst/>
          </a:prstGeom>
          <a:noFill/>
          <a:ln w="10160">
            <a:noFill/>
          </a:ln>
        </p:spPr>
        <p:txBody>
          <a:bodyPr wrap="square" lIns="0" tIns="0" rIns="0" bIns="0" anchor="t">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Шаблон: (?pest, Found_on, Plant:bananas)</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?pest ограничен типом Pest, Vector не считается.</a:t>
            </a:r>
          </a:p>
        </p:txBody>
      </p:sp>
      <p:sp>
        <p:nvSpPr>
          <p:cNvPr id="101" name="Полный ответ / названия колонок"/>
          <p:cNvSpPr txBox="1"/>
          <p:nvPr/>
        </p:nvSpPr>
        <p:spPr>
          <a:xfrm>
            <a:off x="238125" y="2277429"/>
            <a:ext cx="5570492" cy="327930"/>
          </a:xfrm>
          <a:prstGeom prst="rect">
            <a:avLst/>
          </a:prstGeom>
          <a:noFill/>
          <a:ln w="10160">
            <a:noFill/>
          </a:ln>
        </p:spPr>
        <p:txBody>
          <a:bodyPr wrap="square" lIns="0" tIns="0" rIns="0" bIns="0" anchor="t">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Полный ответ: подпись Pest → документы ребра</a:t>
            </a:r>
          </a:p>
        </p:txBody>
      </p:sp>
      <p:graphicFrame>
        <p:nvGraphicFramePr>
          <p:cNvPr id="102" name="Шесть Pest / документы рёбер"/>
          <p:cNvGraphicFramePr/>
          <p:nvPr/>
        </p:nvGraphicFramePr>
        <p:xfrm>
          <a:off x="238125" y="2655809"/>
          <a:ext cx="5570492" cy="2345959"/>
        </p:xfrm>
        <a:graphic>
          <a:graphicData uri="http://schemas.openxmlformats.org/drawingml/2006/table">
            <a:tbl>
              <a:tblPr/>
              <a:tblGrid>
                <a:gridCol w="3955049">
                  <a:extLst>
                    <a:ext uri="{9D8B030D-6E8A-4147-A177-3AD203B41FA5}">
                      <a16:colId xmlns:a16="http://schemas.microsoft.com/office/drawing/2014/main" val="20000"/>
                    </a:ext>
                  </a:extLst>
                </a:gridCol>
                <a:gridCol w="1615443">
                  <a:extLst>
                    <a:ext uri="{9D8B030D-6E8A-4147-A177-3AD203B41FA5}">
                      <a16:colId xmlns:a16="http://schemas.microsoft.com/office/drawing/2014/main" val="20001"/>
                    </a:ext>
                  </a:extLst>
                </a:gridCol>
              </a:tblGrid>
              <a:tr h="35014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FocR1</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117415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0"/>
                  </a:ext>
                </a:extLst>
              </a:tr>
              <a:tr h="35014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FocTR4</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117415</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1"/>
                  </a:ext>
                </a:extLst>
              </a:tr>
              <a:tr h="59524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Fusarium oxysporum cubense Race 1</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118038</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2"/>
                  </a:ext>
                </a:extLst>
              </a:tr>
              <a:tr h="35014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R. solanacearum</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99632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3"/>
                  </a:ext>
                </a:extLst>
              </a:tr>
              <a:tr h="350143">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Ralstonia solanacearum Race 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99632</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FFFFF"/>
                    </a:solidFill>
                  </a:tcPr>
                </a:tc>
                <a:extLst>
                  <a:ext uri="{0D108BD9-81ED-4DB2-BD59-A6C34878D82A}">
                    <a16:rowId xmlns:a16="http://schemas.microsoft.com/office/drawing/2014/main" val="10004"/>
                  </a:ext>
                </a:extLst>
              </a:tr>
              <a:tr h="350144">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Tropical Race 4</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tc>
                  <a:txBody>
                    <a:bodyPr/>
                    <a:lstStyle/>
                    <a:p>
                      <a:pPr marL="0" indent="0" algn="l">
                        <a:lnSpc>
                          <a:spcPct val="100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118038</a:t>
                      </a:r>
                    </a:p>
                  </a:txBody>
                  <a:tcPr marL="40000" marR="40000" marT="40000" marB="40000" anchor="ctr">
                    <a:lnL w="6350">
                      <a:solidFill>
                        <a:srgbClr val="C9BCAB"/>
                      </a:solidFill>
                      <a:prstDash val="solid"/>
                    </a:lnL>
                    <a:lnR w="6350">
                      <a:solidFill>
                        <a:srgbClr val="C9BCAB"/>
                      </a:solidFill>
                      <a:prstDash val="solid"/>
                    </a:lnR>
                    <a:lnT w="6350">
                      <a:solidFill>
                        <a:srgbClr val="C9BCAB"/>
                      </a:solidFill>
                      <a:prstDash val="solid"/>
                    </a:lnT>
                    <a:lnB w="6350">
                      <a:solidFill>
                        <a:srgbClr val="C9BCAB"/>
                      </a:solidFill>
                      <a:prstDash val="solid"/>
                    </a:lnB>
                    <a:solidFill>
                      <a:srgbClr val="FBF9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18409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PBU_SAMPLE_04_CLONE_02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Запрос 3: путь из двух отношений</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5077445"/>
            <a:ext cx="5570492" cy="1236043"/>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Обе связи предсказаны в документе 102433. Подпись «citrus pla» усечена в исходном результате и сохранена без исправления.</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analysis.json, common_document[0].</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Путь соединяет два отношения по общему Pest, как соединение записей в БД.</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Из 29 путей 10 имеют общий документ: пересечение sources рёбер непусто. У 19 источники не пересекаются.</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Даже общий документ не доказывает одно событие. Рёбра предсказаны; строковая идентичность узла может быть неоднозначной.</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Запрос не создаёт Vector → Plant и не подтверждает новый факт. Дедукция потребовала бы отдельных правил и посылок; она не реализована.</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§2.2.1 с.13–15/PDF33–35; гл.4 с.47/PDF67.</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22</a:t>
            </a:fld>
            <a:endParaRPr lang="ru-RU" dirty="0"/>
          </a:p>
        </p:txBody>
      </p:sp>
      <p:sp>
        <p:nvSpPr>
          <p:cNvPr id="100" name="native / 100"/>
          <p:cNvSpPr txBox="1"/>
          <p:nvPr/>
        </p:nvSpPr>
        <p:spPr>
          <a:xfrm>
            <a:off x="238125" y="1268414"/>
            <a:ext cx="5570492" cy="807212"/>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Шаблон:</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Vector → Transmits → Pest → Found_on → Plant</a:t>
            </a:r>
          </a:p>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Реальный фрагмент:</a:t>
            </a:r>
          </a:p>
        </p:txBody>
      </p:sp>
      <p:sp>
        <p:nvSpPr>
          <p:cNvPr id="101" name="native / 101"/>
          <p:cNvSpPr txBox="1"/>
          <p:nvPr/>
        </p:nvSpPr>
        <p:spPr>
          <a:xfrm>
            <a:off x="238125" y="2201753"/>
            <a:ext cx="5570492" cy="454057"/>
          </a:xfrm>
          <a:prstGeom prst="rect">
            <a:avLst/>
          </a:prstGeom>
          <a:solidFill>
            <a:srgbClr val="F4AD6E"/>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Vector: citrus psyllid</a:t>
            </a:r>
          </a:p>
        </p:txBody>
      </p:sp>
      <p:sp>
        <p:nvSpPr>
          <p:cNvPr id="102" name="native / 102"/>
          <p:cNvSpPr txBox="1"/>
          <p:nvPr/>
        </p:nvSpPr>
        <p:spPr>
          <a:xfrm>
            <a:off x="238125" y="3210767"/>
            <a:ext cx="5570492" cy="681085"/>
          </a:xfrm>
          <a:prstGeom prst="rect">
            <a:avLst/>
          </a:prstGeom>
          <a:solidFill>
            <a:srgbClr val="E66B43"/>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Pest: Candidatus</a:t>
            </a:r>
          </a:p>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Liberibacter asiaticus</a:t>
            </a:r>
          </a:p>
        </p:txBody>
      </p:sp>
      <p:sp>
        <p:nvSpPr>
          <p:cNvPr id="103" name="native / 103"/>
          <p:cNvSpPr txBox="1"/>
          <p:nvPr/>
        </p:nvSpPr>
        <p:spPr>
          <a:xfrm>
            <a:off x="238125" y="4472036"/>
            <a:ext cx="5570492" cy="454057"/>
          </a:xfrm>
          <a:prstGeom prst="rect">
            <a:avLst/>
          </a:prstGeom>
          <a:solidFill>
            <a:srgbClr val="83A954"/>
          </a:solidFill>
          <a:ln w="10160">
            <a:noFill/>
          </a:ln>
        </p:spPr>
        <p:txBody>
          <a:bodyPr wrap="square" lIns="0" tIns="0" rIns="0" bIns="0" anchor="ctr">
            <a:noAutofit/>
          </a:bodyPr>
          <a:lstStyle/>
          <a:p>
            <a:pPr marL="0" indent="0" algn="ctr">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Plant: citrus pla</a:t>
            </a:r>
          </a:p>
        </p:txBody>
      </p:sp>
      <p:cxnSp>
        <p:nvCxnSpPr>
          <p:cNvPr id="104" name="Transmits / source 102433"/>
          <p:cNvCxnSpPr/>
          <p:nvPr/>
        </p:nvCxnSpPr>
        <p:spPr>
          <a:xfrm>
            <a:off x="739469" y="2667810"/>
            <a:ext cx="0" cy="530957"/>
          </a:xfrm>
          <a:prstGeom prst="line">
            <a:avLst/>
          </a:prstGeom>
          <a:ln w="16510">
            <a:solidFill>
              <a:srgbClr val="AF2C22"/>
            </a:solidFill>
            <a:prstDash val="solid"/>
            <a:headEnd type="none" w="med" len="med"/>
            <a:tailEnd type="triangle" w="med" len="med"/>
          </a:ln>
        </p:spPr>
      </p:cxnSp>
      <p:sp>
        <p:nvSpPr>
          <p:cNvPr id="106" name="native / 106"/>
          <p:cNvSpPr txBox="1"/>
          <p:nvPr/>
        </p:nvSpPr>
        <p:spPr>
          <a:xfrm>
            <a:off x="1185109" y="2761756"/>
            <a:ext cx="4456394" cy="353155"/>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Transmits; sources=[102433]</a:t>
            </a:r>
          </a:p>
        </p:txBody>
      </p:sp>
      <p:cxnSp>
        <p:nvCxnSpPr>
          <p:cNvPr id="105" name="Found_on / source 102433"/>
          <p:cNvCxnSpPr/>
          <p:nvPr/>
        </p:nvCxnSpPr>
        <p:spPr>
          <a:xfrm>
            <a:off x="739469" y="3903852"/>
            <a:ext cx="0" cy="556184"/>
          </a:xfrm>
          <a:prstGeom prst="line">
            <a:avLst/>
          </a:prstGeom>
          <a:ln w="16510">
            <a:solidFill>
              <a:srgbClr val="AF2C22"/>
            </a:solidFill>
            <a:prstDash val="solid"/>
            <a:headEnd type="none" w="med" len="med"/>
            <a:tailEnd type="triangle" w="med" len="med"/>
          </a:ln>
        </p:spPr>
      </p:cxnSp>
      <p:sp>
        <p:nvSpPr>
          <p:cNvPr id="107" name="native / 107"/>
          <p:cNvSpPr txBox="1"/>
          <p:nvPr/>
        </p:nvSpPr>
        <p:spPr>
          <a:xfrm>
            <a:off x="1185109" y="4017979"/>
            <a:ext cx="4456394" cy="353155"/>
          </a:xfrm>
          <a:prstGeom prst="rect">
            <a:avLst/>
          </a:prstGeom>
          <a:noFill/>
          <a:ln w="10160">
            <a:noFill/>
          </a:ln>
        </p:spPr>
        <p:txBody>
          <a:bodyPr wrap="square" lIns="0" tIns="0" rIns="0" bIns="0" anchor="ctr">
            <a:noAutofit/>
          </a:bodyPr>
          <a:lstStyle/>
          <a:p>
            <a:pPr marL="0" indent="0" algn="l">
              <a:lnSpc>
                <a:spcPct val="105000"/>
              </a:lnSpc>
              <a:spcAft>
                <a:spcPts val="0"/>
              </a:spcAft>
              <a:buNone/>
              <a:defRPr lang="ru-RU" sz="2000" b="0" i="0" dirty="0">
                <a:solidFill>
                  <a:srgbClr val="181818"/>
                </a:solidFill>
                <a:latin typeface="Segoe UI"/>
                <a:ea typeface="Segoe UI"/>
                <a:cs typeface="Segoe UI"/>
              </a:defRPr>
            </a:pPr>
            <a:r>
              <a:rPr lang="ru-RU" sz="2000" b="0" i="0" dirty="0">
                <a:solidFill>
                  <a:srgbClr val="181818"/>
                </a:solidFill>
                <a:latin typeface="Segoe UI"/>
                <a:ea typeface="Segoe UI"/>
                <a:cs typeface="Segoe UI"/>
              </a:rPr>
              <a:t>Found_on; sources=[102433]</a:t>
            </a:r>
          </a:p>
        </p:txBody>
      </p:sp>
    </p:spTree>
    <p:extLst>
      <p:ext uri="{BB962C8B-B14F-4D97-AF65-F5344CB8AC3E}">
        <p14:creationId xmlns:p14="http://schemas.microsoft.com/office/powerpoint/2010/main" val="1818409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PBU_SAMPLE_04_CLONE_023">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A2B33-419C-4D37-A640-D6EA8C6FEA13}"/>
              </a:ext>
            </a:extLst>
          </p:cNvPr>
          <p:cNvSpPr>
            <a:spLocks noGrp="1"/>
          </p:cNvSpPr>
          <p:nvPr>
            <p:ph type="title"/>
          </p:nvPr>
        </p:nvSpPr>
        <p:spPr>
          <a:xfrm>
            <a:off x="238125" y="159087"/>
            <a:ext cx="9400000" cy="920000"/>
          </a:xfrm>
        </p:spPr>
        <p:txBody>
          <a:bodyPr wrap="square" lIns="0" tIns="0" rIns="0" bIns="0" anchor="t">
            <a:noAutofit/>
          </a:bodyPr>
          <a:lstStyle/>
          <a:p>
            <a:pPr marL="0" lvl="0" indent="0" algn="l">
              <a:lnSpc>
                <a:spcPct val="95000"/>
              </a:lnSpc>
              <a:spcBef>
                <a:spcPts val="0"/>
              </a:spcBef>
              <a:spcAft>
                <a:spcPts val="0"/>
              </a:spcAft>
              <a:buNone/>
              <a:defRPr lang="ru-RU" sz="3200" dirty="0">
                <a:latin typeface="Segoe UI"/>
                <a:ea typeface="Segoe UI"/>
                <a:cs typeface="Segoe UI"/>
              </a:defRPr>
            </a:pPr>
            <a:r>
              <a:rPr lang="ru-RU" sz="3200" dirty="0">
                <a:latin typeface="Segoe UI"/>
                <a:ea typeface="Segoe UI"/>
                <a:cs typeface="Segoe UI"/>
              </a:rPr>
              <a:t>Что сделано и как </a:t>
            </a:r>
            <a:br>
              <a:rPr lang="ru-RU" sz="3200" dirty="0">
                <a:latin typeface="Segoe UI"/>
                <a:ea typeface="Segoe UI"/>
                <a:cs typeface="Segoe UI"/>
              </a:rPr>
            </a:br>
            <a:r>
              <a:rPr lang="ru-RU" sz="3200" dirty="0">
                <a:latin typeface="Segoe UI"/>
                <a:ea typeface="Segoe UI"/>
                <a:cs typeface="Segoe UI"/>
              </a:rPr>
              <a:t>применять результат</a:t>
            </a:r>
          </a:p>
        </p:txBody>
      </p:sp>
      <p:sp>
        <p:nvSpPr>
          <p:cNvPr id="3" name="Объект 2">
            <a:extLst>
              <a:ext uri="{FF2B5EF4-FFF2-40B4-BE49-F238E27FC236}">
                <a16:creationId xmlns:a16="http://schemas.microsoft.com/office/drawing/2014/main" id="{B956D6BD-C6D4-44E9-8BDB-38A8F8098E62}"/>
              </a:ext>
            </a:extLst>
          </p:cNvPr>
          <p:cNvSpPr>
            <a:spLocks noGrp="1"/>
          </p:cNvSpPr>
          <p:nvPr>
            <p:ph idx="1"/>
          </p:nvPr>
        </p:nvSpPr>
        <p:spPr>
          <a:xfrm>
            <a:off x="238125" y="1268414"/>
            <a:ext cx="5570492" cy="5045074"/>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Воспроизводимая цепочка: CRF и словари → концепты → кандидаты → LightGBM и отбор → граф → CSV/GraphML.</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Независимая локальная macro F1=0.532901. Конкретный CSV: Kaggle public 0.57890, private 0.58085, поздняя отправка.</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Граф хранит типы, проверяет 20 сигнатур, убирает повторы и сохраняет источники. Три запроса демонстрируют выборку и соединение отношений.</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Источник: notebook; quality.json; analysis.json; kaggle-validation.json.</a:t>
            </a:r>
          </a:p>
        </p:txBody>
      </p:sp>
      <p:sp>
        <p:nvSpPr>
          <p:cNvPr id="4" name="Текст 3">
            <a:extLst>
              <a:ext uri="{FF2B5EF4-FFF2-40B4-BE49-F238E27FC236}">
                <a16:creationId xmlns:a16="http://schemas.microsoft.com/office/drawing/2014/main" id="{9FAD63B1-85C6-4881-8481-4E9572F99079}"/>
              </a:ext>
            </a:extLst>
          </p:cNvPr>
          <p:cNvSpPr>
            <a:spLocks noGrp="1"/>
          </p:cNvSpPr>
          <p:nvPr>
            <p:ph type="body" sz="quarter" idx="13"/>
          </p:nvPr>
        </p:nvSpPr>
        <p:spPr>
          <a:xfrm>
            <a:off x="6017623" y="1268413"/>
            <a:ext cx="5956889" cy="5045075"/>
          </a:xfrm>
        </p:spPr>
        <p:txBody>
          <a:bodyPr wrap="square" lIns="0" tIns="0" rIns="0" bIns="0" anchor="t">
            <a:noAutofit/>
          </a:bodyPr>
          <a:lstStyle/>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Для ответа сначала читаем рёбра и sources, затем проверяем фрагмент текста и идентичность узлов. Записанный путь сам не является новым фактом.</a:t>
            </a:r>
          </a:p>
          <a:p>
            <a:pPr marL="0" lvl="0" indent="0" algn="l">
              <a:lnSpc>
                <a:spcPct val="100000"/>
              </a:lnSpc>
              <a:spcBef>
                <a:spcPts val="0"/>
              </a:spcBef>
              <a:spcAft>
                <a:spcPts val="4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Ограничения: потеря связей до кандидатов, слабый Dispersed_by, ошибки границ и ограниченное междокументное объединение. Типовая валидность не гарантирует смысловую правильность.</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Вывод новых фактов, полная онтология и распределённая серверная платформа не реализованы. Книга помогает различать эти уровни; текущие измерения подтверждают только показанную цепочку и её результаты.</a:t>
            </a:r>
          </a:p>
        </p:txBody>
      </p:sp>
      <p:sp>
        <p:nvSpPr>
          <p:cNvPr id="5" name="Номер слайда 5">
            <a:extLst>
              <a:ext uri="{FF2B5EF4-FFF2-40B4-BE49-F238E27FC236}">
                <a16:creationId xmlns:a16="http://schemas.microsoft.com/office/drawing/2014/main" id="{CE5BCEE7-AA55-495E-AE44-911732B8F550}"/>
              </a:ext>
            </a:extLst>
          </p:cNvPr>
          <p:cNvSpPr txBox="1">
            <a:spLocks/>
          </p:cNvSpPr>
          <p:nvPr/>
        </p:nvSpPr>
        <p:spPr>
          <a:xfrm>
            <a:off x="11456376" y="6460602"/>
            <a:ext cx="663632" cy="239136"/>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FD38E61-9C24-476F-BFBC-20F0EEEA3A3D}" type="slidenum">
              <a:rPr lang="ru-RU" smtClean="0"/>
              <a:pPr/>
              <a:t>23</a:t>
            </a:fld>
            <a:endParaRPr lang="ru-RU" dirty="0"/>
          </a:p>
        </p:txBody>
      </p:sp>
    </p:spTree>
    <p:extLst>
      <p:ext uri="{BB962C8B-B14F-4D97-AF65-F5344CB8AC3E}">
        <p14:creationId xmlns:p14="http://schemas.microsoft.com/office/powerpoint/2010/main" val="1818409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PBU_SAMPLE_15_CLONE_025">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C66B7FBE-05AB-4F1B-BBFC-D159EE8CAC3B}"/>
              </a:ext>
            </a:extLst>
          </p:cNvPr>
          <p:cNvSpPr>
            <a:spLocks noGrp="1"/>
          </p:cNvSpPr>
          <p:nvPr>
            <p:ph type="body" sz="quarter" idx="13"/>
          </p:nvPr>
        </p:nvSpPr>
        <p:spPr>
          <a:xfrm>
            <a:off x="658813" y="2876550"/>
            <a:ext cx="4713287" cy="1543050"/>
          </a:xfrm>
        </p:spPr>
        <p:txBody>
          <a:bodyPr wrap="square" lIns="0" tIns="0" rIns="0" bIns="0" anchor="t">
            <a:noAutofit/>
          </a:bodyPr>
          <a:lstStyle/>
          <a:p>
            <a:pPr marL="0" lvl="0" indent="0" algn="l">
              <a:lnSpc>
                <a:spcPct val="100000"/>
              </a:lnSpc>
              <a:spcBef>
                <a:spcPts val="0"/>
              </a:spcBef>
              <a:spcAft>
                <a:spcPts val="800"/>
              </a:spcAft>
              <a:buNone/>
              <a:defRPr lang="ru-RU" sz="2200" dirty="0">
                <a:solidFill>
                  <a:srgbClr val="181818"/>
                </a:solidFill>
                <a:latin typeface="Segoe UI"/>
                <a:ea typeface="Segoe UI"/>
                <a:cs typeface="Segoe UI"/>
              </a:defRPr>
            </a:pPr>
            <a:r>
              <a:rPr lang="ru-RU" sz="2200" dirty="0">
                <a:solidFill>
                  <a:srgbClr val="181818"/>
                </a:solidFill>
                <a:latin typeface="Segoe UI"/>
                <a:ea typeface="Segoe UI"/>
                <a:cs typeface="Segoe UI"/>
              </a:rPr>
              <a:t>Кубякин Никита</a:t>
            </a:r>
          </a:p>
          <a:p>
            <a:pPr marL="0" lvl="0" indent="0" algn="l">
              <a:lnSpc>
                <a:spcPct val="100000"/>
              </a:lnSpc>
              <a:spcBef>
                <a:spcPts val="0"/>
              </a:spcBef>
              <a:spcAft>
                <a:spcPts val="800"/>
              </a:spcAft>
              <a:buNone/>
              <a:defRPr lang="ru-RU" sz="2200" dirty="0">
                <a:solidFill>
                  <a:srgbClr val="181818"/>
                </a:solidFill>
                <a:latin typeface="Segoe UI"/>
                <a:ea typeface="Segoe UI"/>
                <a:cs typeface="Segoe UI"/>
              </a:defRPr>
            </a:pPr>
            <a:r>
              <a:rPr lang="ru-RU" sz="2200" dirty="0">
                <a:solidFill>
                  <a:srgbClr val="181818"/>
                </a:solidFill>
                <a:latin typeface="Segoe UI"/>
                <a:ea typeface="Segoe UI"/>
                <a:cs typeface="Segoe UI"/>
              </a:rPr>
              <a:t>Зайнуллин Мансур</a:t>
            </a:r>
          </a:p>
          <a:p>
            <a:pPr marL="0" lvl="0" indent="0" algn="l">
              <a:lnSpc>
                <a:spcPct val="100000"/>
              </a:lnSpc>
              <a:spcBef>
                <a:spcPts val="0"/>
              </a:spcBef>
              <a:spcAft>
                <a:spcPts val="0"/>
              </a:spcAft>
              <a:buNone/>
              <a:defRPr lang="ru-RU" sz="2200" dirty="0">
                <a:solidFill>
                  <a:srgbClr val="181818"/>
                </a:solidFill>
                <a:latin typeface="Segoe UI"/>
                <a:ea typeface="Segoe UI"/>
                <a:cs typeface="Segoe UI"/>
              </a:defRPr>
            </a:pPr>
            <a:r>
              <a:rPr lang="ru-RU" sz="2200" dirty="0">
                <a:solidFill>
                  <a:srgbClr val="181818"/>
                </a:solidFill>
                <a:latin typeface="Segoe UI"/>
                <a:ea typeface="Segoe UI"/>
                <a:cs typeface="Segoe UI"/>
              </a:rPr>
              <a:t>Аникин Роман</a:t>
            </a:r>
          </a:p>
        </p:txBody>
      </p:sp>
      <p:sp>
        <p:nvSpPr>
          <p:cNvPr id="4" name="Текст 3">
            <a:extLst>
              <a:ext uri="{FF2B5EF4-FFF2-40B4-BE49-F238E27FC236}">
                <a16:creationId xmlns:a16="http://schemas.microsoft.com/office/drawing/2014/main" id="{041300C2-1B12-4680-ABC3-F154F73CD829}"/>
              </a:ext>
            </a:extLst>
          </p:cNvPr>
          <p:cNvSpPr>
            <a:spLocks noGrp="1"/>
          </p:cNvSpPr>
          <p:nvPr>
            <p:ph type="body" sz="quarter" idx="14"/>
          </p:nvPr>
        </p:nvSpPr>
        <p:spPr>
          <a:xfrm>
            <a:off x="5519936" y="2876550"/>
            <a:ext cx="4713287" cy="1543050"/>
          </a:xfrm>
        </p:spPr>
        <p:txBody>
          <a:bodyPr wrap="square" lIns="0" tIns="0" rIns="0" bIns="0" anchor="t">
            <a:noAutofit/>
          </a:bodyPr>
          <a:lstStyle/>
          <a:p>
            <a:pPr marL="0" lvl="0" indent="0" algn="l">
              <a:lnSpc>
                <a:spcPct val="100000"/>
              </a:lnSpc>
              <a:spcBef>
                <a:spcPts val="0"/>
              </a:spcBef>
              <a:spcAft>
                <a:spcPts val="5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СПбГУ ·4-й курс ·23.Б16-пу</a:t>
            </a:r>
          </a:p>
          <a:p>
            <a:pPr marL="0" lvl="0" indent="0" algn="l">
              <a:lnSpc>
                <a:spcPct val="100000"/>
              </a:lnSpc>
              <a:spcBef>
                <a:spcPts val="0"/>
              </a:spcBef>
              <a:spcAft>
                <a:spcPts val="50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Базы данных и распределённая</a:t>
            </a:r>
          </a:p>
          <a:p>
            <a:pPr marL="0" lvl="0" indent="0" algn="l">
              <a:lnSpc>
                <a:spcPct val="100000"/>
              </a:lnSpc>
              <a:spcBef>
                <a:spcPts val="0"/>
              </a:spcBef>
              <a:spcAft>
                <a:spcPts val="0"/>
              </a:spcAft>
              <a:buNone/>
              <a:defRPr lang="ru-RU" sz="2000" dirty="0">
                <a:solidFill>
                  <a:srgbClr val="181818"/>
                </a:solidFill>
                <a:latin typeface="Segoe UI"/>
                <a:ea typeface="Segoe UI"/>
                <a:cs typeface="Segoe UI"/>
              </a:defRPr>
            </a:pPr>
            <a:r>
              <a:rPr lang="ru-RU" sz="2000" dirty="0">
                <a:solidFill>
                  <a:srgbClr val="181818"/>
                </a:solidFill>
                <a:latin typeface="Segoe UI"/>
                <a:ea typeface="Segoe UI"/>
                <a:cs typeface="Segoe UI"/>
              </a:rPr>
              <a:t>цифровая платформа</a:t>
            </a:r>
          </a:p>
        </p:txBody>
      </p:sp>
      <p:sp>
        <p:nvSpPr>
          <p:cNvPr id="100" name="PestCLEF / Авторы проекта"/>
          <p:cNvSpPr/>
          <p:nvPr userDrawn="1"/>
        </p:nvSpPr>
        <p:spPr>
          <a:xfrm>
            <a:off x="664709" y="2154089"/>
            <a:ext cx="4800000" cy="523220"/>
          </a:xfrm>
          <a:prstGeom prst="rect">
            <a:avLst/>
          </a:prstGeom>
          <a:solidFill>
            <a:schemeClr val="bg2">
              <a:lumMod val="90000"/>
            </a:schemeClr>
          </a:solidFill>
        </p:spPr>
        <p:txBody>
          <a:bodyPr wrap="square" lIns="0" tIns="0" rIns="0" bIns="0" anchor="t">
            <a:noAutofit/>
          </a:bodyPr>
          <a:lstStyle/>
          <a:p>
            <a:pPr marL="0" lvl="0" indent="0" algn="l">
              <a:lnSpc>
                <a:spcPct val="100000"/>
              </a:lnSpc>
              <a:spcBef>
                <a:spcPts val="0"/>
              </a:spcBef>
              <a:spcAft>
                <a:spcPts val="0"/>
              </a:spcAft>
              <a:buNone/>
              <a:defRPr lang="ru-RU" sz="3200" dirty="0">
                <a:latin typeface="Segoe UI"/>
                <a:ea typeface="Segoe UI"/>
                <a:cs typeface="Segoe UI"/>
              </a:defRPr>
            </a:pPr>
            <a:r>
              <a:rPr lang="ru-RU" sz="3200" b="1" dirty="0">
                <a:solidFill>
                  <a:schemeClr val="accent1"/>
                </a:solidFill>
                <a:latin typeface="Segoe UI" panose="020B0502040204020203" pitchFamily="34" charset="0"/>
                <a:cs typeface="Segoe UI" panose="020B0502040204020203" pitchFamily="34" charset="0"/>
              </a:rPr>
              <a:t>Авторы проекта</a:t>
            </a:r>
          </a:p>
        </p:txBody>
      </p:sp>
      <p:pic>
        <p:nvPicPr>
          <p:cNvPr id="101" name="PestCLEF / исходный фон под spbu.ru"/>
          <p:cNvPicPr>
            <a:picLocks noChangeAspect="1"/>
          </p:cNvPicPr>
          <p:nvPr userDrawn="1"/>
        </p:nvPicPr>
        <p:blipFill>
          <a:blip r:embed="rId3">
            <a:extLst>
              <a:ext uri="{28A0092B-C50C-407E-A947-70E740481C1C}">
                <a14:useLocalDpi xmlns:a14="http://schemas.microsoft.com/office/drawing/2010/main" val="0"/>
              </a:ext>
            </a:extLst>
          </a:blip>
          <a:srcRect l="76280" t="83824"/>
          <a:stretch>
            <a:fillRect/>
          </a:stretch>
        </p:blipFill>
        <p:spPr>
          <a:xfrm>
            <a:off x="9300000" y="5746500"/>
            <a:ext cx="2892000" cy="1108961"/>
          </a:xfrm>
          <a:prstGeom prst="rect">
            <a:avLst/>
          </a:prstGeom>
        </p:spPr>
      </p:pic>
      <p:sp>
        <p:nvSpPr>
          <p:cNvPr id="102" name="PestCLEF / spbu.ru"/>
          <p:cNvSpPr txBox="1">
            <a:spLocks/>
          </p:cNvSpPr>
          <p:nvPr userDrawn="1"/>
        </p:nvSpPr>
        <p:spPr>
          <a:xfrm>
            <a:off x="9500000" y="5929313"/>
            <a:ext cx="2400000" cy="650000"/>
          </a:xfrm>
          <a:prstGeom prst="rect">
            <a:avLst/>
          </a:prstGeom>
        </p:spPr>
        <p:txBody>
          <a:bodyPr vert="horz" wrap="none" lIns="91440" tIns="45720" rIns="91440" bIns="45720" rtlCol="0" anchor="t">
            <a:noAutofit/>
          </a:bodyPr>
          <a:lstStyle>
            <a:lvl1pPr algn="l" defTabSz="914400" rtl="0" eaLnBrk="1" latinLnBrk="0" hangingPunct="1">
              <a:lnSpc>
                <a:spcPct val="90000"/>
              </a:lnSpc>
              <a:spcBef>
                <a:spcPct val="0"/>
              </a:spcBef>
              <a:buNone/>
              <a:defRPr sz="3200" b="1" kern="1200">
                <a:solidFill>
                  <a:schemeClr val="accent1"/>
                </a:solidFill>
                <a:latin typeface="Segoe UI" panose="020B0502040204020203" pitchFamily="34" charset="0"/>
                <a:ea typeface="+mj-ea"/>
                <a:cs typeface="Segoe UI" panose="020B0502040204020203" pitchFamily="34" charset="0"/>
              </a:defRPr>
            </a:lvl1pPr>
          </a:lstStyle>
          <a:p>
            <a:pPr marL="0" lvl="0" indent="0" algn="l">
              <a:lnSpc>
                <a:spcPct val="90000"/>
              </a:lnSpc>
              <a:spcBef>
                <a:spcPts val="0"/>
              </a:spcBef>
              <a:spcAft>
                <a:spcPts val="0"/>
              </a:spcAft>
              <a:buNone/>
              <a:defRPr lang="ru-RU" sz="3200" dirty="0">
                <a:latin typeface="Segoe UI"/>
                <a:ea typeface="Segoe UI"/>
                <a:cs typeface="Segoe UI"/>
              </a:defRPr>
            </a:pPr>
            <a:r>
              <a:rPr lang="ru-RU" sz="3200" dirty="0">
                <a:solidFill>
                  <a:schemeClr val="bg1"/>
                </a:solidFill>
                <a:latin typeface="Segoe UI"/>
                <a:ea typeface="Segoe UI"/>
                <a:cs typeface="Segoe UI"/>
              </a:rPr>
              <a:t>spbu.ru</a:t>
            </a:r>
          </a:p>
        </p:txBody>
      </p:sp>
    </p:spTree>
    <p:extLst>
      <p:ext uri="{BB962C8B-B14F-4D97-AF65-F5344CB8AC3E}">
        <p14:creationId xmlns:p14="http://schemas.microsoft.com/office/powerpoint/2010/main" val="1861789287"/>
      </p:ext>
    </p:extLst>
  </p:cSld>
  <p:clrMapOvr>
    <a:masterClrMapping/>
  </p:clrMapOvr>
</p:sld>
</file>

<file path=ppt/theme/theme1.xml><?xml version="1.0" encoding="utf-8"?>
<a:theme xmlns:a="http://schemas.openxmlformats.org/drawingml/2006/main" name="Тема Office">
  <a:themeElements>
    <a:clrScheme name="300 лет СПбГУ">
      <a:dk1>
        <a:srgbClr val="181818"/>
      </a:dk1>
      <a:lt1>
        <a:sysClr val="window" lastClr="FFFFFF"/>
      </a:lt1>
      <a:dk2>
        <a:srgbClr val="C9BCAB"/>
      </a:dk2>
      <a:lt2>
        <a:srgbClr val="FBF9F7"/>
      </a:lt2>
      <a:accent1>
        <a:srgbClr val="AF2C22"/>
      </a:accent1>
      <a:accent2>
        <a:srgbClr val="C8A06E"/>
      </a:accent2>
      <a:accent3>
        <a:srgbClr val="8D3F3F"/>
      </a:accent3>
      <a:accent4>
        <a:srgbClr val="C9BCAB"/>
      </a:accent4>
      <a:accent5>
        <a:srgbClr val="878787"/>
      </a:accent5>
      <a:accent6>
        <a:srgbClr val="AE6464"/>
      </a:accent6>
      <a:hlink>
        <a:srgbClr val="245590"/>
      </a:hlink>
      <a:folHlink>
        <a:srgbClr val="088FE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2199</TotalTime>
  <Words>6993</Words>
  <Application>Microsoft Macintosh PowerPoint</Application>
  <PresentationFormat>Широкоэкранный</PresentationFormat>
  <Paragraphs>528</Paragraphs>
  <Slides>24</Slides>
  <Notes>24</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24</vt:i4>
      </vt:variant>
    </vt:vector>
  </HeadingPairs>
  <TitlesOfParts>
    <vt:vector size="29" baseType="lpstr">
      <vt:lpstr>Arial</vt:lpstr>
      <vt:lpstr>Calibri</vt:lpstr>
      <vt:lpstr>Cambria Math</vt:lpstr>
      <vt:lpstr>Segoe UI</vt:lpstr>
      <vt:lpstr>Тема Office</vt:lpstr>
      <vt:lpstr>PestCLEF: извлечение графа знаний</vt:lpstr>
      <vt:lpstr>Презентация PowerPoint</vt:lpstr>
      <vt:lpstr>Задача: текст → отношения</vt:lpstr>
      <vt:lpstr>Упоминание, концепт и граф</vt:lpstr>
      <vt:lpstr>Схема ограничивает  допустимые связи</vt:lpstr>
      <vt:lpstr>От текста к графу: шесть шагов</vt:lpstr>
      <vt:lpstr>CRF и словарь находят упоминания</vt:lpstr>
      <vt:lpstr>Идентичность отделена от подписи</vt:lpstr>
      <vt:lpstr>154 признака описывают кандидата</vt:lpstr>
      <vt:lpstr>От оценки кандидата к набору связей</vt:lpstr>
      <vt:lpstr>Пример 104650: текст и упоминания</vt:lpstr>
      <vt:lpstr>Пример 104650: оценки и результат</vt:lpstr>
      <vt:lpstr>Проверка отделяет  обучение от оценки</vt:lpstr>
      <vt:lpstr>Качество: точность, полнота и F1</vt:lpstr>
      <vt:lpstr>Сопоставимое сравнение  двух вариантов</vt:lpstr>
      <vt:lpstr>Kaggle и воспроизводимый результат</vt:lpstr>
      <vt:lpstr>Главные потери: кандидаты и Dispersed_by</vt:lpstr>
      <vt:lpstr>Документные графы и общий граф</vt:lpstr>
      <vt:lpstr>Запрос 1: места для Xylella</vt:lpstr>
      <vt:lpstr>Фрагмент графа документа 97985</vt:lpstr>
      <vt:lpstr>Запрос 2: вредители для Bananas</vt:lpstr>
      <vt:lpstr>Запрос 3: путь из двух отношений</vt:lpstr>
      <vt:lpstr>Что сделано и как  применять результат</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PestCLEF: извлечение графа знаний из текстов о вредителях растений</dc:title>
  <dc:creator>Кубякин Никита; Зайнуллин Мансур; Аникин Роман</dc:creator>
  <cp:lastModifiedBy>Зайнуллин Мансур Альбертович</cp:lastModifiedBy>
  <cp:revision>3</cp:revision>
  <dcterms:created xsi:type="dcterms:W3CDTF">2022-11-23T08:08:14Z</dcterms:created>
  <dcterms:modified xsi:type="dcterms:W3CDTF">2026-10-13T23:34:33Z</dcterms:modified>
</cp:coreProperties>
</file>